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</p:sldIdLst>
  <p:sldSz cy="5143500" cx="9144000"/>
  <p:notesSz cx="6858000" cy="9144000"/>
  <p:embeddedFontLst>
    <p:embeddedFont>
      <p:font typeface="Playfair Display"/>
      <p:regular r:id="rId31"/>
      <p:bold r:id="rId32"/>
      <p:italic r:id="rId33"/>
      <p:boldItalic r:id="rId34"/>
    </p:embeddedFont>
    <p:embeddedFont>
      <p:font typeface="Lato"/>
      <p:regular r:id="rId35"/>
      <p:bold r:id="rId36"/>
      <p:italic r:id="rId37"/>
      <p:boldItalic r:id="rId38"/>
    </p:embeddedFont>
    <p:embeddedFont>
      <p:font typeface="Roboto Mono"/>
      <p:regular r:id="rId39"/>
      <p:bold r:id="rId40"/>
      <p:italic r:id="rId41"/>
      <p:boldItalic r:id="rId4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font" Target="fonts/RobotoMono-bold.fntdata"/><Relationship Id="rId20" Type="http://schemas.openxmlformats.org/officeDocument/2006/relationships/slide" Target="slides/slide15.xml"/><Relationship Id="rId42" Type="http://schemas.openxmlformats.org/officeDocument/2006/relationships/font" Target="fonts/RobotoMono-boldItalic.fntdata"/><Relationship Id="rId41" Type="http://schemas.openxmlformats.org/officeDocument/2006/relationships/font" Target="fonts/RobotoMono-italic.fntdata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font" Target="fonts/PlayfairDisplay-regular.fntdata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font" Target="fonts/PlayfairDisplay-italic.fntdata"/><Relationship Id="rId10" Type="http://schemas.openxmlformats.org/officeDocument/2006/relationships/slide" Target="slides/slide5.xml"/><Relationship Id="rId32" Type="http://schemas.openxmlformats.org/officeDocument/2006/relationships/font" Target="fonts/PlayfairDisplay-bold.fntdata"/><Relationship Id="rId13" Type="http://schemas.openxmlformats.org/officeDocument/2006/relationships/slide" Target="slides/slide8.xml"/><Relationship Id="rId35" Type="http://schemas.openxmlformats.org/officeDocument/2006/relationships/font" Target="fonts/Lato-regular.fntdata"/><Relationship Id="rId12" Type="http://schemas.openxmlformats.org/officeDocument/2006/relationships/slide" Target="slides/slide7.xml"/><Relationship Id="rId34" Type="http://schemas.openxmlformats.org/officeDocument/2006/relationships/font" Target="fonts/PlayfairDisplay-boldItalic.fntdata"/><Relationship Id="rId15" Type="http://schemas.openxmlformats.org/officeDocument/2006/relationships/slide" Target="slides/slide10.xml"/><Relationship Id="rId37" Type="http://schemas.openxmlformats.org/officeDocument/2006/relationships/font" Target="fonts/Lato-italic.fntdata"/><Relationship Id="rId14" Type="http://schemas.openxmlformats.org/officeDocument/2006/relationships/slide" Target="slides/slide9.xml"/><Relationship Id="rId36" Type="http://schemas.openxmlformats.org/officeDocument/2006/relationships/font" Target="fonts/Lato-bold.fntdata"/><Relationship Id="rId17" Type="http://schemas.openxmlformats.org/officeDocument/2006/relationships/slide" Target="slides/slide12.xml"/><Relationship Id="rId39" Type="http://schemas.openxmlformats.org/officeDocument/2006/relationships/font" Target="fonts/RobotoMono-regular.fntdata"/><Relationship Id="rId16" Type="http://schemas.openxmlformats.org/officeDocument/2006/relationships/slide" Target="slides/slide11.xml"/><Relationship Id="rId38" Type="http://schemas.openxmlformats.org/officeDocument/2006/relationships/font" Target="fonts/Lato-boldItalic.fntdata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3f03eb4397f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" name="Google Shape;62;g3f03eb4397f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3f03eb4397f_0_13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3f03eb4397f_0_13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g3f03eb4397f_0_154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" name="Google Shape;75;g3f03eb4397f_0_15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3f03eb4397f_0_15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3f03eb4397f_0_15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3f03eb4397f_0_159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" name="Google Shape;86;g3f03eb4397f_0_159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3f03eb4397f_0_158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" name="Google Shape;91;g3f03eb4397f_0_158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3f03eb4397f_0_156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" name="Google Shape;96;g3f03eb4397f_0_156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3f03eb4397f_0_15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" name="Google Shape;101;g3f03eb4397f_0_15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03eb4397f_0_157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03eb4397f_0_157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3f03eb4397f_0_158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" name="Google Shape;111;g3f03eb4397f_0_158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f03eb4397f_0_15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" name="Google Shape;116;g3f03eb4397f_0_15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3f03eb4397f_0_16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" name="Google Shape;121;g3f03eb4397f_0_16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3f03eb4397f_0_16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7" name="Google Shape;127;g3f03eb4397f_0_16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g3f03eb4397f_0_16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" name="Google Shape;133;g3f03eb4397f_0_16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3f03eb4397f_0_16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" name="Google Shape;139;g3f03eb4397f_0_16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3f03eb4397f_0_166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" name="Google Shape;145;g3f03eb4397f_0_166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g3f03eb4397f_0_162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1" name="Google Shape;151;g3f03eb4397f_0_16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g3f03eb4397f_0_167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7" name="Google Shape;157;g3f03eb4397f_0_167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g3f03eb4397f_0_16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3" name="Google Shape;163;g3f03eb4397f_0_16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03eb4397f_0_164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03eb4397f_0_16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g3f03eb4397f_0_166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5" name="Google Shape;175;g3f03eb4397f_0_166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g3f03eb4397f_0_1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1" name="Google Shape;181;g3f03eb4397f_0_1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g3f03eb4397f_0_169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7" name="Google Shape;187;g3f03eb4397f_0_169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3f03eb4397f_0_16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3" name="Google Shape;193;g3f03eb4397f_0_16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2749050" y="748800"/>
            <a:ext cx="3645900" cy="36459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2992950" y="992700"/>
            <a:ext cx="3158100" cy="3158100"/>
          </a:xfrm>
          <a:prstGeom prst="rect">
            <a:avLst/>
          </a:prstGeom>
          <a:noFill/>
          <a:ln cap="flat" cmpd="sng" w="28575">
            <a:solidFill>
              <a:schemeClr val="lt1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" name="Google Shape;12;p2"/>
          <p:cNvSpPr txBox="1"/>
          <p:nvPr>
            <p:ph type="ctrTitle"/>
          </p:nvPr>
        </p:nvSpPr>
        <p:spPr>
          <a:xfrm>
            <a:off x="3096250" y="1627200"/>
            <a:ext cx="2951400" cy="1584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Lato"/>
              <a:buNone/>
              <a:defRPr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Lato"/>
              <a:buNone/>
              <a:defRPr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Lato"/>
              <a:buNone/>
              <a:defRPr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Lato"/>
              <a:buNone/>
              <a:defRPr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Lato"/>
              <a:buNone/>
              <a:defRPr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Lato"/>
              <a:buNone/>
              <a:defRPr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Lato"/>
              <a:buNone/>
              <a:defRPr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Lato"/>
              <a:buNone/>
              <a:defRPr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Lato"/>
              <a:buNone/>
              <a:defRPr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/>
        </p:txBody>
      </p:sp>
      <p:sp>
        <p:nvSpPr>
          <p:cNvPr id="13" name="Google Shape;13;p2"/>
          <p:cNvSpPr txBox="1"/>
          <p:nvPr>
            <p:ph idx="1" type="subTitle"/>
          </p:nvPr>
        </p:nvSpPr>
        <p:spPr>
          <a:xfrm>
            <a:off x="3096363" y="3266930"/>
            <a:ext cx="2951400" cy="70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layfair Display"/>
              <a:buNone/>
              <a:defRPr b="1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layfair Display"/>
              <a:buNone/>
              <a:defRPr b="1" sz="1800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layfair Display"/>
              <a:buNone/>
              <a:defRPr b="1" sz="1800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layfair Display"/>
              <a:buNone/>
              <a:defRPr b="1" sz="1800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layfair Display"/>
              <a:buNone/>
              <a:defRPr b="1" sz="1800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layfair Display"/>
              <a:buNone/>
              <a:defRPr b="1" sz="1800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layfair Display"/>
              <a:buNone/>
              <a:defRPr b="1" sz="1800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layfair Display"/>
              <a:buNone/>
              <a:defRPr b="1" sz="1800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layfair Display"/>
              <a:buNone/>
              <a:defRPr b="1" sz="1800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dk1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title"/>
          </p:nvPr>
        </p:nvSpPr>
        <p:spPr>
          <a:xfrm>
            <a:off x="509550" y="1423875"/>
            <a:ext cx="8124900" cy="1798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Lato"/>
              <a:buNone/>
              <a:defRPr b="0" sz="48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Lato"/>
              <a:buNone/>
              <a:defRPr b="0" sz="48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Lato"/>
              <a:buNone/>
              <a:defRPr b="0" sz="48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Lato"/>
              <a:buNone/>
              <a:defRPr b="0" sz="48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Lato"/>
              <a:buNone/>
              <a:defRPr b="0" sz="48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Lato"/>
              <a:buNone/>
              <a:defRPr b="0" sz="48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Lato"/>
              <a:buNone/>
              <a:defRPr b="0" sz="48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Lato"/>
              <a:buNone/>
              <a:defRPr b="0" sz="48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Lato"/>
              <a:buNone/>
              <a:defRPr b="0" sz="48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/>
        </p:txBody>
      </p:sp>
      <p:sp>
        <p:nvSpPr>
          <p:cNvPr id="17" name="Google Shape;17;p3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4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" name="Google Shape;20;p4"/>
          <p:cNvSpPr txBox="1"/>
          <p:nvPr>
            <p:ph type="title"/>
          </p:nvPr>
        </p:nvSpPr>
        <p:spPr>
          <a:xfrm>
            <a:off x="311700" y="391350"/>
            <a:ext cx="8520600" cy="62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21" name="Google Shape;21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2" name="Google Shape;22;p4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 txBox="1"/>
          <p:nvPr>
            <p:ph type="title"/>
          </p:nvPr>
        </p:nvSpPr>
        <p:spPr>
          <a:xfrm>
            <a:off x="311700" y="391350"/>
            <a:ext cx="8520600" cy="62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25" name="Google Shape;25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6" name="Google Shape;26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7" name="Google Shape;27;p5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6"/>
          <p:cNvSpPr txBox="1"/>
          <p:nvPr>
            <p:ph type="title"/>
          </p:nvPr>
        </p:nvSpPr>
        <p:spPr>
          <a:xfrm>
            <a:off x="311700" y="391350"/>
            <a:ext cx="8520600" cy="62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30" name="Google Shape;30;p6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3" name="Google Shape;33;p7"/>
          <p:cNvSpPr txBox="1"/>
          <p:nvPr>
            <p:ph idx="1" type="body"/>
          </p:nvPr>
        </p:nvSpPr>
        <p:spPr>
          <a:xfrm>
            <a:off x="311700" y="1391378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4" name="Google Shape;34;p7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dk2"/>
        </a:solidFill>
      </p:bgPr>
    </p:bg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8"/>
          <p:cNvSpPr txBox="1"/>
          <p:nvPr>
            <p:ph type="title"/>
          </p:nvPr>
        </p:nvSpPr>
        <p:spPr>
          <a:xfrm>
            <a:off x="490250" y="526350"/>
            <a:ext cx="56187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Lato"/>
              <a:buNone/>
              <a:defRPr b="0" sz="48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Lato"/>
              <a:buNone/>
              <a:defRPr b="0" sz="48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Lato"/>
              <a:buNone/>
              <a:defRPr b="0" sz="48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Lato"/>
              <a:buNone/>
              <a:defRPr b="0" sz="48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Lato"/>
              <a:buNone/>
              <a:defRPr b="0" sz="48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Lato"/>
              <a:buNone/>
              <a:defRPr b="0" sz="48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Lato"/>
              <a:buNone/>
              <a:defRPr b="0" sz="48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Lato"/>
              <a:buNone/>
              <a:defRPr b="0" sz="48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Lato"/>
              <a:buNone/>
              <a:defRPr b="0" sz="48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/>
        </p:txBody>
      </p:sp>
      <p:sp>
        <p:nvSpPr>
          <p:cNvPr id="37" name="Google Shape;37;p8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/>
          <p:nvPr/>
        </p:nvSpPr>
        <p:spPr>
          <a:xfrm>
            <a:off x="4572000" y="-25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40" name="Google Shape;40;p9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9"/>
          <p:cNvSpPr txBox="1"/>
          <p:nvPr>
            <p:ph type="title"/>
          </p:nvPr>
        </p:nvSpPr>
        <p:spPr>
          <a:xfrm>
            <a:off x="265500" y="1107950"/>
            <a:ext cx="4045200" cy="1683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2" name="Google Shape;42;p9"/>
          <p:cNvSpPr txBox="1"/>
          <p:nvPr>
            <p:ph idx="1" type="subTitle"/>
          </p:nvPr>
        </p:nvSpPr>
        <p:spPr>
          <a:xfrm>
            <a:off x="265500" y="2845201"/>
            <a:ext cx="4045200" cy="134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3" name="Google Shape;43;p9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4" name="Google Shape;44;p9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0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7" name="Google Shape;47;p10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1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" name="Google Shape;50;p11"/>
          <p:cNvSpPr txBox="1"/>
          <p:nvPr>
            <p:ph hasCustomPrompt="1" type="title"/>
          </p:nvPr>
        </p:nvSpPr>
        <p:spPr>
          <a:xfrm>
            <a:off x="311700" y="1233100"/>
            <a:ext cx="8520600" cy="1610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0000"/>
              <a:buFont typeface="Lato"/>
              <a:buNone/>
              <a:defRPr sz="10000">
                <a:latin typeface="Lato"/>
                <a:ea typeface="Lato"/>
                <a:cs typeface="Lato"/>
                <a:sym typeface="Lato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0000"/>
              <a:buFont typeface="Lato"/>
              <a:buNone/>
              <a:defRPr sz="10000">
                <a:latin typeface="Lato"/>
                <a:ea typeface="Lato"/>
                <a:cs typeface="Lato"/>
                <a:sym typeface="Lato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10000"/>
              <a:buFont typeface="Lato"/>
              <a:buNone/>
              <a:defRPr sz="10000">
                <a:latin typeface="Lato"/>
                <a:ea typeface="Lato"/>
                <a:cs typeface="Lato"/>
                <a:sym typeface="Lato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10000"/>
              <a:buFont typeface="Lato"/>
              <a:buNone/>
              <a:defRPr sz="10000">
                <a:latin typeface="Lato"/>
                <a:ea typeface="Lato"/>
                <a:cs typeface="Lato"/>
                <a:sym typeface="Lato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10000"/>
              <a:buFont typeface="Lato"/>
              <a:buNone/>
              <a:defRPr sz="10000">
                <a:latin typeface="Lato"/>
                <a:ea typeface="Lato"/>
                <a:cs typeface="Lato"/>
                <a:sym typeface="Lato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10000"/>
              <a:buFont typeface="Lato"/>
              <a:buNone/>
              <a:defRPr sz="10000">
                <a:latin typeface="Lato"/>
                <a:ea typeface="Lato"/>
                <a:cs typeface="Lato"/>
                <a:sym typeface="Lato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10000"/>
              <a:buFont typeface="Lato"/>
              <a:buNone/>
              <a:defRPr sz="10000">
                <a:latin typeface="Lato"/>
                <a:ea typeface="Lato"/>
                <a:cs typeface="Lato"/>
                <a:sym typeface="Lato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10000"/>
              <a:buFont typeface="Lato"/>
              <a:buNone/>
              <a:defRPr sz="10000">
                <a:latin typeface="Lato"/>
                <a:ea typeface="Lato"/>
                <a:cs typeface="Lato"/>
                <a:sym typeface="Lato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10000"/>
              <a:buFont typeface="Lato"/>
              <a:buNone/>
              <a:defRPr sz="10000">
                <a:latin typeface="Lato"/>
                <a:ea typeface="Lato"/>
                <a:cs typeface="Lato"/>
                <a:sym typeface="Lato"/>
              </a:defRPr>
            </a:lvl9pPr>
          </a:lstStyle>
          <a:p>
            <a:r>
              <a:t>xx%</a:t>
            </a:r>
          </a:p>
        </p:txBody>
      </p:sp>
      <p:sp>
        <p:nvSpPr>
          <p:cNvPr id="51" name="Google Shape;51;p11"/>
          <p:cNvSpPr txBox="1"/>
          <p:nvPr>
            <p:ph idx="1" type="body"/>
          </p:nvPr>
        </p:nvSpPr>
        <p:spPr>
          <a:xfrm>
            <a:off x="311700" y="2919450"/>
            <a:ext cx="8520600" cy="107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52" name="Google Shape;52;p11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2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coral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391350"/>
            <a:ext cx="8520600" cy="626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Lato"/>
              <a:buChar char="●"/>
              <a:defRPr sz="18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○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■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●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○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■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●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○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■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6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9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0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1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3"/>
          <p:cNvSpPr txBox="1"/>
          <p:nvPr>
            <p:ph type="ctrTitle"/>
          </p:nvPr>
        </p:nvSpPr>
        <p:spPr>
          <a:xfrm>
            <a:off x="3096250" y="1627200"/>
            <a:ext cx="2951400" cy="1584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C# - Latest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4"/>
          <p:cNvSpPr txBox="1"/>
          <p:nvPr>
            <p:ph type="title"/>
          </p:nvPr>
        </p:nvSpPr>
        <p:spPr>
          <a:xfrm>
            <a:off x="311700" y="391350"/>
            <a:ext cx="8520600" cy="62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Object Initializer</a:t>
            </a:r>
            <a:endParaRPr/>
          </a:p>
        </p:txBody>
      </p:sp>
      <p:sp>
        <p:nvSpPr>
          <p:cNvPr id="65" name="Google Shape;65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66" name="Google Shape;66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58590" y="1152477"/>
            <a:ext cx="7822211" cy="3416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" name="Google Shape;71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5000" y="847750"/>
            <a:ext cx="7649199" cy="4053075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72;p15"/>
          <p:cNvSpPr txBox="1"/>
          <p:nvPr>
            <p:ph type="title"/>
          </p:nvPr>
        </p:nvSpPr>
        <p:spPr>
          <a:xfrm>
            <a:off x="445000" y="221650"/>
            <a:ext cx="8520600" cy="62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Properties Declaration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6"/>
          <p:cNvSpPr txBox="1"/>
          <p:nvPr>
            <p:ph type="title"/>
          </p:nvPr>
        </p:nvSpPr>
        <p:spPr>
          <a:xfrm>
            <a:off x="311700" y="391350"/>
            <a:ext cx="8520600" cy="62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78" name="Google Shape;78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1700" y="0"/>
            <a:ext cx="8396975" cy="50838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" name="Google Shape;83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7591425" cy="4402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" name="Google Shape;88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3575" y="808525"/>
            <a:ext cx="7019925" cy="30194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" name="Google Shape;93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30825" y="873179"/>
            <a:ext cx="7353300" cy="3348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" name="Google Shape;98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8905474" cy="4361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" name="Google Shape;103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8115300" cy="4684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556150"/>
            <a:ext cx="7439025" cy="4155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3" name="Google Shape;113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8067675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8" name="Google Shape;118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8150099" cy="4765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25"/>
          <p:cNvSpPr txBox="1"/>
          <p:nvPr>
            <p:ph type="title"/>
          </p:nvPr>
        </p:nvSpPr>
        <p:spPr>
          <a:xfrm>
            <a:off x="311700" y="391350"/>
            <a:ext cx="8520600" cy="62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756"/>
              <a:t>var builder =</a:t>
            </a:r>
            <a:r>
              <a:rPr lang="en" sz="2644"/>
              <a:t> </a:t>
            </a:r>
            <a:r>
              <a:rPr lang="en" sz="2756"/>
              <a:t>WebApplication.CreateBuilder(args);</a:t>
            </a:r>
            <a:r>
              <a:rPr lang="en"/>
              <a:t> </a:t>
            </a:r>
            <a:endParaRPr/>
          </a:p>
        </p:txBody>
      </p:sp>
      <p:sp>
        <p:nvSpPr>
          <p:cNvPr id="124" name="Google Shape;124;p25"/>
          <p:cNvSpPr txBox="1"/>
          <p:nvPr>
            <p:ph idx="1" type="body"/>
          </p:nvPr>
        </p:nvSpPr>
        <p:spPr>
          <a:xfrm>
            <a:off x="311700" y="1514275"/>
            <a:ext cx="8520600" cy="305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Creates a </a:t>
            </a:r>
            <a:r>
              <a:rPr b="1" lang="en" sz="15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WebApplicationBuilder</a:t>
            </a:r>
            <a:r>
              <a:rPr lang="en" sz="15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object.</a:t>
            </a:r>
            <a:endParaRPr sz="15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5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It prepares everything needed to build your web application.</a:t>
            </a:r>
            <a:endParaRPr sz="15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5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It automatically configures:</a:t>
            </a:r>
            <a:endParaRPr sz="15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23850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Char char="●"/>
            </a:pPr>
            <a:r>
              <a:rPr lang="en" sz="15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Dependency Injection (DI)</a:t>
            </a:r>
            <a:endParaRPr sz="15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Char char="●"/>
            </a:pPr>
            <a:r>
              <a:rPr lang="en" sz="15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Configuration (appsettings.json, environment variables, etc.)</a:t>
            </a:r>
            <a:endParaRPr sz="15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Char char="●"/>
            </a:pPr>
            <a:r>
              <a:rPr lang="en" sz="15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Logging</a:t>
            </a:r>
            <a:endParaRPr sz="15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Char char="●"/>
            </a:pPr>
            <a:r>
              <a:rPr lang="en" sz="15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Kestrel web server</a:t>
            </a:r>
            <a:endParaRPr sz="15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Char char="●"/>
            </a:pPr>
            <a:r>
              <a:rPr lang="en" sz="15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Hosting environment</a:t>
            </a:r>
            <a:endParaRPr sz="15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26"/>
          <p:cNvSpPr txBox="1"/>
          <p:nvPr>
            <p:ph type="title"/>
          </p:nvPr>
        </p:nvSpPr>
        <p:spPr>
          <a:xfrm>
            <a:off x="311700" y="391350"/>
            <a:ext cx="8520600" cy="62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var app = builder.Build(); </a:t>
            </a:r>
            <a:endParaRPr/>
          </a:p>
        </p:txBody>
      </p:sp>
      <p:sp>
        <p:nvSpPr>
          <p:cNvPr id="130" name="Google Shape;130;p26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Char char="●"/>
            </a:pPr>
            <a:r>
              <a:rPr lang="en" sz="17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Builds the application from the builder.</a:t>
            </a:r>
            <a:endParaRPr sz="1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Char char="●"/>
            </a:pPr>
            <a:r>
              <a:rPr lang="en" sz="17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Creates the actual </a:t>
            </a:r>
            <a:r>
              <a:rPr b="1" lang="en" sz="17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WebApplication</a:t>
            </a:r>
            <a:r>
              <a:rPr lang="en" sz="17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object that will receive HTTP requests.</a:t>
            </a:r>
            <a:endParaRPr sz="1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Char char="●"/>
            </a:pPr>
            <a:r>
              <a:rPr lang="en" sz="17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After this point, most services are already configured.</a:t>
            </a:r>
            <a:endParaRPr sz="1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7"/>
          <p:cNvSpPr txBox="1"/>
          <p:nvPr>
            <p:ph type="title"/>
          </p:nvPr>
        </p:nvSpPr>
        <p:spPr>
          <a:xfrm>
            <a:off x="311700" y="391350"/>
            <a:ext cx="8520600" cy="62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app.UseHttpsRedirection(); </a:t>
            </a:r>
            <a:endParaRPr/>
          </a:p>
        </p:txBody>
      </p:sp>
      <p:sp>
        <p:nvSpPr>
          <p:cNvPr id="136" name="Google Shape;136;p27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Adds middleware that automatically redirects </a:t>
            </a:r>
            <a:r>
              <a:rPr b="1" lang="en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HTTP requests to HTTPS</a:t>
            </a:r>
            <a:r>
              <a:rPr lang="en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Example:</a:t>
            </a:r>
            <a:br>
              <a:rPr lang="en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br>
              <a:rPr lang="en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http://localhost:5176</a:t>
            </a:r>
            <a:br>
              <a:rPr lang="en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    ↓</a:t>
            </a:r>
            <a:br>
              <a:rPr lang="en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https://localhost:7036</a:t>
            </a:r>
            <a:endParaRPr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8"/>
          <p:cNvSpPr txBox="1"/>
          <p:nvPr>
            <p:ph type="title"/>
          </p:nvPr>
        </p:nvSpPr>
        <p:spPr>
          <a:xfrm>
            <a:off x="311700" y="391350"/>
            <a:ext cx="8520600" cy="62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app.Run(); </a:t>
            </a:r>
            <a:endParaRPr/>
          </a:p>
        </p:txBody>
      </p:sp>
      <p:sp>
        <p:nvSpPr>
          <p:cNvPr id="142" name="Google Shape;142;p28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Char char="●"/>
            </a:pPr>
            <a:r>
              <a:rPr lang="en" sz="17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Starts the Kestrel web server. </a:t>
            </a:r>
            <a:endParaRPr sz="1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Char char="●"/>
            </a:pPr>
            <a:r>
              <a:rPr lang="en" sz="17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Begins listening for incoming HTTP requests.</a:t>
            </a:r>
            <a:endParaRPr sz="1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Char char="●"/>
            </a:pPr>
            <a:r>
              <a:rPr lang="en" sz="17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This is a </a:t>
            </a:r>
            <a:r>
              <a:rPr b="1" lang="en" sz="17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blocking call</a:t>
            </a:r>
            <a:r>
              <a:rPr lang="en" sz="17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—the application keeps running until it is stopped.</a:t>
            </a:r>
            <a:endParaRPr sz="1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9"/>
          <p:cNvSpPr txBox="1"/>
          <p:nvPr>
            <p:ph type="title"/>
          </p:nvPr>
        </p:nvSpPr>
        <p:spPr>
          <a:xfrm>
            <a:off x="311700" y="391350"/>
            <a:ext cx="8520600" cy="62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Run() Middleware (Terminal)</a:t>
            </a:r>
            <a:endParaRPr/>
          </a:p>
        </p:txBody>
      </p:sp>
      <p:sp>
        <p:nvSpPr>
          <p:cNvPr id="148" name="Google Shape;148;p29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Char char="●"/>
            </a:pPr>
            <a:r>
              <a:rPr lang="en" sz="19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Handles the request.</a:t>
            </a:r>
            <a:endParaRPr sz="19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Char char="●"/>
            </a:pPr>
            <a:r>
              <a:rPr b="1" lang="en" sz="19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call the next middleware.</a:t>
            </a:r>
            <a:endParaRPr b="1" sz="19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Char char="●"/>
            </a:pPr>
            <a:r>
              <a:rPr lang="en" sz="19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Ends the pipeline.</a:t>
            </a:r>
            <a:endParaRPr sz="19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app.Run(async context =&gt;</a:t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{</a:t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await context.Response.WriteAsync("Hello");</a:t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});</a:t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30"/>
          <p:cNvSpPr txBox="1"/>
          <p:nvPr>
            <p:ph type="title"/>
          </p:nvPr>
        </p:nvSpPr>
        <p:spPr>
          <a:xfrm>
            <a:off x="311700" y="391350"/>
            <a:ext cx="8520600" cy="62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app.MapGet("/", () =&gt; "Hello World!"); </a:t>
            </a:r>
            <a:endParaRPr/>
          </a:p>
        </p:txBody>
      </p:sp>
      <p:sp>
        <p:nvSpPr>
          <p:cNvPr id="154" name="Google Shape;154;p30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Char char="●"/>
            </a:pPr>
            <a:r>
              <a:rPr lang="en" sz="1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Creates a </a:t>
            </a:r>
            <a:r>
              <a:rPr b="1" lang="en" sz="1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GET endpoint</a:t>
            </a:r>
            <a:r>
              <a:rPr lang="en" sz="1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sz="16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When someone sends a GET request to </a:t>
            </a:r>
            <a:r>
              <a:rPr lang="en" sz="16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/</a:t>
            </a:r>
            <a:r>
              <a:rPr lang="en" sz="1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it returns </a:t>
            </a:r>
            <a:r>
              <a:rPr lang="en" sz="16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"Hello World!"</a:t>
            </a:r>
            <a:r>
              <a:rPr lang="en" sz="1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sz="16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31"/>
          <p:cNvSpPr txBox="1"/>
          <p:nvPr>
            <p:ph type="title"/>
          </p:nvPr>
        </p:nvSpPr>
        <p:spPr>
          <a:xfrm>
            <a:off x="311700" y="391350"/>
            <a:ext cx="8520600" cy="62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MapGet(), MapPost(), MapPut(), MapDelete()</a:t>
            </a:r>
            <a:endParaRPr/>
          </a:p>
        </p:txBody>
      </p:sp>
      <p:sp>
        <p:nvSpPr>
          <p:cNvPr id="160" name="Google Shape;160;p3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These map HTTP methods directly to endpoints.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app.MapGet("/", () =&gt; "Home");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app.MapPost("/users", () =&gt;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{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   return "User Created";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});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32"/>
          <p:cNvSpPr txBox="1"/>
          <p:nvPr>
            <p:ph type="title"/>
          </p:nvPr>
        </p:nvSpPr>
        <p:spPr>
          <a:xfrm>
            <a:off x="311700" y="391350"/>
            <a:ext cx="8520600" cy="62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Use() Middleware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32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550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Request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│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Before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│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next()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▼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Next Middleware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▲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After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│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Response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33"/>
          <p:cNvSpPr txBox="1"/>
          <p:nvPr>
            <p:ph type="title"/>
          </p:nvPr>
        </p:nvSpPr>
        <p:spPr>
          <a:xfrm>
            <a:off x="311700" y="391350"/>
            <a:ext cx="8520600" cy="62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Use() Middleware</a:t>
            </a:r>
            <a:endParaRPr/>
          </a:p>
        </p:txBody>
      </p:sp>
      <p:sp>
        <p:nvSpPr>
          <p:cNvPr id="172" name="Google Shape;172;p3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70000" lnSpcReduction="20000"/>
          </a:bodyPr>
          <a:lstStyle/>
          <a:p>
            <a:pPr indent="-375541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Char char="●"/>
            </a:pPr>
            <a:r>
              <a:rPr lang="en" sz="3306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Executes code </a:t>
            </a:r>
            <a:r>
              <a:rPr b="1" lang="en" sz="3306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before and after</a:t>
            </a:r>
            <a:r>
              <a:rPr lang="en" sz="3306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the next middleware.</a:t>
            </a:r>
            <a:endParaRPr sz="3306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75541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 sz="3306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Calls </a:t>
            </a:r>
            <a:r>
              <a:rPr lang="en" sz="3306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next()</a:t>
            </a:r>
            <a:r>
              <a:rPr lang="en" sz="3306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to continue the pipeline.</a:t>
            </a:r>
            <a:endParaRPr sz="3306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app.Use(async (context, next) =&gt;</a:t>
            </a:r>
            <a:endParaRPr/>
          </a:p>
          <a:p>
            <a:pPr indent="0" lvl="0" marL="45720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{</a:t>
            </a:r>
            <a:endParaRPr/>
          </a:p>
          <a:p>
            <a:pPr indent="0" lvl="0" marL="45720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    Console.WriteLine("Before");</a:t>
            </a:r>
            <a:endParaRPr/>
          </a:p>
          <a:p>
            <a:pPr indent="0" lvl="0" marL="45720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    await next();</a:t>
            </a:r>
            <a:endParaRPr/>
          </a:p>
          <a:p>
            <a:pPr indent="0" lvl="0" marL="45720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    Console.WriteLine("After");</a:t>
            </a:r>
            <a:endParaRPr/>
          </a:p>
          <a:p>
            <a:pPr indent="0" lvl="0" marL="45720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});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34"/>
          <p:cNvSpPr txBox="1"/>
          <p:nvPr>
            <p:ph type="title"/>
          </p:nvPr>
        </p:nvSpPr>
        <p:spPr>
          <a:xfrm>
            <a:off x="311700" y="391350"/>
            <a:ext cx="8520600" cy="62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Map() Middleware</a:t>
            </a:r>
            <a:endParaRPr/>
          </a:p>
        </p:txBody>
      </p:sp>
      <p:sp>
        <p:nvSpPr>
          <p:cNvPr id="178" name="Google Shape;178;p3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85000" lnSpcReduction="20000"/>
          </a:bodyPr>
          <a:lstStyle/>
          <a:p>
            <a:pPr indent="-325755" lvl="0" marL="457200" rtl="0" algn="l">
              <a:spcBef>
                <a:spcPts val="120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Runs a separate pipeline for a specific URL path.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app.Map("/admin", adminApp =&gt;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{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   adminApp.Run(async context =&gt;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   {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       await context.Response.WriteAsync("Admin Page");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   });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});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Requests: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/admin     → Admin Page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/anything  → Continues in main pipeline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35"/>
          <p:cNvSpPr txBox="1"/>
          <p:nvPr>
            <p:ph type="title"/>
          </p:nvPr>
        </p:nvSpPr>
        <p:spPr>
          <a:xfrm>
            <a:off x="311700" y="391350"/>
            <a:ext cx="8520600" cy="62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UseWhen() </a:t>
            </a:r>
            <a:endParaRPr/>
          </a:p>
        </p:txBody>
      </p:sp>
      <p:sp>
        <p:nvSpPr>
          <p:cNvPr id="184" name="Google Shape;184;p3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-334328" lvl="0" marL="457200" rtl="0" algn="l">
              <a:spcBef>
                <a:spcPts val="120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Runs middleware only if a condition is true.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app.UseWhen(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   context =&gt; context.Request.Path.StartsWithSegments("/api"),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   appBuilder =&gt;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   {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       appBuilder.Use(async (context, next) =&gt;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       {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           Console.WriteLine("API Request");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           await next();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       });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   });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36"/>
          <p:cNvSpPr txBox="1"/>
          <p:nvPr>
            <p:ph type="title"/>
          </p:nvPr>
        </p:nvSpPr>
        <p:spPr>
          <a:xfrm>
            <a:off x="311700" y="391350"/>
            <a:ext cx="8520600" cy="62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MapWhen() </a:t>
            </a:r>
            <a:endParaRPr/>
          </a:p>
        </p:txBody>
      </p:sp>
      <p:sp>
        <p:nvSpPr>
          <p:cNvPr id="190" name="Google Shape;190;p36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-334328" lvl="0" marL="457200" rtl="0" algn="l">
              <a:spcBef>
                <a:spcPts val="120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Branches the pipeline based on a condition.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app.MapWhen(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   context =&gt; context.Request.Query.ContainsKey("admin"),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   adminApp =&gt;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   {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       adminApp.Run(async context =&gt;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       {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           await context.Response.WriteAsync("Admin");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       });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   });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37"/>
          <p:cNvSpPr txBox="1"/>
          <p:nvPr>
            <p:ph type="title"/>
          </p:nvPr>
        </p:nvSpPr>
        <p:spPr>
          <a:xfrm>
            <a:off x="311700" y="391350"/>
            <a:ext cx="8520600" cy="62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37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197" name="Google Shape;197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2825" y="213525"/>
            <a:ext cx="8729525" cy="43553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oral">
  <a:themeElements>
    <a:clrScheme name="Coral">
      <a:dk1>
        <a:srgbClr val="F55E61"/>
      </a:dk1>
      <a:lt1>
        <a:srgbClr val="FFFFFF"/>
      </a:lt1>
      <a:dk2>
        <a:srgbClr val="5E696C"/>
      </a:dk2>
      <a:lt2>
        <a:srgbClr val="BFC7CA"/>
      </a:lt2>
      <a:accent1>
        <a:srgbClr val="1E2D31"/>
      </a:accent1>
      <a:accent2>
        <a:srgbClr val="273C42"/>
      </a:accent2>
      <a:accent3>
        <a:srgbClr val="83D061"/>
      </a:accent3>
      <a:accent4>
        <a:srgbClr val="F6CD4C"/>
      </a:accent4>
      <a:accent5>
        <a:srgbClr val="AF4345"/>
      </a:accent5>
      <a:accent6>
        <a:srgbClr val="F58F8F"/>
      </a:accent6>
      <a:hlink>
        <a:srgbClr val="AF4345"/>
      </a:hlink>
      <a:folHlink>
        <a:srgbClr val="AF4345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