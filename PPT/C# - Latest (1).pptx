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Playfair Display"/>
      <p:regular r:id="rId56"/>
      <p:bold r:id="rId57"/>
      <p:italic r:id="rId58"/>
      <p:boldItalic r:id="rId59"/>
    </p:embeddedFont>
    <p:embeddedFont>
      <p:font typeface="Lato"/>
      <p:regular r:id="rId60"/>
      <p:bold r:id="rId61"/>
      <p:italic r:id="rId62"/>
      <p:boldItalic r:id="rId63"/>
    </p:embeddedFont>
    <p:embeddedFont>
      <p:font typeface="Roboto Mono"/>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italic.fntdata"/><Relationship Id="rId61" Type="http://schemas.openxmlformats.org/officeDocument/2006/relationships/font" Target="fonts/Lato-bold.fntdata"/><Relationship Id="rId20" Type="http://schemas.openxmlformats.org/officeDocument/2006/relationships/slide" Target="slides/slide15.xml"/><Relationship Id="rId64" Type="http://schemas.openxmlformats.org/officeDocument/2006/relationships/font" Target="fonts/RobotoMono-regular.fntdata"/><Relationship Id="rId63" Type="http://schemas.openxmlformats.org/officeDocument/2006/relationships/font" Target="fonts/Lato-boldItalic.fntdata"/><Relationship Id="rId22" Type="http://schemas.openxmlformats.org/officeDocument/2006/relationships/slide" Target="slides/slide17.xml"/><Relationship Id="rId66" Type="http://schemas.openxmlformats.org/officeDocument/2006/relationships/font" Target="fonts/RobotoMono-italic.fntdata"/><Relationship Id="rId21" Type="http://schemas.openxmlformats.org/officeDocument/2006/relationships/slide" Target="slides/slide16.xml"/><Relationship Id="rId65" Type="http://schemas.openxmlformats.org/officeDocument/2006/relationships/font" Target="fonts/RobotoMono-bold.fntdata"/><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RobotoMono-boldItalic.fntdata"/><Relationship Id="rId60" Type="http://schemas.openxmlformats.org/officeDocument/2006/relationships/font" Target="fonts/Lat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PlayfairDisplay-bold.fntdata"/><Relationship Id="rId12" Type="http://schemas.openxmlformats.org/officeDocument/2006/relationships/slide" Target="slides/slide7.xml"/><Relationship Id="rId56" Type="http://schemas.openxmlformats.org/officeDocument/2006/relationships/font" Target="fonts/PlayfairDisplay-regular.fntdata"/><Relationship Id="rId15" Type="http://schemas.openxmlformats.org/officeDocument/2006/relationships/slide" Target="slides/slide10.xml"/><Relationship Id="rId59" Type="http://schemas.openxmlformats.org/officeDocument/2006/relationships/font" Target="fonts/PlayfairDisplay-boldItalic.fntdata"/><Relationship Id="rId14" Type="http://schemas.openxmlformats.org/officeDocument/2006/relationships/slide" Target="slides/slide9.xml"/><Relationship Id="rId58" Type="http://schemas.openxmlformats.org/officeDocument/2006/relationships/font" Target="fonts/PlayfairDispl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03eb439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f03eb439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03eb4397f_0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03eb4397f_0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03eb4397f_0_1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03eb4397f_0_1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03eb4397f_0_1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03eb4397f_0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03eb4397f_0_1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03eb4397f_0_1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03eb4397f_0_1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03eb4397f_0_1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03eb4397f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03eb4397f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03eb4397f_0_1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03eb4397f_0_1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03eb4397f_0_1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03eb4397f_0_1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03eb4397f_0_1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03eb4397f_0_1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03eb4397f_0_1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03eb4397f_0_1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2f44e1cd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2f44e1cd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2f44e1cd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2f44e1cd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03eb4397f_0_1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03eb4397f_0_1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03eb4397f_0_1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03eb4397f_0_1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03eb4397f_0_1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03eb4397f_0_1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03eb4397f_0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03eb4397f_0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03eb4397f_0_1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03eb4397f_0_1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03eb4397f_0_1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03eb4397f_0_1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03eb4397f_0_1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03eb4397f_0_1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2fae74b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2fae74b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03eb4397f_0_1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f03eb4397f_0_1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7c0ccb15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7c0ccb15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2f44e1cd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2f44e1cd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03eb4397f_0_1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03eb4397f_0_1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7c0ccb15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7c0ccb15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7c0ccb15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7c0ccb15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03eb4397f_0_1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03eb4397f_0_1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03eb4397f_0_1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03eb4397f_0_1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7c0ccb15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7c0ccb15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7c0ccb15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7c0ccb15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800919e5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800919e5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800919e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800919e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4f4845e0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4f4845e0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800919e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f800919e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821a9cbf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f821a9cbf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821a9cbf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821a9cbf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821a9cbf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821a9cbf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4f4845e0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4f4845e0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4f4845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4f4845e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4f4845e0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4f4845e0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821a9cbf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f821a9cbf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4f4845e0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4f4845e0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821a9cbf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f821a9cbf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821a9cbf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f821a9cbf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4f4845e0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4f4845e0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4f4845e0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f4f4845e0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4f4845e0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4f4845e0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f03eb4397f_0_1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f03eb4397f_0_1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 - Latest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 Initializer</a:t>
            </a:r>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6" name="Google Shape;66;p14"/>
          <p:cNvPicPr preferRelativeResize="0"/>
          <p:nvPr/>
        </p:nvPicPr>
        <p:blipFill>
          <a:blip r:embed="rId3">
            <a:alphaModFix/>
          </a:blip>
          <a:stretch>
            <a:fillRect/>
          </a:stretch>
        </p:blipFill>
        <p:spPr>
          <a:xfrm>
            <a:off x="358590" y="1152477"/>
            <a:ext cx="7822211" cy="341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5"/>
          <p:cNvPicPr preferRelativeResize="0"/>
          <p:nvPr/>
        </p:nvPicPr>
        <p:blipFill>
          <a:blip r:embed="rId3">
            <a:alphaModFix/>
          </a:blip>
          <a:stretch>
            <a:fillRect/>
          </a:stretch>
        </p:blipFill>
        <p:spPr>
          <a:xfrm>
            <a:off x="445000" y="847750"/>
            <a:ext cx="7649199" cy="4053075"/>
          </a:xfrm>
          <a:prstGeom prst="rect">
            <a:avLst/>
          </a:prstGeom>
          <a:noFill/>
          <a:ln>
            <a:noFill/>
          </a:ln>
        </p:spPr>
      </p:pic>
      <p:sp>
        <p:nvSpPr>
          <p:cNvPr id="72" name="Google Shape;72;p15"/>
          <p:cNvSpPr txBox="1"/>
          <p:nvPr>
            <p:ph type="title"/>
          </p:nvPr>
        </p:nvSpPr>
        <p:spPr>
          <a:xfrm>
            <a:off x="445000" y="2216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Properties Declaration</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78" name="Google Shape;78;p16"/>
          <p:cNvPicPr preferRelativeResize="0"/>
          <p:nvPr/>
        </p:nvPicPr>
        <p:blipFill>
          <a:blip r:embed="rId3">
            <a:alphaModFix/>
          </a:blip>
          <a:stretch>
            <a:fillRect/>
          </a:stretch>
        </p:blipFill>
        <p:spPr>
          <a:xfrm>
            <a:off x="311700" y="0"/>
            <a:ext cx="8396975" cy="50838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p:cNvPicPr preferRelativeResize="0"/>
          <p:nvPr/>
        </p:nvPicPr>
        <p:blipFill>
          <a:blip r:embed="rId3">
            <a:alphaModFix/>
          </a:blip>
          <a:stretch>
            <a:fillRect/>
          </a:stretch>
        </p:blipFill>
        <p:spPr>
          <a:xfrm>
            <a:off x="152400" y="152400"/>
            <a:ext cx="7591425" cy="440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8"/>
          <p:cNvPicPr preferRelativeResize="0"/>
          <p:nvPr/>
        </p:nvPicPr>
        <p:blipFill>
          <a:blip r:embed="rId3">
            <a:alphaModFix/>
          </a:blip>
          <a:stretch>
            <a:fillRect/>
          </a:stretch>
        </p:blipFill>
        <p:spPr>
          <a:xfrm>
            <a:off x="433575" y="808525"/>
            <a:ext cx="7019925" cy="3019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a:blip r:embed="rId3">
            <a:alphaModFix/>
          </a:blip>
          <a:stretch>
            <a:fillRect/>
          </a:stretch>
        </p:blipFill>
        <p:spPr>
          <a:xfrm>
            <a:off x="530825" y="873179"/>
            <a:ext cx="7353300" cy="3348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0"/>
          <p:cNvPicPr preferRelativeResize="0"/>
          <p:nvPr/>
        </p:nvPicPr>
        <p:blipFill>
          <a:blip r:embed="rId3">
            <a:alphaModFix/>
          </a:blip>
          <a:stretch>
            <a:fillRect/>
          </a:stretch>
        </p:blipFill>
        <p:spPr>
          <a:xfrm>
            <a:off x="152400" y="152400"/>
            <a:ext cx="8905474" cy="4361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3">
            <a:alphaModFix/>
          </a:blip>
          <a:stretch>
            <a:fillRect/>
          </a:stretch>
        </p:blipFill>
        <p:spPr>
          <a:xfrm>
            <a:off x="152400" y="152400"/>
            <a:ext cx="8115300" cy="4684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2"/>
          <p:cNvPicPr preferRelativeResize="0"/>
          <p:nvPr/>
        </p:nvPicPr>
        <p:blipFill>
          <a:blip r:embed="rId3">
            <a:alphaModFix/>
          </a:blip>
          <a:stretch>
            <a:fillRect/>
          </a:stretch>
        </p:blipFill>
        <p:spPr>
          <a:xfrm>
            <a:off x="152400" y="556150"/>
            <a:ext cx="7439025" cy="4155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3"/>
          <p:cNvPicPr preferRelativeResize="0"/>
          <p:nvPr/>
        </p:nvPicPr>
        <p:blipFill>
          <a:blip r:embed="rId3">
            <a:alphaModFix/>
          </a:blip>
          <a:stretch>
            <a:fillRect/>
          </a:stretch>
        </p:blipFill>
        <p:spPr>
          <a:xfrm>
            <a:off x="152400" y="152400"/>
            <a:ext cx="8067675" cy="4114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4"/>
          <p:cNvPicPr preferRelativeResize="0"/>
          <p:nvPr/>
        </p:nvPicPr>
        <p:blipFill>
          <a:blip r:embed="rId3">
            <a:alphaModFix/>
          </a:blip>
          <a:stretch>
            <a:fillRect/>
          </a:stretch>
        </p:blipFill>
        <p:spPr>
          <a:xfrm>
            <a:off x="152400" y="152400"/>
            <a:ext cx="8150099" cy="476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Record</a:t>
            </a:r>
            <a:endParaRPr/>
          </a:p>
        </p:txBody>
      </p:sp>
      <p:sp>
        <p:nvSpPr>
          <p:cNvPr id="124" name="Google Shape;12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sz="1100">
                <a:solidFill>
                  <a:srgbClr val="000000"/>
                </a:solidFill>
                <a:latin typeface="Arial"/>
                <a:ea typeface="Arial"/>
                <a:cs typeface="Arial"/>
                <a:sym typeface="Arial"/>
              </a:rPr>
              <a:t>These automatically become: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Properties (</a:t>
            </a:r>
            <a:r>
              <a:rPr lang="en" sz="1100">
                <a:solidFill>
                  <a:srgbClr val="188038"/>
                </a:solidFill>
                <a:latin typeface="Roboto Mono"/>
                <a:ea typeface="Roboto Mono"/>
                <a:cs typeface="Roboto Mono"/>
                <a:sym typeface="Roboto Mono"/>
              </a:rPr>
              <a:t>init</a:t>
            </a:r>
            <a:r>
              <a:rPr lang="en" sz="1100">
                <a:solidFill>
                  <a:srgbClr val="000000"/>
                </a:solidFill>
                <a:latin typeface="Arial"/>
                <a:ea typeface="Arial"/>
                <a:cs typeface="Arial"/>
                <a:sym typeface="Arial"/>
              </a:rPr>
              <a:t> by default)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Constructor parameters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Used for value equality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Used in </a:t>
            </a:r>
            <a:r>
              <a:rPr lang="en" sz="1100">
                <a:solidFill>
                  <a:srgbClr val="188038"/>
                </a:solidFill>
                <a:latin typeface="Roboto Mono"/>
                <a:ea typeface="Roboto Mono"/>
                <a:cs typeface="Roboto Mono"/>
                <a:sym typeface="Roboto Mono"/>
              </a:rPr>
              <a:t>ToString()</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sz="1600"/>
              <a:t>public record GameDtos(</a:t>
            </a:r>
            <a:endParaRPr sz="1600"/>
          </a:p>
          <a:p>
            <a:pPr indent="0" lvl="0" marL="0" rtl="0" algn="l">
              <a:spcBef>
                <a:spcPts val="0"/>
              </a:spcBef>
              <a:spcAft>
                <a:spcPts val="0"/>
              </a:spcAft>
              <a:buNone/>
            </a:pPr>
            <a:r>
              <a:rPr lang="en" sz="1600"/>
              <a:t>   int Id,</a:t>
            </a:r>
            <a:endParaRPr sz="1600"/>
          </a:p>
          <a:p>
            <a:pPr indent="0" lvl="0" marL="0" rtl="0" algn="l">
              <a:spcBef>
                <a:spcPts val="0"/>
              </a:spcBef>
              <a:spcAft>
                <a:spcPts val="0"/>
              </a:spcAft>
              <a:buNone/>
            </a:pPr>
            <a:r>
              <a:rPr lang="en" sz="1600"/>
              <a:t>   string Name</a:t>
            </a:r>
            <a:endParaRPr sz="1600"/>
          </a:p>
          <a:p>
            <a:pPr indent="0" lvl="0" marL="0" rtl="0" algn="l">
              <a:spcBef>
                <a:spcPts val="0"/>
              </a:spcBef>
              <a:spcAft>
                <a:spcPts val="0"/>
              </a:spcAft>
              <a:buNone/>
            </a:pPr>
            <a:r>
              <a:rPr lang="en" sz="1600"/>
              <a:t>)</a:t>
            </a:r>
            <a:endParaRPr sz="1600"/>
          </a:p>
          <a:p>
            <a:pPr indent="0" lvl="0" marL="0" rtl="0" algn="l">
              <a:spcBef>
                <a:spcPts val="0"/>
              </a:spcBef>
              <a:spcAft>
                <a:spcPts val="0"/>
              </a:spcAft>
              <a:buNone/>
            </a:pPr>
            <a:r>
              <a:rPr lang="en" sz="1600"/>
              <a:t>{</a:t>
            </a:r>
            <a:endParaRPr sz="1600"/>
          </a:p>
          <a:p>
            <a:pPr indent="0" lvl="0" marL="0" rtl="0" algn="l">
              <a:spcBef>
                <a:spcPts val="0"/>
              </a:spcBef>
              <a:spcAft>
                <a:spcPts val="0"/>
              </a:spcAft>
              <a:buNone/>
            </a:pPr>
            <a:r>
              <a:rPr lang="en" sz="1600"/>
              <a:t>   // Additional members go here</a:t>
            </a:r>
            <a:endParaRPr sz="1600"/>
          </a:p>
          <a:p>
            <a:pPr indent="0" lvl="0" marL="0" rtl="0" algn="l">
              <a:spcBef>
                <a:spcPts val="0"/>
              </a:spcBef>
              <a:spcAft>
                <a:spcPts val="0"/>
              </a:spcAft>
              <a:buNone/>
            </a:pPr>
            <a:r>
              <a:rPr lang="en" sz="1600"/>
              <a:t>}</a:t>
            </a:r>
            <a:endParaRPr sz="1600"/>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vs Record</a:t>
            </a:r>
            <a:endParaRPr/>
          </a:p>
        </p:txBody>
      </p:sp>
      <p:pic>
        <p:nvPicPr>
          <p:cNvPr id="130" name="Google Shape;130;p26"/>
          <p:cNvPicPr preferRelativeResize="0"/>
          <p:nvPr/>
        </p:nvPicPr>
        <p:blipFill>
          <a:blip r:embed="rId3">
            <a:alphaModFix/>
          </a:blip>
          <a:stretch>
            <a:fillRect/>
          </a:stretch>
        </p:blipFill>
        <p:spPr>
          <a:xfrm>
            <a:off x="465675" y="1398075"/>
            <a:ext cx="8001000" cy="3638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756"/>
              <a:t>var builder =</a:t>
            </a:r>
            <a:r>
              <a:rPr lang="en" sz="2644"/>
              <a:t> </a:t>
            </a:r>
            <a:r>
              <a:rPr lang="en" sz="2756"/>
              <a:t>WebApplication.CreateBuilder(args);</a:t>
            </a:r>
            <a:r>
              <a:rPr lang="en"/>
              <a:t> </a:t>
            </a:r>
            <a:endParaRPr/>
          </a:p>
        </p:txBody>
      </p:sp>
      <p:sp>
        <p:nvSpPr>
          <p:cNvPr id="136" name="Google Shape;136;p27"/>
          <p:cNvSpPr txBox="1"/>
          <p:nvPr>
            <p:ph idx="1" type="body"/>
          </p:nvPr>
        </p:nvSpPr>
        <p:spPr>
          <a:xfrm>
            <a:off x="311700" y="1514275"/>
            <a:ext cx="8520600" cy="3054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solidFill>
                  <a:srgbClr val="000000"/>
                </a:solidFill>
                <a:latin typeface="Arial"/>
                <a:ea typeface="Arial"/>
                <a:cs typeface="Arial"/>
                <a:sym typeface="Arial"/>
              </a:rPr>
              <a:t>Creates a </a:t>
            </a:r>
            <a:r>
              <a:rPr b="1" lang="en" sz="1500">
                <a:solidFill>
                  <a:srgbClr val="000000"/>
                </a:solidFill>
                <a:latin typeface="Arial"/>
                <a:ea typeface="Arial"/>
                <a:cs typeface="Arial"/>
                <a:sym typeface="Arial"/>
              </a:rPr>
              <a:t>WebApplicationBuilder</a:t>
            </a:r>
            <a:r>
              <a:rPr lang="en" sz="1500">
                <a:solidFill>
                  <a:srgbClr val="000000"/>
                </a:solidFill>
                <a:latin typeface="Arial"/>
                <a:ea typeface="Arial"/>
                <a:cs typeface="Arial"/>
                <a:sym typeface="Arial"/>
              </a:rPr>
              <a:t> object.</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It prepares everything needed to build your web application.</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It automatically configures:</a:t>
            </a:r>
            <a:endParaRPr sz="15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lang="en" sz="1500">
                <a:solidFill>
                  <a:srgbClr val="000000"/>
                </a:solidFill>
                <a:latin typeface="Arial"/>
                <a:ea typeface="Arial"/>
                <a:cs typeface="Arial"/>
                <a:sym typeface="Arial"/>
              </a:rPr>
              <a:t>Dependency Injection (DI)</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Configuration (appsettings.json, environment variables, etc.)</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Logging</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Kestrel web server</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Hosting environment</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 app = builder.Build(); </a:t>
            </a:r>
            <a:endParaRPr/>
          </a:p>
        </p:txBody>
      </p:sp>
      <p:sp>
        <p:nvSpPr>
          <p:cNvPr id="142" name="Google Shape;14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Builds the application from the builder.</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Creates the actual </a:t>
            </a:r>
            <a:r>
              <a:rPr b="1" lang="en" sz="1700">
                <a:solidFill>
                  <a:srgbClr val="000000"/>
                </a:solidFill>
                <a:latin typeface="Arial"/>
                <a:ea typeface="Arial"/>
                <a:cs typeface="Arial"/>
                <a:sym typeface="Arial"/>
              </a:rPr>
              <a:t>WebApplication</a:t>
            </a:r>
            <a:r>
              <a:rPr lang="en" sz="1700">
                <a:solidFill>
                  <a:srgbClr val="000000"/>
                </a:solidFill>
                <a:latin typeface="Arial"/>
                <a:ea typeface="Arial"/>
                <a:cs typeface="Arial"/>
                <a:sym typeface="Arial"/>
              </a:rPr>
              <a:t> object that will receive HTTP requests.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After this point, most services are already configured.</a:t>
            </a:r>
            <a:endParaRPr sz="17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app.UseHttpsRedirection(); </a:t>
            </a:r>
            <a:endParaRPr/>
          </a:p>
        </p:txBody>
      </p:sp>
      <p:sp>
        <p:nvSpPr>
          <p:cNvPr id="148" name="Google Shape;14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Adds middleware that automatically redirects </a:t>
            </a:r>
            <a:r>
              <a:rPr b="1" lang="en">
                <a:solidFill>
                  <a:srgbClr val="000000"/>
                </a:solidFill>
                <a:latin typeface="Arial"/>
                <a:ea typeface="Arial"/>
                <a:cs typeface="Arial"/>
                <a:sym typeface="Arial"/>
              </a:rPr>
              <a:t>HTTP requests to HTTPS</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Example:</a:t>
            </a:r>
            <a:br>
              <a:rPr lang="en">
                <a:solidFill>
                  <a:srgbClr val="000000"/>
                </a:solidFill>
                <a:latin typeface="Arial"/>
                <a:ea typeface="Arial"/>
                <a:cs typeface="Arial"/>
                <a:sym typeface="Arial"/>
              </a:rPr>
            </a:b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 http://localhost:5176</a:t>
            </a: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          ↓</a:t>
            </a: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https://localhost:7036</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app.MapGet("/", () =&gt; "Hello World!"); </a:t>
            </a:r>
            <a:endParaRPr/>
          </a:p>
        </p:txBody>
      </p:sp>
      <p:sp>
        <p:nvSpPr>
          <p:cNvPr id="154" name="Google Shape;15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Creates a </a:t>
            </a:r>
            <a:r>
              <a:rPr b="1" lang="en" sz="1600">
                <a:solidFill>
                  <a:srgbClr val="000000"/>
                </a:solidFill>
                <a:latin typeface="Arial"/>
                <a:ea typeface="Arial"/>
                <a:cs typeface="Arial"/>
                <a:sym typeface="Arial"/>
              </a:rPr>
              <a:t>GET endpoint</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330200" lvl="0" marL="457200" rtl="0" algn="l">
              <a:spcBef>
                <a:spcPts val="0"/>
              </a:spcBef>
              <a:spcAft>
                <a:spcPts val="0"/>
              </a:spcAft>
              <a:buSzPts val="1600"/>
              <a:buChar char="●"/>
            </a:pPr>
            <a:r>
              <a:rPr lang="en" sz="1600">
                <a:solidFill>
                  <a:srgbClr val="000000"/>
                </a:solidFill>
                <a:latin typeface="Arial"/>
                <a:ea typeface="Arial"/>
                <a:cs typeface="Arial"/>
                <a:sym typeface="Arial"/>
              </a:rPr>
              <a:t>When someone sends a GET request to </a:t>
            </a:r>
            <a:r>
              <a:rPr lang="en" sz="1600">
                <a:solidFill>
                  <a:srgbClr val="188038"/>
                </a:solidFill>
                <a:latin typeface="Roboto Mono"/>
                <a:ea typeface="Roboto Mono"/>
                <a:cs typeface="Roboto Mono"/>
                <a:sym typeface="Roboto Mono"/>
              </a:rPr>
              <a:t>/</a:t>
            </a:r>
            <a:r>
              <a:rPr lang="en" sz="1600">
                <a:solidFill>
                  <a:srgbClr val="000000"/>
                </a:solidFill>
                <a:latin typeface="Arial"/>
                <a:ea typeface="Arial"/>
                <a:cs typeface="Arial"/>
                <a:sym typeface="Arial"/>
              </a:rPr>
              <a:t>, it returns </a:t>
            </a:r>
            <a:r>
              <a:rPr lang="en" sz="1600">
                <a:solidFill>
                  <a:srgbClr val="188038"/>
                </a:solidFill>
                <a:latin typeface="Roboto Mono"/>
                <a:ea typeface="Roboto Mono"/>
                <a:cs typeface="Roboto Mono"/>
                <a:sym typeface="Roboto Mono"/>
              </a:rPr>
              <a:t>"Hello World!"</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app.Run(); </a:t>
            </a:r>
            <a:r>
              <a:rPr lang="en"/>
              <a:t>Middleware (Terminal)</a:t>
            </a:r>
            <a:endParaRPr/>
          </a:p>
        </p:txBody>
      </p:sp>
      <p:sp>
        <p:nvSpPr>
          <p:cNvPr id="160" name="Google Shape;160;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Starts the Kestrel web server. </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Begins listening for incoming HTTP requests.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This is a </a:t>
            </a:r>
            <a:r>
              <a:rPr b="1" lang="en" sz="1700">
                <a:solidFill>
                  <a:srgbClr val="000000"/>
                </a:solidFill>
                <a:latin typeface="Arial"/>
                <a:ea typeface="Arial"/>
                <a:cs typeface="Arial"/>
                <a:sym typeface="Arial"/>
              </a:rPr>
              <a:t>blocking call</a:t>
            </a:r>
            <a:r>
              <a:rPr lang="en" sz="1700">
                <a:solidFill>
                  <a:srgbClr val="000000"/>
                </a:solidFill>
                <a:latin typeface="Arial"/>
                <a:ea typeface="Arial"/>
                <a:cs typeface="Arial"/>
                <a:sym typeface="Arial"/>
              </a:rPr>
              <a:t>—the application keeps running until it is stopped.</a:t>
            </a:r>
            <a:endParaRPr sz="17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 Middleware (Terminal)</a:t>
            </a:r>
            <a:endParaRPr/>
          </a:p>
        </p:txBody>
      </p:sp>
      <p:sp>
        <p:nvSpPr>
          <p:cNvPr id="166" name="Google Shape;16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Handles the request.</a:t>
            </a:r>
            <a:endParaRPr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b="1" lang="en" sz="1900">
                <a:solidFill>
                  <a:srgbClr val="000000"/>
                </a:solidFill>
                <a:latin typeface="Arial"/>
                <a:ea typeface="Arial"/>
                <a:cs typeface="Arial"/>
                <a:sym typeface="Arial"/>
              </a:rPr>
              <a:t>Does not call the next middleware.</a:t>
            </a:r>
            <a:endParaRPr b="1"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Ends the pipeline.</a:t>
            </a:r>
            <a:endParaRPr sz="19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app.Run(async context =&gt;</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await context.Response.WriteAsync("Hello");</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0"/>
              </a:spcBef>
              <a:spcAft>
                <a:spcPts val="1200"/>
              </a:spcAft>
              <a:buNone/>
            </a:pPr>
            <a:r>
              <a:rPr lang="en"/>
              <a:t>Use when you want to produce the final response. </a:t>
            </a:r>
            <a:endParaRPr/>
          </a:p>
        </p:txBody>
      </p:sp>
      <p:pic>
        <p:nvPicPr>
          <p:cNvPr id="167" name="Google Shape;167;p32"/>
          <p:cNvPicPr preferRelativeResize="0"/>
          <p:nvPr/>
        </p:nvPicPr>
        <p:blipFill>
          <a:blip r:embed="rId3">
            <a:alphaModFix/>
          </a:blip>
          <a:stretch>
            <a:fillRect/>
          </a:stretch>
        </p:blipFill>
        <p:spPr>
          <a:xfrm>
            <a:off x="641391" y="3624963"/>
            <a:ext cx="1400175" cy="1190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3"/>
          <p:cNvSpPr txBox="1"/>
          <p:nvPr>
            <p:ph type="title"/>
          </p:nvPr>
        </p:nvSpPr>
        <p:spPr>
          <a:xfrm>
            <a:off x="311700" y="391350"/>
            <a:ext cx="8520600" cy="1117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MapGet(), MapPost(), MapPut(), </a:t>
            </a:r>
            <a:r>
              <a:rPr lang="en"/>
              <a:t>MapPatch(), </a:t>
            </a:r>
            <a:r>
              <a:rPr lang="en"/>
              <a:t>MapDelete()</a:t>
            </a:r>
            <a:endParaRPr/>
          </a:p>
        </p:txBody>
      </p:sp>
      <p:sp>
        <p:nvSpPr>
          <p:cNvPr id="173" name="Google Shape;173;p33"/>
          <p:cNvSpPr txBox="1"/>
          <p:nvPr>
            <p:ph idx="1" type="body"/>
          </p:nvPr>
        </p:nvSpPr>
        <p:spPr>
          <a:xfrm>
            <a:off x="311700" y="1614275"/>
            <a:ext cx="8520600" cy="2954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These map HTTP methods directly to endpoints.</a:t>
            </a:r>
            <a:endParaRPr/>
          </a:p>
          <a:p>
            <a:pPr indent="0" lvl="0" marL="0" rtl="0" algn="l">
              <a:spcBef>
                <a:spcPts val="1200"/>
              </a:spcBef>
              <a:spcAft>
                <a:spcPts val="0"/>
              </a:spcAft>
              <a:buNone/>
            </a:pPr>
            <a:r>
              <a:rPr lang="en" sz="1300"/>
              <a:t>app.MapGet("/games", () =&gt; games);</a:t>
            </a:r>
            <a:endParaRPr sz="1300"/>
          </a:p>
          <a:p>
            <a:pPr indent="0" lvl="0" marL="0" rtl="0" algn="l">
              <a:spcBef>
                <a:spcPts val="0"/>
              </a:spcBef>
              <a:spcAft>
                <a:spcPts val="0"/>
              </a:spcAft>
              <a:buNone/>
            </a:pPr>
            <a:r>
              <a:rPr lang="en" sz="1300"/>
              <a:t>app.MapGet("/games/{id}", (int id) =&gt; games.FirstOrDefault(x =&gt; x.Id == id)).WithName(GetGameEndPointName);</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app.MapPost("/games", (CreateGameDtos createGame)=&gt;</a:t>
            </a:r>
            <a:endParaRPr sz="1300"/>
          </a:p>
          <a:p>
            <a:pPr indent="0" lvl="0" marL="0" rtl="0" algn="l">
              <a:spcBef>
                <a:spcPts val="0"/>
              </a:spcBef>
              <a:spcAft>
                <a:spcPts val="0"/>
              </a:spcAft>
              <a:buNone/>
            </a:pPr>
            <a:r>
              <a:rPr lang="en" sz="1300"/>
              <a:t>{</a:t>
            </a:r>
            <a:endParaRPr sz="1300"/>
          </a:p>
          <a:p>
            <a:pPr indent="0" lvl="0" marL="0" rtl="0" algn="l">
              <a:spcBef>
                <a:spcPts val="0"/>
              </a:spcBef>
              <a:spcAft>
                <a:spcPts val="0"/>
              </a:spcAft>
              <a:buNone/>
            </a:pPr>
            <a:r>
              <a:rPr lang="en" sz="1300"/>
              <a:t>   return "User Created";</a:t>
            </a:r>
            <a:endParaRPr sz="1300"/>
          </a:p>
          <a:p>
            <a:pPr indent="0" lvl="0" marL="0" rtl="0" algn="l">
              <a:spcBef>
                <a:spcPts val="0"/>
              </a:spcBef>
              <a:spcAft>
                <a:spcPts val="0"/>
              </a:spcAft>
              <a:buNone/>
            </a:pPr>
            <a:r>
              <a:rPr lang="en" sz="1300"/>
              <a:t>});</a:t>
            </a:r>
            <a:endParaRPr sz="1300"/>
          </a:p>
          <a:p>
            <a:pPr indent="0" lvl="0" marL="0" rtl="0" algn="l">
              <a:spcBef>
                <a:spcPts val="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Middleware</a:t>
            </a:r>
            <a:endParaRPr/>
          </a:p>
          <a:p>
            <a:pPr indent="0" lvl="0" marL="0" rtl="0" algn="l">
              <a:spcBef>
                <a:spcPts val="0"/>
              </a:spcBef>
              <a:spcAft>
                <a:spcPts val="0"/>
              </a:spcAft>
              <a:buNone/>
            </a:pPr>
            <a:r>
              <a:t/>
            </a:r>
            <a:endParaRPr/>
          </a:p>
        </p:txBody>
      </p:sp>
      <p:sp>
        <p:nvSpPr>
          <p:cNvPr id="179" name="Google Shape;17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Each middleware component can:</a:t>
            </a:r>
            <a:endParaRPr/>
          </a:p>
          <a:p>
            <a:pPr indent="-298450" lvl="0" marL="457200" rtl="0" algn="l">
              <a:spcBef>
                <a:spcPts val="1200"/>
              </a:spcBef>
              <a:spcAft>
                <a:spcPts val="0"/>
              </a:spcAft>
              <a:buClr>
                <a:srgbClr val="000000"/>
              </a:buClr>
              <a:buSzPts val="1100"/>
              <a:buFont typeface="Arial"/>
              <a:buAutoNum type="arabicPeriod"/>
            </a:pPr>
            <a:r>
              <a:rPr lang="en"/>
              <a:t>Process an incoming HTTP request.</a:t>
            </a:r>
            <a:endParaRPr/>
          </a:p>
          <a:p>
            <a:pPr indent="-298450" lvl="0" marL="457200" rtl="0" algn="l">
              <a:spcBef>
                <a:spcPts val="0"/>
              </a:spcBef>
              <a:spcAft>
                <a:spcPts val="0"/>
              </a:spcAft>
              <a:buClr>
                <a:srgbClr val="000000"/>
              </a:buClr>
              <a:buSzPts val="1100"/>
              <a:buFont typeface="Arial"/>
              <a:buAutoNum type="arabicPeriod"/>
            </a:pPr>
            <a:r>
              <a:rPr lang="en"/>
              <a:t>Decide whether to pass the request to the next middleware.</a:t>
            </a:r>
            <a:endParaRPr/>
          </a:p>
          <a:p>
            <a:pPr indent="-298450" lvl="0" marL="457200" rtl="0" algn="l">
              <a:spcBef>
                <a:spcPts val="0"/>
              </a:spcBef>
              <a:spcAft>
                <a:spcPts val="0"/>
              </a:spcAft>
              <a:buClr>
                <a:srgbClr val="000000"/>
              </a:buClr>
              <a:buSzPts val="1100"/>
              <a:buFont typeface="Arial"/>
              <a:buAutoNum type="arabicPeriod"/>
            </a:pPr>
            <a:r>
              <a:rPr lang="en"/>
              <a:t>Process the outgoing HTTP response.</a:t>
            </a:r>
            <a:endParaRPr/>
          </a:p>
          <a:p>
            <a:pPr indent="0" lvl="0" marL="0" rtl="0" algn="l">
              <a:spcBef>
                <a:spcPts val="1200"/>
              </a:spcBef>
              <a:spcAft>
                <a:spcPts val="0"/>
              </a:spcAft>
              <a:buNone/>
            </a:pPr>
            <a:r>
              <a:rPr lang="en"/>
              <a:t>Think of middleware as a chain of handlers through which every request passes.</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a:t>
            </a:r>
            <a:r>
              <a:rPr lang="en"/>
              <a:t> Middleware</a:t>
            </a:r>
            <a:endParaRPr/>
          </a:p>
        </p:txBody>
      </p:sp>
      <p:sp>
        <p:nvSpPr>
          <p:cNvPr id="185" name="Google Shape;18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91284" lvl="0" marL="4572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Executes code </a:t>
            </a:r>
            <a:r>
              <a:rPr b="1" lang="en" sz="3306">
                <a:solidFill>
                  <a:srgbClr val="000000"/>
                </a:solidFill>
                <a:latin typeface="Arial"/>
                <a:ea typeface="Arial"/>
                <a:cs typeface="Arial"/>
                <a:sym typeface="Arial"/>
              </a:rPr>
              <a:t>before and after</a:t>
            </a:r>
            <a:r>
              <a:rPr lang="en" sz="3306">
                <a:solidFill>
                  <a:srgbClr val="000000"/>
                </a:solidFill>
                <a:latin typeface="Arial"/>
                <a:ea typeface="Arial"/>
                <a:cs typeface="Arial"/>
                <a:sym typeface="Arial"/>
              </a:rPr>
              <a:t> the next middleware.</a:t>
            </a:r>
            <a:endParaRPr sz="3306">
              <a:solidFill>
                <a:srgbClr val="000000"/>
              </a:solidFill>
              <a:latin typeface="Arial"/>
              <a:ea typeface="Arial"/>
              <a:cs typeface="Arial"/>
              <a:sym typeface="Arial"/>
            </a:endParaRPr>
          </a:p>
          <a:p>
            <a:pPr indent="-391284" lvl="0" marL="457200" rtl="0" algn="l">
              <a:spcBef>
                <a:spcPts val="0"/>
              </a:spcBef>
              <a:spcAft>
                <a:spcPts val="0"/>
              </a:spcAft>
              <a:buSzPct val="100000"/>
              <a:buChar char="●"/>
            </a:pPr>
            <a:r>
              <a:rPr lang="en" sz="3306">
                <a:solidFill>
                  <a:srgbClr val="000000"/>
                </a:solidFill>
                <a:latin typeface="Arial"/>
                <a:ea typeface="Arial"/>
                <a:cs typeface="Arial"/>
                <a:sym typeface="Arial"/>
              </a:rPr>
              <a:t>Calls </a:t>
            </a:r>
            <a:r>
              <a:rPr lang="en" sz="3306">
                <a:solidFill>
                  <a:srgbClr val="188038"/>
                </a:solidFill>
                <a:latin typeface="Roboto Mono"/>
                <a:ea typeface="Roboto Mono"/>
                <a:cs typeface="Roboto Mono"/>
                <a:sym typeface="Roboto Mono"/>
              </a:rPr>
              <a:t>next()</a:t>
            </a:r>
            <a:r>
              <a:rPr lang="en" sz="3306">
                <a:solidFill>
                  <a:srgbClr val="000000"/>
                </a:solidFill>
                <a:latin typeface="Arial"/>
                <a:ea typeface="Arial"/>
                <a:cs typeface="Arial"/>
                <a:sym typeface="Arial"/>
              </a:rPr>
              <a:t> to continue the pipeline.</a:t>
            </a:r>
            <a:endParaRPr sz="3306">
              <a:solidFill>
                <a:srgbClr val="000000"/>
              </a:solidFill>
              <a:latin typeface="Arial"/>
              <a:ea typeface="Arial"/>
              <a:cs typeface="Arial"/>
              <a:sym typeface="Arial"/>
            </a:endParaRPr>
          </a:p>
          <a:p>
            <a:pPr indent="-391284" lvl="0" marL="4572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Use cases</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Logging</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Authentication</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Exception handling</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Custom headers</a:t>
            </a:r>
            <a:endParaRPr sz="3306">
              <a:solidFill>
                <a:srgbClr val="000000"/>
              </a:solidFill>
              <a:latin typeface="Arial"/>
              <a:ea typeface="Arial"/>
              <a:cs typeface="Arial"/>
              <a:sym typeface="Arial"/>
            </a:endParaRPr>
          </a:p>
          <a:p>
            <a:pPr indent="0" lvl="0" marL="45720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 (Normal Middleware Pipeline) </a:t>
            </a:r>
            <a:endParaRPr/>
          </a:p>
          <a:p>
            <a:pPr indent="0" lvl="0" marL="0" rtl="0" algn="l">
              <a:spcBef>
                <a:spcPts val="0"/>
              </a:spcBef>
              <a:spcAft>
                <a:spcPts val="0"/>
              </a:spcAft>
              <a:buNone/>
            </a:pPr>
            <a:r>
              <a:t/>
            </a:r>
            <a:endParaRPr/>
          </a:p>
        </p:txBody>
      </p:sp>
      <p:sp>
        <p:nvSpPr>
          <p:cNvPr id="191" name="Google Shape;191;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92" name="Google Shape;192;p36"/>
          <p:cNvPicPr preferRelativeResize="0"/>
          <p:nvPr/>
        </p:nvPicPr>
        <p:blipFill>
          <a:blip r:embed="rId3">
            <a:alphaModFix/>
          </a:blip>
          <a:stretch>
            <a:fillRect/>
          </a:stretch>
        </p:blipFill>
        <p:spPr>
          <a:xfrm>
            <a:off x="3186550" y="1199713"/>
            <a:ext cx="2019300" cy="3495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 - Implemented for api key </a:t>
            </a:r>
            <a:endParaRPr/>
          </a:p>
        </p:txBody>
      </p:sp>
      <p:sp>
        <p:nvSpPr>
          <p:cNvPr id="198" name="Google Shape;19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35714"/>
              </a:lnSpc>
              <a:spcBef>
                <a:spcPts val="0"/>
              </a:spcBef>
              <a:spcAft>
                <a:spcPts val="0"/>
              </a:spcAft>
              <a:buNone/>
            </a:pPr>
            <a:r>
              <a:rPr lang="en"/>
              <a:t>Sample code: </a:t>
            </a:r>
            <a:endParaRPr/>
          </a:p>
          <a:p>
            <a:pPr indent="0" lvl="0" marL="0" rtl="0" algn="l">
              <a:lnSpc>
                <a:spcPct val="135714"/>
              </a:lnSpc>
              <a:spcBef>
                <a:spcPts val="0"/>
              </a:spcBef>
              <a:spcAft>
                <a:spcPts val="0"/>
              </a:spcAft>
              <a:buNone/>
            </a:pPr>
            <a:r>
              <a:t/>
            </a:r>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app</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Use</a:t>
            </a:r>
            <a:r>
              <a:rPr lang="en" sz="1050">
                <a:solidFill>
                  <a:srgbClr val="E6EDF3"/>
                </a:solidFill>
                <a:highlight>
                  <a:srgbClr val="0D1117"/>
                </a:highlight>
                <a:latin typeface="Courier New"/>
                <a:ea typeface="Courier New"/>
                <a:cs typeface="Courier New"/>
                <a:sym typeface="Courier New"/>
              </a:rPr>
              <a:t>(</a:t>
            </a:r>
            <a:r>
              <a:rPr lang="en" sz="1050">
                <a:solidFill>
                  <a:srgbClr val="FF7B72"/>
                </a:solidFill>
                <a:highlight>
                  <a:srgbClr val="0D1117"/>
                </a:highlight>
                <a:latin typeface="Courier New"/>
                <a:ea typeface="Courier New"/>
                <a:cs typeface="Courier New"/>
                <a:sym typeface="Courier New"/>
              </a:rPr>
              <a:t>async</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next</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=&gt;</a:t>
            </a:r>
            <a:endParaRPr sz="1050">
              <a:solidFill>
                <a:srgbClr val="FF7B72"/>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if</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Request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Path</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StartsWithSegments</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"/games"</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if</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Request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Headers</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TryGetValue</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"X-API-Key"</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out</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var</a:t>
            </a:r>
            <a:r>
              <a:rPr lang="en" sz="1050">
                <a:solidFill>
                  <a:srgbClr val="E6EDF3"/>
                </a:solidFill>
                <a:highlight>
                  <a:srgbClr val="0D1117"/>
                </a:highlight>
                <a:latin typeface="Courier New"/>
                <a:ea typeface="Courier New"/>
                <a:cs typeface="Courier New"/>
                <a:sym typeface="Courier New"/>
              </a:rPr>
              <a:t> key) </a:t>
            </a:r>
            <a:r>
              <a:rPr lang="en" sz="1050">
                <a:solidFill>
                  <a:srgbClr val="FF7B72"/>
                </a:solidFill>
                <a:highlight>
                  <a:srgbClr val="0D1117"/>
                </a:highlight>
                <a:latin typeface="Courier New"/>
                <a:ea typeface="Courier New"/>
                <a:cs typeface="Courier New"/>
                <a:sym typeface="Courier New"/>
              </a:rPr>
              <a:t>||</a:t>
            </a:r>
            <a:endParaRPr sz="1050">
              <a:solidFill>
                <a:srgbClr val="FF7B72"/>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key </a:t>
            </a:r>
            <a:r>
              <a:rPr lang="en" sz="1050">
                <a:solidFill>
                  <a:srgbClr val="D2A8FF"/>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 ApiKey)</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Response</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StatusCode </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StatusCodes</a:t>
            </a:r>
            <a:r>
              <a:rPr lang="en" sz="1050">
                <a:solidFill>
                  <a:srgbClr val="FF7B72"/>
                </a:solidFill>
                <a:highlight>
                  <a:srgbClr val="0D1117"/>
                </a:highlight>
                <a:latin typeface="Courier New"/>
                <a:ea typeface="Courier New"/>
                <a:cs typeface="Courier New"/>
                <a:sym typeface="Courier New"/>
              </a:rPr>
              <a:t>.</a:t>
            </a:r>
            <a:r>
              <a:rPr lang="en" sz="1050">
                <a:solidFill>
                  <a:srgbClr val="79C0FF"/>
                </a:solidFill>
                <a:highlight>
                  <a:srgbClr val="0D1117"/>
                </a:highlight>
                <a:latin typeface="Courier New"/>
                <a:ea typeface="Courier New"/>
                <a:cs typeface="Courier New"/>
                <a:sym typeface="Courier New"/>
              </a:rPr>
              <a:t>Status401Unauthorized</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await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Response</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WriteAsync</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"Invalid API Key"</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return</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await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next</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type="title"/>
          </p:nvPr>
        </p:nvSpPr>
        <p:spPr>
          <a:xfrm>
            <a:off x="311700" y="21990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0"/>
              <a:t>app.UseWhen() (Conditional Middleware, Returns to Main Pipeline)</a:t>
            </a:r>
            <a:endParaRPr sz="2080"/>
          </a:p>
        </p:txBody>
      </p:sp>
      <p:sp>
        <p:nvSpPr>
          <p:cNvPr id="204" name="Google Shape;204;p38"/>
          <p:cNvSpPr txBox="1"/>
          <p:nvPr>
            <p:ph idx="1" type="body"/>
          </p:nvPr>
        </p:nvSpPr>
        <p:spPr>
          <a:xfrm>
            <a:off x="311700" y="915275"/>
            <a:ext cx="8520600" cy="36537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en"/>
              <a:t>Runs middleware only when a condition is true, then returns to the main pipeline.</a:t>
            </a:r>
            <a:endParaRPr/>
          </a:p>
          <a:p>
            <a:pPr indent="0" lvl="0" marL="0" rtl="0" algn="l">
              <a:spcBef>
                <a:spcPts val="1200"/>
              </a:spcBef>
              <a:spcAft>
                <a:spcPts val="1200"/>
              </a:spcAft>
              <a:buNone/>
            </a:pPr>
            <a:r>
              <a:t/>
            </a:r>
            <a:endParaRPr/>
          </a:p>
        </p:txBody>
      </p:sp>
      <p:pic>
        <p:nvPicPr>
          <p:cNvPr id="205" name="Google Shape;205;p38"/>
          <p:cNvPicPr preferRelativeResize="0"/>
          <p:nvPr/>
        </p:nvPicPr>
        <p:blipFill>
          <a:blip r:embed="rId3">
            <a:alphaModFix/>
          </a:blip>
          <a:stretch>
            <a:fillRect/>
          </a:stretch>
        </p:blipFill>
        <p:spPr>
          <a:xfrm>
            <a:off x="2633300" y="1390075"/>
            <a:ext cx="3086100" cy="35872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UseWhen() Middleware </a:t>
            </a:r>
            <a:endParaRPr/>
          </a:p>
          <a:p>
            <a:pPr indent="0" lvl="0" marL="0" rtl="0" algn="l">
              <a:spcBef>
                <a:spcPts val="0"/>
              </a:spcBef>
              <a:spcAft>
                <a:spcPts val="0"/>
              </a:spcAft>
              <a:buNone/>
            </a:pPr>
            <a:r>
              <a:t/>
            </a:r>
            <a:endParaRPr/>
          </a:p>
        </p:txBody>
      </p:sp>
      <p:sp>
        <p:nvSpPr>
          <p:cNvPr id="211" name="Google Shape;21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app.UseWhen(</a:t>
            </a:r>
            <a:endParaRPr/>
          </a:p>
          <a:p>
            <a:pPr indent="0" lvl="0" marL="0" rtl="0" algn="l">
              <a:spcBef>
                <a:spcPts val="0"/>
              </a:spcBef>
              <a:spcAft>
                <a:spcPts val="0"/>
              </a:spcAft>
              <a:buNone/>
            </a:pPr>
            <a:r>
              <a:rPr lang="en"/>
              <a:t>   context =&gt; context.Request.Path.StartsWithSegments("/api"),</a:t>
            </a:r>
            <a:endParaRPr/>
          </a:p>
          <a:p>
            <a:pPr indent="0" lvl="0" marL="0" rtl="0" algn="l">
              <a:spcBef>
                <a:spcPts val="0"/>
              </a:spcBef>
              <a:spcAft>
                <a:spcPts val="0"/>
              </a:spcAft>
              <a:buNone/>
            </a:pPr>
            <a:r>
              <a:rPr lang="en"/>
              <a:t>   appBuilder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appBuilder.Use(async (context, next)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Console.WriteLine("API Request");</a:t>
            </a:r>
            <a:endParaRPr/>
          </a:p>
          <a:p>
            <a:pPr indent="0" lvl="0" marL="0" rtl="0" algn="l">
              <a:spcBef>
                <a:spcPts val="0"/>
              </a:spcBef>
              <a:spcAft>
                <a:spcPts val="0"/>
              </a:spcAft>
              <a:buNone/>
            </a:pPr>
            <a:r>
              <a:rPr lang="en"/>
              <a:t>           await next();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a:p>
            <a:pPr indent="0" lvl="0" marL="0" rtl="0" algn="l">
              <a:spcBef>
                <a:spcPts val="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 (Path-Based Branch)</a:t>
            </a:r>
            <a:endParaRPr/>
          </a:p>
        </p:txBody>
      </p:sp>
      <p:sp>
        <p:nvSpPr>
          <p:cNvPr id="217" name="Google Shape;21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Branches the pipeline based on the </a:t>
            </a:r>
            <a:r>
              <a:rPr b="1" lang="en" sz="1100">
                <a:solidFill>
                  <a:srgbClr val="000000"/>
                </a:solidFill>
                <a:latin typeface="Arial"/>
                <a:ea typeface="Arial"/>
                <a:cs typeface="Arial"/>
                <a:sym typeface="Arial"/>
              </a:rPr>
              <a:t>URL path</a:t>
            </a: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 when different URL paths need different middleware.</a:t>
            </a:r>
            <a:endParaRPr sz="1100">
              <a:solidFill>
                <a:srgbClr val="000000"/>
              </a:solidFill>
              <a:latin typeface="Arial"/>
              <a:ea typeface="Arial"/>
              <a:cs typeface="Arial"/>
              <a:sym typeface="Arial"/>
            </a:endParaRPr>
          </a:p>
        </p:txBody>
      </p:sp>
      <p:pic>
        <p:nvPicPr>
          <p:cNvPr id="218" name="Google Shape;218;p40"/>
          <p:cNvPicPr preferRelativeResize="0"/>
          <p:nvPr/>
        </p:nvPicPr>
        <p:blipFill>
          <a:blip r:embed="rId3">
            <a:alphaModFix/>
          </a:blip>
          <a:stretch>
            <a:fillRect/>
          </a:stretch>
        </p:blipFill>
        <p:spPr>
          <a:xfrm>
            <a:off x="3672975" y="1667000"/>
            <a:ext cx="3829050" cy="31423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 </a:t>
            </a:r>
            <a:r>
              <a:rPr lang="en"/>
              <a:t>Middleware</a:t>
            </a:r>
            <a:endParaRPr/>
          </a:p>
        </p:txBody>
      </p:sp>
      <p:sp>
        <p:nvSpPr>
          <p:cNvPr id="224" name="Google Shape;22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a:p>
            <a:pPr indent="0" lvl="0" marL="457200" rtl="0" algn="l">
              <a:spcBef>
                <a:spcPts val="0"/>
              </a:spcBef>
              <a:spcAft>
                <a:spcPts val="0"/>
              </a:spcAft>
              <a:buNone/>
            </a:pPr>
            <a:r>
              <a:rPr lang="en"/>
              <a:t>app.Map("/admin", adminApp =&gt;</a:t>
            </a:r>
            <a:endParaRPr/>
          </a:p>
          <a:p>
            <a:pPr indent="0" lvl="0" marL="457200" rtl="0" algn="l">
              <a:spcBef>
                <a:spcPts val="0"/>
              </a:spcBef>
              <a:spcAft>
                <a:spcPts val="0"/>
              </a:spcAft>
              <a:buNone/>
            </a:pPr>
            <a:r>
              <a:rPr lang="en"/>
              <a:t>{</a:t>
            </a:r>
            <a:endParaRPr/>
          </a:p>
          <a:p>
            <a:pPr indent="0" lvl="0" marL="457200" rtl="0" algn="l">
              <a:spcBef>
                <a:spcPts val="0"/>
              </a:spcBef>
              <a:spcAft>
                <a:spcPts val="0"/>
              </a:spcAft>
              <a:buNone/>
            </a:pPr>
            <a:r>
              <a:rPr lang="en"/>
              <a:t>   adminApp.Run(async context =&gt;</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rPr lang="en"/>
              <a:t>       await context.Response.WriteAsync("Admin Page");</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rPr lang="en"/>
              <a:t>});</a:t>
            </a:r>
            <a:endParaRPr/>
          </a:p>
          <a:p>
            <a:pPr indent="0" lvl="0" marL="457200" rtl="0" algn="l">
              <a:spcBef>
                <a:spcPts val="1200"/>
              </a:spcBef>
              <a:spcAft>
                <a:spcPts val="0"/>
              </a:spcAft>
              <a:buNone/>
            </a:pPr>
            <a:r>
              <a:rPr lang="en"/>
              <a:t>Requests:</a:t>
            </a:r>
            <a:endParaRPr/>
          </a:p>
          <a:p>
            <a:pPr indent="0" lvl="0" marL="457200" rtl="0" algn="l">
              <a:spcBef>
                <a:spcPts val="1200"/>
              </a:spcBef>
              <a:spcAft>
                <a:spcPts val="0"/>
              </a:spcAft>
              <a:buNone/>
            </a:pPr>
            <a:r>
              <a:rPr lang="en"/>
              <a:t>/admin     → Admin Page</a:t>
            </a:r>
            <a:endParaRPr/>
          </a:p>
          <a:p>
            <a:pPr indent="0" lvl="0" marL="457200" rtl="0" algn="l">
              <a:spcBef>
                <a:spcPts val="0"/>
              </a:spcBef>
              <a:spcAft>
                <a:spcPts val="0"/>
              </a:spcAft>
              <a:buNone/>
            </a:pPr>
            <a:r>
              <a:rPr lang="en"/>
              <a:t>/anything  → Continues in main pipeline</a:t>
            </a:r>
            <a:endParaRPr/>
          </a:p>
          <a:p>
            <a:pPr indent="0" lvl="0" marL="0" rtl="0" algn="l">
              <a:spcBef>
                <a:spcPts val="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app.MapWhen() (Condition-Based Branch)</a:t>
            </a:r>
            <a:endParaRPr/>
          </a:p>
        </p:txBody>
      </p:sp>
      <p:sp>
        <p:nvSpPr>
          <p:cNvPr id="230" name="Google Shape;23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en"/>
              <a:t>Branches the pipeline based on a condition.</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pic>
        <p:nvPicPr>
          <p:cNvPr id="231" name="Google Shape;231;p42"/>
          <p:cNvPicPr preferRelativeResize="0"/>
          <p:nvPr/>
        </p:nvPicPr>
        <p:blipFill>
          <a:blip r:embed="rId3">
            <a:alphaModFix/>
          </a:blip>
          <a:stretch>
            <a:fillRect/>
          </a:stretch>
        </p:blipFill>
        <p:spPr>
          <a:xfrm>
            <a:off x="976325" y="1666997"/>
            <a:ext cx="3381375" cy="3342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app.MapWhen() Middleware</a:t>
            </a:r>
            <a:endParaRPr/>
          </a:p>
          <a:p>
            <a:pPr indent="0" lvl="0" marL="0" rtl="0" algn="l">
              <a:spcBef>
                <a:spcPts val="0"/>
              </a:spcBef>
              <a:spcAft>
                <a:spcPts val="0"/>
              </a:spcAft>
              <a:buNone/>
            </a:pPr>
            <a:r>
              <a:t/>
            </a:r>
            <a:endParaRPr/>
          </a:p>
        </p:txBody>
      </p:sp>
      <p:sp>
        <p:nvSpPr>
          <p:cNvPr id="237" name="Google Shape;23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app.MapWhen(</a:t>
            </a:r>
            <a:endParaRPr/>
          </a:p>
          <a:p>
            <a:pPr indent="0" lvl="0" marL="0" rtl="0" algn="l">
              <a:spcBef>
                <a:spcPts val="0"/>
              </a:spcBef>
              <a:spcAft>
                <a:spcPts val="0"/>
              </a:spcAft>
              <a:buNone/>
            </a:pPr>
            <a:r>
              <a:rPr lang="en"/>
              <a:t>   context =&gt; context.Request.Query.ContainsKey("admin"),</a:t>
            </a:r>
            <a:endParaRPr/>
          </a:p>
          <a:p>
            <a:pPr indent="0" lvl="0" marL="0" rtl="0" algn="l">
              <a:spcBef>
                <a:spcPts val="0"/>
              </a:spcBef>
              <a:spcAft>
                <a:spcPts val="0"/>
              </a:spcAft>
              <a:buNone/>
            </a:pPr>
            <a:r>
              <a:rPr lang="en"/>
              <a:t>   adminApp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adminApp.Run(async context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await context.Response.WriteAsync("Admin");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app.UseRouting();</a:t>
            </a:r>
            <a:endParaRPr/>
          </a:p>
        </p:txBody>
      </p:sp>
      <p:sp>
        <p:nvSpPr>
          <p:cNvPr id="243" name="Google Shape;24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Adds the routing middleware to match incoming URLs to endpoints.</a:t>
            </a:r>
            <a:endParaRPr/>
          </a:p>
        </p:txBody>
      </p:sp>
      <p:pic>
        <p:nvPicPr>
          <p:cNvPr id="244" name="Google Shape;244;p44"/>
          <p:cNvPicPr preferRelativeResize="0"/>
          <p:nvPr/>
        </p:nvPicPr>
        <p:blipFill>
          <a:blip r:embed="rId3">
            <a:alphaModFix/>
          </a:blip>
          <a:stretch>
            <a:fillRect/>
          </a:stretch>
        </p:blipFill>
        <p:spPr>
          <a:xfrm>
            <a:off x="860425" y="1750476"/>
            <a:ext cx="4629150" cy="3185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app.UseStaticFiles();</a:t>
            </a:r>
            <a:endParaRPr/>
          </a:p>
        </p:txBody>
      </p:sp>
      <p:sp>
        <p:nvSpPr>
          <p:cNvPr id="250" name="Google Shape;25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a:t>
            </a:r>
            <a:r>
              <a:rPr lang="en"/>
              <a:t>ells ASP.NET Core to serve files from the wwwroot folder.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app.UseHttpsRedirection(); </a:t>
            </a:r>
            <a:endParaRPr/>
          </a:p>
        </p:txBody>
      </p:sp>
      <p:pic>
        <p:nvPicPr>
          <p:cNvPr id="256" name="Google Shape;256;p46"/>
          <p:cNvPicPr preferRelativeResize="0"/>
          <p:nvPr/>
        </p:nvPicPr>
        <p:blipFill>
          <a:blip r:embed="rId3">
            <a:alphaModFix/>
          </a:blip>
          <a:stretch>
            <a:fillRect/>
          </a:stretch>
        </p:blipFill>
        <p:spPr>
          <a:xfrm>
            <a:off x="3659109" y="1112050"/>
            <a:ext cx="2895484" cy="3821250"/>
          </a:xfrm>
          <a:prstGeom prst="rect">
            <a:avLst/>
          </a:prstGeom>
          <a:noFill/>
          <a:ln>
            <a:noFill/>
          </a:ln>
        </p:spPr>
      </p:pic>
      <p:pic>
        <p:nvPicPr>
          <p:cNvPr id="257" name="Google Shape;257;p46"/>
          <p:cNvPicPr preferRelativeResize="0"/>
          <p:nvPr/>
        </p:nvPicPr>
        <p:blipFill>
          <a:blip r:embed="rId4">
            <a:alphaModFix/>
          </a:blip>
          <a:stretch>
            <a:fillRect/>
          </a:stretch>
        </p:blipFill>
        <p:spPr>
          <a:xfrm>
            <a:off x="431725" y="1160200"/>
            <a:ext cx="2388282" cy="3821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0" lang="en" sz="1800">
                <a:solidFill>
                  <a:schemeClr val="dk2"/>
                </a:solidFill>
                <a:latin typeface="Lato"/>
                <a:ea typeface="Lato"/>
                <a:cs typeface="Lato"/>
                <a:sym typeface="Lato"/>
              </a:rPr>
              <a:t>app.UseHttpsRedirection(); </a:t>
            </a:r>
            <a:endParaRPr/>
          </a:p>
        </p:txBody>
      </p:sp>
      <p:sp>
        <p:nvSpPr>
          <p:cNvPr id="263" name="Google Shape;26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dotnet dev-certs https --check </a:t>
            </a:r>
            <a:endParaRPr/>
          </a:p>
          <a:p>
            <a:pPr indent="-342900" lvl="0" marL="457200" rtl="0" algn="l">
              <a:spcBef>
                <a:spcPts val="0"/>
              </a:spcBef>
              <a:spcAft>
                <a:spcPts val="0"/>
              </a:spcAft>
              <a:buSzPts val="1800"/>
              <a:buChar char="-"/>
            </a:pPr>
            <a:r>
              <a:rPr lang="en"/>
              <a:t>dotnet dev-certs https --clean </a:t>
            </a:r>
            <a:endParaRPr/>
          </a:p>
          <a:p>
            <a:pPr indent="-342900" lvl="0" marL="457200" rtl="0" algn="l">
              <a:spcBef>
                <a:spcPts val="0"/>
              </a:spcBef>
              <a:spcAft>
                <a:spcPts val="0"/>
              </a:spcAft>
              <a:buSzPts val="1800"/>
              <a:buChar char="-"/>
            </a:pPr>
            <a:r>
              <a:rPr lang="en"/>
              <a:t>dotnet dev-certs https --trust </a:t>
            </a:r>
            <a:endParaRPr/>
          </a:p>
          <a:p>
            <a:pPr indent="0" lvl="0" marL="0" rtl="0" algn="l">
              <a:spcBef>
                <a:spcPts val="1200"/>
              </a:spcBef>
              <a:spcAft>
                <a:spcPts val="0"/>
              </a:spcAft>
              <a:buNone/>
            </a:pPr>
            <a:r>
              <a:rPr lang="en"/>
              <a:t>Command line execution: </a:t>
            </a:r>
            <a:endParaRPr/>
          </a:p>
          <a:p>
            <a:pPr indent="-342900" lvl="0" marL="457200" rtl="0" algn="l">
              <a:spcBef>
                <a:spcPts val="1200"/>
              </a:spcBef>
              <a:spcAft>
                <a:spcPts val="0"/>
              </a:spcAft>
              <a:buSzPts val="1800"/>
              <a:buChar char="-"/>
            </a:pPr>
            <a:r>
              <a:rPr b="1" lang="en"/>
              <a:t>dotnet run --launch-profile https </a:t>
            </a:r>
            <a:endParaRPr b="1"/>
          </a:p>
          <a:p>
            <a:pPr indent="0" lvl="0" marL="0" rtl="0" algn="l">
              <a:spcBef>
                <a:spcPts val="1200"/>
              </a:spcBef>
              <a:spcAft>
                <a:spcPts val="0"/>
              </a:spcAft>
              <a:buNone/>
            </a:pPr>
            <a:r>
              <a:rPr b="1" lang="en"/>
              <a:t>VS Code: </a:t>
            </a:r>
            <a:endParaRPr b="1"/>
          </a:p>
          <a:p>
            <a:pPr indent="0" lvl="0" marL="0" rtl="0" algn="l">
              <a:spcBef>
                <a:spcPts val="1200"/>
              </a:spcBef>
              <a:spcAft>
                <a:spcPts val="1200"/>
              </a:spcAft>
              <a:buNone/>
            </a:pPr>
            <a:r>
              <a:rPr b="1" lang="en"/>
              <a:t>Command palette -&gt; .Net Select Launch Configuration → http or https </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a:t>
            </a:r>
            <a:endParaRPr/>
          </a:p>
        </p:txBody>
      </p:sp>
      <p:sp>
        <p:nvSpPr>
          <p:cNvPr id="269" name="Google Shape;26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app.UseHttpsRedirection();</a:t>
            </a:r>
            <a:endParaRPr/>
          </a:p>
          <a:p>
            <a:pPr indent="-325755" lvl="0" marL="457200" rtl="0" algn="l">
              <a:spcBef>
                <a:spcPts val="1200"/>
              </a:spcBef>
              <a:spcAft>
                <a:spcPts val="0"/>
              </a:spcAft>
              <a:buSzPct val="100000"/>
              <a:buChar char="-"/>
            </a:pPr>
            <a:r>
              <a:rPr lang="en"/>
              <a:t>dotnet dev-certs https --check </a:t>
            </a:r>
            <a:endParaRPr/>
          </a:p>
          <a:p>
            <a:pPr indent="-325755" lvl="0" marL="457200" rtl="0" algn="l">
              <a:spcBef>
                <a:spcPts val="0"/>
              </a:spcBef>
              <a:spcAft>
                <a:spcPts val="0"/>
              </a:spcAft>
              <a:buSzPct val="100000"/>
              <a:buChar char="-"/>
            </a:pPr>
            <a:r>
              <a:rPr lang="en"/>
              <a:t>dotnet dev-certs https --clean </a:t>
            </a:r>
            <a:endParaRPr/>
          </a:p>
          <a:p>
            <a:pPr indent="-325755" lvl="0" marL="457200" rtl="0" algn="l">
              <a:spcBef>
                <a:spcPts val="0"/>
              </a:spcBef>
              <a:spcAft>
                <a:spcPts val="0"/>
              </a:spcAft>
              <a:buSzPct val="100000"/>
              <a:buChar char="-"/>
            </a:pPr>
            <a:r>
              <a:rPr lang="en"/>
              <a:t>dotnet dev-certs https --trust </a:t>
            </a:r>
            <a:endParaRPr/>
          </a:p>
          <a:p>
            <a:pPr indent="-325755" lvl="0" marL="457200" rtl="0" algn="l">
              <a:spcBef>
                <a:spcPts val="0"/>
              </a:spcBef>
              <a:spcAft>
                <a:spcPts val="0"/>
              </a:spcAft>
              <a:buSzPct val="100000"/>
              <a:buChar char="-"/>
            </a:pPr>
            <a:r>
              <a:rPr b="1" lang="en"/>
              <a:t>dotnet run --launch-profile https </a:t>
            </a:r>
            <a:endParaRPr b="1"/>
          </a:p>
          <a:p>
            <a:pPr indent="0" lvl="0" marL="0" rtl="0" algn="l">
              <a:spcBef>
                <a:spcPts val="1200"/>
              </a:spcBef>
              <a:spcAft>
                <a:spcPts val="0"/>
              </a:spcAft>
              <a:buNone/>
            </a:pPr>
            <a:r>
              <a:rPr lang="en"/>
              <a:t>app.UseAuthorization();</a:t>
            </a:r>
            <a:endParaRPr/>
          </a:p>
          <a:p>
            <a:pPr indent="0" lvl="0" marL="0" rtl="0" algn="l">
              <a:spcBef>
                <a:spcPts val="1200"/>
              </a:spcBef>
              <a:spcAft>
                <a:spcPts val="0"/>
              </a:spcAft>
              <a:buNone/>
            </a:pPr>
            <a:r>
              <a:rPr lang="en"/>
              <a:t>app.MapStaticAssets();</a:t>
            </a:r>
            <a:endParaRPr/>
          </a:p>
          <a:p>
            <a:pPr indent="0" lvl="0" marL="0" rtl="0" algn="l">
              <a:spcBef>
                <a:spcPts val="1200"/>
              </a:spcBef>
              <a:spcAft>
                <a:spcPts val="0"/>
              </a:spcAft>
              <a:buNone/>
            </a:pPr>
            <a:r>
              <a:rPr lang="en"/>
              <a:t>app.MapControllerRoute(</a:t>
            </a:r>
            <a:endParaRPr/>
          </a:p>
          <a:p>
            <a:pPr indent="0" lvl="0" marL="0" rtl="0" algn="l">
              <a:spcBef>
                <a:spcPts val="1200"/>
              </a:spcBef>
              <a:spcAft>
                <a:spcPts val="0"/>
              </a:spcAft>
              <a:buNone/>
            </a:pPr>
            <a:r>
              <a:rPr lang="en"/>
              <a:t>    name: "default", pattern: "{controller=Home}/{action=index}/{id?}");</a:t>
            </a:r>
            <a:endParaRPr/>
          </a:p>
          <a:p>
            <a:pPr indent="0" lvl="0" marL="0" rtl="0" algn="l">
              <a:spcBef>
                <a:spcPts val="120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Breakdown of MVC</a:t>
            </a:r>
            <a:endParaRPr/>
          </a:p>
        </p:txBody>
      </p:sp>
      <p:sp>
        <p:nvSpPr>
          <p:cNvPr id="275" name="Google Shape;275;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//configure logging, DI, kestrel web server, hosting environment</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FF7B72"/>
                </a:solidFill>
                <a:highlight>
                  <a:schemeClr val="dk2"/>
                </a:highlight>
                <a:latin typeface="Courier New"/>
                <a:ea typeface="Courier New"/>
                <a:cs typeface="Courier New"/>
                <a:sym typeface="Courier New"/>
              </a:rPr>
              <a:t>var</a:t>
            </a:r>
            <a:r>
              <a:rPr lang="en" sz="756">
                <a:solidFill>
                  <a:srgbClr val="E6EDF3"/>
                </a:solidFill>
                <a:highlight>
                  <a:schemeClr val="dk2"/>
                </a:highlight>
                <a:latin typeface="Courier New"/>
                <a:ea typeface="Courier New"/>
                <a:cs typeface="Courier New"/>
                <a:sym typeface="Courier New"/>
              </a:rPr>
              <a:t> builder </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WebApplication</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CreateBuilder</a:t>
            </a:r>
            <a:r>
              <a:rPr lang="en" sz="756">
                <a:solidFill>
                  <a:srgbClr val="E6EDF3"/>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args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 Add services to the container.</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//build mvc services in DI container (model, view, controller, validation )</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builder</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Services</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AddControllersWithViews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//for validating [Required] [Range]</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builder</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Services</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AddValidation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//build the configured application, built the middleware pipeline.</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FF7B72"/>
                </a:solidFill>
                <a:highlight>
                  <a:schemeClr val="dk2"/>
                </a:highlight>
                <a:latin typeface="Courier New"/>
                <a:ea typeface="Courier New"/>
                <a:cs typeface="Courier New"/>
                <a:sym typeface="Courier New"/>
              </a:rPr>
              <a:t>var</a:t>
            </a:r>
            <a:r>
              <a:rPr lang="en" sz="756">
                <a:solidFill>
                  <a:srgbClr val="E6EDF3"/>
                </a:solidFill>
                <a:highlight>
                  <a:schemeClr val="dk2"/>
                </a:highlight>
                <a:latin typeface="Courier New"/>
                <a:ea typeface="Courier New"/>
                <a:cs typeface="Courier New"/>
                <a:sym typeface="Courier New"/>
              </a:rPr>
              <a:t> app </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 builder</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Build</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//Adds the routing middleware to match incoming URLs to endpoints.</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UseRouting</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//tells ASP.NET Core to serve files from the wwwroot folder.</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UseStaticFiles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UseHttpsRedirection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//map default routing for base url</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MapControllerRoute</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name</a:t>
            </a:r>
            <a:r>
              <a:rPr lang="en" sz="756">
                <a:solidFill>
                  <a:srgbClr val="E6EDF3"/>
                </a:solidFill>
                <a:highlight>
                  <a:schemeClr val="dk2"/>
                </a:highlight>
                <a:latin typeface="Courier New"/>
                <a:ea typeface="Courier New"/>
                <a:cs typeface="Courier New"/>
                <a:sym typeface="Courier New"/>
              </a:rPr>
              <a:t>: </a:t>
            </a:r>
            <a:r>
              <a:rPr lang="en" sz="756">
                <a:solidFill>
                  <a:srgbClr val="A5D6FF"/>
                </a:solidFill>
                <a:highlight>
                  <a:schemeClr val="dk2"/>
                </a:highlight>
                <a:latin typeface="Courier New"/>
                <a:ea typeface="Courier New"/>
                <a:cs typeface="Courier New"/>
                <a:sym typeface="Courier New"/>
              </a:rPr>
              <a:t>"default"</a:t>
            </a: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pattern</a:t>
            </a:r>
            <a:r>
              <a:rPr lang="en" sz="756">
                <a:solidFill>
                  <a:srgbClr val="E6EDF3"/>
                </a:solidFill>
                <a:highlight>
                  <a:schemeClr val="dk2"/>
                </a:highlight>
                <a:latin typeface="Courier New"/>
                <a:ea typeface="Courier New"/>
                <a:cs typeface="Courier New"/>
                <a:sym typeface="Courier New"/>
              </a:rPr>
              <a:t>: </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controller</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Home</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action</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index</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id</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Run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95000"/>
              </a:lnSpc>
              <a:spcBef>
                <a:spcPts val="0"/>
              </a:spcBef>
              <a:spcAft>
                <a:spcPts val="1200"/>
              </a:spcAft>
              <a:buSzPts val="688"/>
              <a:buNone/>
            </a:pPr>
            <a:r>
              <a:t/>
            </a:r>
            <a:endParaRPr sz="1225">
              <a:highlight>
                <a:schemeClr val="dk2"/>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Controller</a:t>
            </a:r>
            <a:endParaRPr/>
          </a:p>
        </p:txBody>
      </p:sp>
      <p:sp>
        <p:nvSpPr>
          <p:cNvPr id="281" name="Google Shape;28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IActionResult - IActionResult is an interface in ASP.NET Core MVC that represents the result of an action method. It gives you the flexibility to return different types of responses from the same action.</a:t>
            </a:r>
            <a:endParaRPr sz="15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82" name="Google Shape;282;p50"/>
          <p:cNvPicPr preferRelativeResize="0"/>
          <p:nvPr/>
        </p:nvPicPr>
        <p:blipFill>
          <a:blip r:embed="rId3">
            <a:alphaModFix/>
          </a:blip>
          <a:stretch>
            <a:fillRect/>
          </a:stretch>
        </p:blipFill>
        <p:spPr>
          <a:xfrm>
            <a:off x="700200" y="1931246"/>
            <a:ext cx="2114550" cy="2579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MVC</a:t>
            </a:r>
            <a:endParaRPr/>
          </a:p>
        </p:txBody>
      </p:sp>
      <p:sp>
        <p:nvSpPr>
          <p:cNvPr id="288" name="Google Shape;288;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 only with controller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 controller-view (Home controller - View\home\index.cshtml)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Controller-model-view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Razor view</a:t>
            </a:r>
            <a:endParaRPr/>
          </a:p>
          <a:p>
            <a:pPr indent="0" lvl="0" marL="0" rtl="0" algn="l">
              <a:spcBef>
                <a:spcPts val="0"/>
              </a:spcBef>
              <a:spcAft>
                <a:spcPts val="0"/>
              </a:spcAft>
              <a:buNone/>
            </a:pPr>
            <a:r>
              <a:t/>
            </a:r>
            <a:endParaRPr/>
          </a:p>
        </p:txBody>
      </p:sp>
      <p:pic>
        <p:nvPicPr>
          <p:cNvPr id="294" name="Google Shape;294;p52"/>
          <p:cNvPicPr preferRelativeResize="0"/>
          <p:nvPr/>
        </p:nvPicPr>
        <p:blipFill>
          <a:blip r:embed="rId3">
            <a:alphaModFix/>
          </a:blip>
          <a:stretch>
            <a:fillRect/>
          </a:stretch>
        </p:blipFill>
        <p:spPr>
          <a:xfrm>
            <a:off x="376275" y="1266363"/>
            <a:ext cx="7010400" cy="23526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_Layout and _Viewstart</a:t>
            </a:r>
            <a:endParaRPr/>
          </a:p>
        </p:txBody>
      </p:sp>
      <p:sp>
        <p:nvSpPr>
          <p:cNvPr id="300" name="Google Shape;300;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1200"/>
              </a:spcBef>
              <a:spcAft>
                <a:spcPts val="0"/>
              </a:spcAft>
              <a:buSzPts val="1800"/>
              <a:buChar char="●"/>
            </a:pPr>
            <a:r>
              <a:rPr lang="en" sz="1100">
                <a:solidFill>
                  <a:srgbClr val="000000"/>
                </a:solidFill>
                <a:latin typeface="Arial"/>
                <a:ea typeface="Arial"/>
                <a:cs typeface="Arial"/>
                <a:sym typeface="Arial"/>
              </a:rPr>
              <a:t>Views\Shared\_Layout.cshtml (@RenderBody) </a:t>
            </a:r>
            <a:endParaRPr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sz="1100">
                <a:solidFill>
                  <a:srgbClr val="000000"/>
                </a:solidFill>
                <a:latin typeface="Arial"/>
                <a:ea typeface="Arial"/>
                <a:cs typeface="Arial"/>
                <a:sym typeface="Arial"/>
              </a:rPr>
              <a:t>Views\_viewstart.cshtml (avoid import of _Layout in all .cshtml)</a:t>
            </a:r>
            <a:endParaRPr sz="11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_Layout.cshtml</a:t>
            </a:r>
            <a:endParaRPr sz="1100">
              <a:solidFill>
                <a:srgbClr val="000000"/>
              </a:solidFill>
              <a:latin typeface="Arial"/>
              <a:ea typeface="Arial"/>
              <a:cs typeface="Arial"/>
              <a:sym typeface="Arial"/>
            </a:endParaRPr>
          </a:p>
          <a:p>
            <a:pPr indent="0" lvl="0" marL="457200" rtl="0" algn="l">
              <a:lnSpc>
                <a:spcPct val="135714"/>
              </a:lnSpc>
              <a:spcBef>
                <a:spcPts val="1200"/>
              </a:spcBef>
              <a:spcAft>
                <a:spcPts val="0"/>
              </a:spcAft>
              <a:buNone/>
            </a:pPr>
            <a:r>
              <a:rPr lang="en" sz="1050">
                <a:solidFill>
                  <a:schemeClr val="dk1"/>
                </a:solidFill>
                <a:latin typeface="Courier New"/>
                <a:ea typeface="Courier New"/>
                <a:cs typeface="Courier New"/>
                <a:sym typeface="Courier New"/>
              </a:rPr>
              <a:t>&lt;div class="pd-3"&gt;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@RenderSection("title",false)</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 class="container"&gt;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@RenderBody()</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050">
              <a:solidFill>
                <a:srgbClr val="E6EDF3"/>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100">
                <a:solidFill>
                  <a:srgbClr val="000000"/>
                </a:solidFill>
                <a:latin typeface="Arial"/>
                <a:ea typeface="Arial"/>
                <a:cs typeface="Arial"/>
                <a:sym typeface="Arial"/>
              </a:rPr>
              <a:t>_ViewStart.cshtml</a:t>
            </a:r>
            <a:endParaRPr sz="1100">
              <a:solidFill>
                <a:srgbClr val="000000"/>
              </a:solidFill>
              <a:latin typeface="Arial"/>
              <a:ea typeface="Arial"/>
              <a:cs typeface="Arial"/>
              <a:sym typeface="Arial"/>
            </a:endParaRPr>
          </a:p>
          <a:p>
            <a:pPr indent="0" lvl="0" marL="457200" rtl="0" algn="l">
              <a:lnSpc>
                <a:spcPct val="135714"/>
              </a:lnSpc>
              <a:spcBef>
                <a:spcPts val="0"/>
              </a:spcBef>
              <a:spcAft>
                <a:spcPts val="0"/>
              </a:spcAft>
              <a:buNone/>
            </a:pPr>
            <a:r>
              <a:rPr lang="en" sz="1100">
                <a:solidFill>
                  <a:srgbClr val="000000"/>
                </a:solidFill>
                <a:latin typeface="Arial"/>
                <a:ea typeface="Arial"/>
                <a:cs typeface="Arial"/>
                <a:sym typeface="Arial"/>
              </a:rPr>
              <a:t>	</a:t>
            </a:r>
            <a:r>
              <a:rPr lang="en"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Layout = "_Layout";</a:t>
            </a:r>
            <a:endParaRPr sz="1050">
              <a:solidFill>
                <a:schemeClr val="dk1"/>
              </a:solidFill>
              <a:latin typeface="Courier New"/>
              <a:ea typeface="Courier New"/>
              <a:cs typeface="Courier New"/>
              <a:sym typeface="Courier New"/>
            </a:endParaRPr>
          </a:p>
          <a:p>
            <a:pPr indent="45720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a:t>
            </a:r>
            <a:endParaRPr sz="11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Section</a:t>
            </a:r>
            <a:endParaRPr/>
          </a:p>
        </p:txBody>
      </p:sp>
      <p:sp>
        <p:nvSpPr>
          <p:cNvPr id="306" name="Google Shape;306;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Step 1: _Layout.cshtml</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&lt;div class="pd-3"&gt;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@RenderSection("title",false)</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 class="container"&gt;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@RenderBody()</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Step 2: Index.cshtml</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@section title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@if (Model != null)</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&lt;h3&gt;Book Section&lt;/h3&gt;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_ViewImports</a:t>
            </a:r>
            <a:endParaRPr/>
          </a:p>
        </p:txBody>
      </p:sp>
      <p:sp>
        <p:nvSpPr>
          <p:cNvPr id="312" name="Google Shape;312;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Helps to avoid import in all views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Entity Framework </a:t>
            </a:r>
            <a:endParaRPr/>
          </a:p>
        </p:txBody>
      </p:sp>
      <p:sp>
        <p:nvSpPr>
          <p:cNvPr id="318" name="Google Shape;318;p56"/>
          <p:cNvSpPr txBox="1"/>
          <p:nvPr>
            <p:ph idx="1" type="body"/>
          </p:nvPr>
        </p:nvSpPr>
        <p:spPr>
          <a:xfrm>
            <a:off x="311700" y="1152475"/>
            <a:ext cx="8520600" cy="3688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Without migration</a:t>
            </a:r>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Database already exists.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Table already exists.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EF Core is simply mapping the model.</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No migrations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GET, POST, PUT, DELETE</a:t>
            </a:r>
            <a:endParaRPr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a:t>With migration </a:t>
            </a:r>
            <a:endParaRPr/>
          </a:p>
          <a:p>
            <a:pPr indent="-317500" lvl="1" marL="914400" rtl="0" algn="l">
              <a:spcBef>
                <a:spcPts val="0"/>
              </a:spcBef>
              <a:spcAft>
                <a:spcPts val="0"/>
              </a:spcAft>
              <a:buSzPts val="1400"/>
              <a:buChar char="○"/>
            </a:pPr>
            <a:r>
              <a:rPr lang="en"/>
              <a:t>Change db name in connection string </a:t>
            </a:r>
            <a:endParaRPr/>
          </a:p>
          <a:p>
            <a:pPr indent="-317500" lvl="1" marL="914400" rtl="0" algn="l">
              <a:spcBef>
                <a:spcPts val="0"/>
              </a:spcBef>
              <a:spcAft>
                <a:spcPts val="0"/>
              </a:spcAft>
              <a:buSzPts val="1400"/>
              <a:buChar char="○"/>
            </a:pPr>
            <a:r>
              <a:rPr lang="en"/>
              <a:t>Command </a:t>
            </a:r>
            <a:endParaRPr/>
          </a:p>
          <a:p>
            <a:pPr indent="-317500" lvl="2" marL="1371600" rtl="0" algn="l">
              <a:spcBef>
                <a:spcPts val="0"/>
              </a:spcBef>
              <a:spcAft>
                <a:spcPts val="0"/>
              </a:spcAft>
              <a:buSzPts val="1400"/>
              <a:buChar char="■"/>
            </a:pPr>
            <a:r>
              <a:rPr lang="en"/>
              <a:t>dotnet tool install --global dotnet-ef </a:t>
            </a:r>
            <a:endParaRPr/>
          </a:p>
          <a:p>
            <a:pPr indent="-317500" lvl="2" marL="1371600" rtl="0" algn="l">
              <a:spcBef>
                <a:spcPts val="0"/>
              </a:spcBef>
              <a:spcAft>
                <a:spcPts val="0"/>
              </a:spcAft>
              <a:buSzPts val="1400"/>
              <a:buChar char="■"/>
            </a:pPr>
            <a:r>
              <a:rPr lang="en"/>
              <a:t>dotnet ef migrations add InitialCreate</a:t>
            </a:r>
            <a:endParaRPr/>
          </a:p>
          <a:p>
            <a:pPr indent="-317500" lvl="2" marL="1371600" rtl="0" algn="l">
              <a:spcBef>
                <a:spcPts val="0"/>
              </a:spcBef>
              <a:spcAft>
                <a:spcPts val="0"/>
              </a:spcAft>
              <a:buSzPts val="1400"/>
              <a:buChar char="■"/>
            </a:pPr>
            <a:r>
              <a:rPr lang="en"/>
              <a:t>dotnet ef database update </a:t>
            </a:r>
            <a:endParaRPr/>
          </a:p>
          <a:p>
            <a:pPr indent="-317500" lvl="1" marL="914400" rtl="0" algn="l">
              <a:spcBef>
                <a:spcPts val="0"/>
              </a:spcBef>
              <a:spcAft>
                <a:spcPts val="0"/>
              </a:spcAft>
              <a:buSzPts val="1400"/>
              <a:buChar char="○"/>
            </a:pPr>
            <a:r>
              <a:rPr lang="en"/>
              <a:t>To remove migration </a:t>
            </a:r>
            <a:endParaRPr/>
          </a:p>
          <a:p>
            <a:pPr indent="-317500" lvl="2" marL="1371600" rtl="0" algn="l">
              <a:spcBef>
                <a:spcPts val="0"/>
              </a:spcBef>
              <a:spcAft>
                <a:spcPts val="0"/>
              </a:spcAft>
              <a:buSzPts val="1400"/>
              <a:buChar char="■"/>
            </a:pPr>
            <a:r>
              <a:rPr lang="en"/>
              <a:t> dotnet ef migrations remove         </a:t>
            </a:r>
            <a:endParaRPr/>
          </a:p>
          <a:p>
            <a:pPr indent="-317500" lvl="1" marL="914400" rtl="0" algn="l">
              <a:spcBef>
                <a:spcPts val="0"/>
              </a:spcBef>
              <a:spcAft>
                <a:spcPts val="0"/>
              </a:spcAft>
              <a:buSzPts val="1400"/>
              <a:buChar char="○"/>
            </a:pPr>
            <a:r>
              <a:rPr lang="en"/>
              <a:t>To drop db </a:t>
            </a:r>
            <a:endParaRPr/>
          </a:p>
          <a:p>
            <a:pPr indent="-317500" lvl="2" marL="1371600" rtl="0" algn="l">
              <a:spcBef>
                <a:spcPts val="0"/>
              </a:spcBef>
              <a:spcAft>
                <a:spcPts val="0"/>
              </a:spcAft>
              <a:buSzPts val="1400"/>
              <a:buChar char="■"/>
            </a:pPr>
            <a:r>
              <a:rPr lang="en"/>
              <a:t>dotnet ef database drop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migration</a:t>
            </a:r>
            <a:endParaRPr/>
          </a:p>
          <a:p>
            <a:pPr indent="0" lvl="0" marL="0" rtl="0" algn="l">
              <a:spcBef>
                <a:spcPts val="0"/>
              </a:spcBef>
              <a:spcAft>
                <a:spcPts val="0"/>
              </a:spcAft>
              <a:buNone/>
            </a:pPr>
            <a:r>
              <a:t/>
            </a:r>
            <a:endParaRPr/>
          </a:p>
        </p:txBody>
      </p:sp>
      <p:sp>
        <p:nvSpPr>
          <p:cNvPr id="324" name="Google Shape;324;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Database already exists.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Table already exists.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EF Core is simply mapping the model.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migration</a:t>
            </a:r>
            <a:endParaRPr/>
          </a:p>
        </p:txBody>
      </p:sp>
      <p:sp>
        <p:nvSpPr>
          <p:cNvPr id="330" name="Google Shape;330;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_9MinimalAPIEntityProject</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Data</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Microsoft</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EntityFrameworkCore</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WebApplication2</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Model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builder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WebApplication</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CreateBuilder</a:t>
            </a:r>
            <a:r>
              <a:rPr lang="en" sz="520">
                <a:solidFill>
                  <a:srgbClr val="E6EDF3"/>
                </a:solidFill>
                <a:highlight>
                  <a:srgbClr val="0D1117"/>
                </a:highlight>
                <a:latin typeface="Courier New"/>
                <a:ea typeface="Courier New"/>
                <a:cs typeface="Courier New"/>
                <a:sym typeface="Courier New"/>
              </a:rPr>
              <a:t>(</a:t>
            </a:r>
            <a:r>
              <a:rPr lang="en" sz="520">
                <a:solidFill>
                  <a:srgbClr val="FF7B72"/>
                </a:solidFill>
                <a:highlight>
                  <a:srgbClr val="0D1117"/>
                </a:highlight>
                <a:latin typeface="Courier New"/>
                <a:ea typeface="Courier New"/>
                <a:cs typeface="Courier New"/>
                <a:sym typeface="Courier New"/>
              </a:rPr>
              <a:t>args</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builder</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Services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AddDbContext</a:t>
            </a:r>
            <a:r>
              <a:rPr lang="en" sz="520">
                <a:solidFill>
                  <a:srgbClr val="E6EDF3"/>
                </a:solidFill>
                <a:highlight>
                  <a:srgbClr val="0D1117"/>
                </a:highlight>
                <a:latin typeface="Courier New"/>
                <a:ea typeface="Courier New"/>
                <a:cs typeface="Courier New"/>
                <a:sym typeface="Courier New"/>
              </a:rPr>
              <a:t>&lt;</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&gt;(</a:t>
            </a:r>
            <a:r>
              <a:rPr lang="en" sz="520">
                <a:solidFill>
                  <a:srgbClr val="FFA657"/>
                </a:solidFill>
                <a:highlight>
                  <a:srgbClr val="0D1117"/>
                </a:highlight>
                <a:latin typeface="Courier New"/>
                <a:ea typeface="Courier New"/>
                <a:cs typeface="Courier New"/>
                <a:sym typeface="Courier New"/>
              </a:rPr>
              <a:t>options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options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UseSqlServer</a:t>
            </a:r>
            <a:r>
              <a:rPr lang="en" sz="520">
                <a:solidFill>
                  <a:srgbClr val="E6EDF3"/>
                </a:solidFill>
                <a:highlight>
                  <a:srgbClr val="0D1117"/>
                </a:highlight>
                <a:latin typeface="Courier New"/>
                <a:ea typeface="Courier New"/>
                <a:cs typeface="Courier New"/>
                <a:sym typeface="Courier New"/>
              </a:rPr>
              <a:t>(builder</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Configuration</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GetConnectionString</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"DefaultConnection"</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app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builder</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Build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MapGet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books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ToListAsync</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books;</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MapGet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id</a:t>
            </a:r>
            <a:r>
              <a:rPr lang="en" sz="520">
                <a:solidFill>
                  <a:srgbClr val="FF7B72"/>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int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id</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book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FirstOrDefaultAsync</a:t>
            </a:r>
            <a:r>
              <a:rPr lang="en" sz="520">
                <a:solidFill>
                  <a:srgbClr val="E6EDF3"/>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x</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x</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Id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id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if</a:t>
            </a:r>
            <a:r>
              <a:rPr lang="en" sz="520">
                <a:solidFill>
                  <a:srgbClr val="E6EDF3"/>
                </a:solidFill>
                <a:highlight>
                  <a:srgbClr val="0D1117"/>
                </a:highlight>
                <a:latin typeface="Courier New"/>
                <a:ea typeface="Courier New"/>
                <a:cs typeface="Courier New"/>
                <a:sym typeface="Courier New"/>
              </a:rPr>
              <a:t> (book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null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NotFound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Ok</a:t>
            </a:r>
            <a:r>
              <a:rPr lang="en" sz="520">
                <a:solidFill>
                  <a:srgbClr val="E6EDF3"/>
                </a:solidFill>
                <a:highlight>
                  <a:srgbClr val="0D1117"/>
                </a:highlight>
                <a:latin typeface="Courier New"/>
                <a:ea typeface="Courier New"/>
                <a:cs typeface="Courier New"/>
                <a:sym typeface="Courier New"/>
              </a:rPr>
              <a:t>(book);</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WithName</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"GetBookById"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MapPost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if</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null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BadRequest</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Add</a:t>
            </a:r>
            <a:r>
              <a:rPr lang="en" sz="520">
                <a:solidFill>
                  <a:srgbClr val="E6EDF3"/>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8B949E"/>
                </a:solidFill>
                <a:highlight>
                  <a:srgbClr val="0D1117"/>
                </a:highlight>
                <a:latin typeface="Courier New"/>
                <a:ea typeface="Courier New"/>
                <a:cs typeface="Courier New"/>
                <a:sym typeface="Courier New"/>
              </a:rPr>
              <a:t>    // book.Id == 0 - before save</a:t>
            </a:r>
            <a:endParaRPr sz="520">
              <a:solidFill>
                <a:srgbClr val="8B949E"/>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SaveChangesAsync</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8B949E"/>
                </a:solidFill>
                <a:highlight>
                  <a:srgbClr val="0D1117"/>
                </a:highlight>
                <a:latin typeface="Courier New"/>
                <a:ea typeface="Courier New"/>
                <a:cs typeface="Courier New"/>
                <a:sym typeface="Courier New"/>
              </a:rPr>
              <a:t>    // book.Id == 0 after SaveChanges.</a:t>
            </a:r>
            <a:endParaRPr sz="520">
              <a:solidFill>
                <a:srgbClr val="8B949E"/>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CreatedAtRoute</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"GetBookById"</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new</a:t>
            </a:r>
            <a:r>
              <a:rPr lang="en" sz="520">
                <a:solidFill>
                  <a:srgbClr val="E6EDF3"/>
                </a:solidFill>
                <a:highlight>
                  <a:srgbClr val="0D1117"/>
                </a:highlight>
                <a:latin typeface="Courier New"/>
                <a:ea typeface="Courier New"/>
                <a:cs typeface="Courier New"/>
                <a:sym typeface="Courier New"/>
              </a:rPr>
              <a:t> { id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Id },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95000"/>
              </a:lnSpc>
              <a:spcBef>
                <a:spcPts val="0"/>
              </a:spcBef>
              <a:spcAft>
                <a:spcPts val="1200"/>
              </a:spcAft>
              <a:buSzPts val="440"/>
              <a:buNone/>
            </a:pPr>
            <a:r>
              <a:t/>
            </a:r>
            <a:endParaRPr sz="82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 migration</a:t>
            </a:r>
            <a:endParaRPr/>
          </a:p>
        </p:txBody>
      </p:sp>
      <p:sp>
        <p:nvSpPr>
          <p:cNvPr id="336" name="Google Shape;336;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EF Core will:</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install dotnet tool install --global dotnet-ef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create model, Appdbcontext, program.cs, connectionstring</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migrations add InitialCreate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database update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check sql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add new property to model again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migrations add updatecolumnmigration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database update</a:t>
            </a:r>
            <a:endParaRPr sz="1100">
              <a:solidFill>
                <a:srgbClr val="000000"/>
              </a:solidFill>
              <a:latin typeface="Arial"/>
              <a:ea typeface="Arial"/>
              <a:cs typeface="Arial"/>
              <a:sym typeface="Arial"/>
            </a:endParaRPr>
          </a:p>
        </p:txBody>
      </p:sp>
      <p:pic>
        <p:nvPicPr>
          <p:cNvPr id="337" name="Google Shape;337;p59"/>
          <p:cNvPicPr preferRelativeResize="0"/>
          <p:nvPr/>
        </p:nvPicPr>
        <p:blipFill>
          <a:blip r:embed="rId3">
            <a:alphaModFix/>
          </a:blip>
          <a:stretch>
            <a:fillRect/>
          </a:stretch>
        </p:blipFill>
        <p:spPr>
          <a:xfrm>
            <a:off x="4697800" y="324575"/>
            <a:ext cx="3565750" cy="46417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6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IQueryable vs IEnumerable </a:t>
            </a:r>
            <a:endParaRPr/>
          </a:p>
        </p:txBody>
      </p:sp>
      <p:sp>
        <p:nvSpPr>
          <p:cNvPr id="343" name="Google Shape;343;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IEnumerable → db.Books.Where(x =&gt; x.Price &gt; 500);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IQueryable</a:t>
            </a:r>
            <a:endParaRPr/>
          </a:p>
          <a:p>
            <a:pPr indent="0" lvl="0" marL="0" rtl="0" algn="l">
              <a:spcBef>
                <a:spcPts val="0"/>
              </a:spcBef>
              <a:spcAft>
                <a:spcPts val="0"/>
              </a:spcAft>
              <a:buNone/>
            </a:pPr>
            <a:r>
              <a:rPr lang="en"/>
              <a:t>db.Books.Where(x =&gt; x.Price &gt; 500) .ToQueryString()) </a:t>
            </a:r>
            <a:endParaRPr/>
          </a:p>
          <a:p>
            <a:pPr indent="0" lvl="0" marL="0" rtl="0" algn="l">
              <a:spcBef>
                <a:spcPts val="0"/>
              </a:spcBef>
              <a:spcAft>
                <a:spcPts val="0"/>
              </a:spcAft>
              <a:buNone/>
            </a:pPr>
            <a:r>
              <a:rPr lang="en"/>
              <a:t>a</a:t>
            </a:r>
            <a:r>
              <a:rPr lang="en"/>
              <a:t>wait db.Books .Where(x =&gt; x.Price &gt; 500) .FirstOrDefaultAsync() </a:t>
            </a:r>
            <a:endParaRPr/>
          </a:p>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1"/>
          <p:cNvSpPr txBox="1"/>
          <p:nvPr>
            <p:ph type="title"/>
          </p:nvPr>
        </p:nvSpPr>
        <p:spPr>
          <a:xfrm>
            <a:off x="311700" y="324350"/>
            <a:ext cx="8520600" cy="69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ToQueryString()</a:t>
            </a:r>
            <a:endParaRPr/>
          </a:p>
        </p:txBody>
      </p:sp>
      <p:pic>
        <p:nvPicPr>
          <p:cNvPr id="349" name="Google Shape;349;p61"/>
          <p:cNvPicPr preferRelativeResize="0"/>
          <p:nvPr/>
        </p:nvPicPr>
        <p:blipFill>
          <a:blip r:embed="rId3">
            <a:alphaModFix/>
          </a:blip>
          <a:stretch>
            <a:fillRect/>
          </a:stretch>
        </p:blipFill>
        <p:spPr>
          <a:xfrm>
            <a:off x="408400" y="1017450"/>
            <a:ext cx="8520599" cy="37247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5" name="Google Shape;355;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6" name="Google Shape;356;p62"/>
          <p:cNvPicPr preferRelativeResize="0"/>
          <p:nvPr/>
        </p:nvPicPr>
        <p:blipFill>
          <a:blip r:embed="rId3">
            <a:alphaModFix/>
          </a:blip>
          <a:stretch>
            <a:fillRect/>
          </a:stretch>
        </p:blipFill>
        <p:spPr>
          <a:xfrm>
            <a:off x="242825" y="213525"/>
            <a:ext cx="8729525" cy="4355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