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Lst>
  <p:sldSz cy="5143500" cx="9144000"/>
  <p:notesSz cx="6858000" cy="9144000"/>
  <p:embeddedFontLst>
    <p:embeddedFont>
      <p:font typeface="Playfair Display"/>
      <p:regular r:id="rId103"/>
      <p:bold r:id="rId104"/>
      <p:italic r:id="rId105"/>
      <p:boldItalic r:id="rId106"/>
    </p:embeddedFont>
    <p:embeddedFont>
      <p:font typeface="Lato"/>
      <p:regular r:id="rId107"/>
      <p:bold r:id="rId108"/>
      <p:italic r:id="rId109"/>
      <p:boldItalic r:id="rId110"/>
    </p:embeddedFont>
    <p:embeddedFont>
      <p:font typeface="Roboto Mono"/>
      <p:regular r:id="rId111"/>
      <p:bold r:id="rId112"/>
      <p:italic r:id="rId113"/>
      <p:boldItalic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Lato-regular.fntdata"/><Relationship Id="rId106" Type="http://schemas.openxmlformats.org/officeDocument/2006/relationships/font" Target="fonts/PlayfairDisplay-boldItalic.fntdata"/><Relationship Id="rId105" Type="http://schemas.openxmlformats.org/officeDocument/2006/relationships/font" Target="fonts/PlayfairDisplay-italic.fntdata"/><Relationship Id="rId104" Type="http://schemas.openxmlformats.org/officeDocument/2006/relationships/font" Target="fonts/PlayfairDisplay-bold.fntdata"/><Relationship Id="rId109" Type="http://schemas.openxmlformats.org/officeDocument/2006/relationships/font" Target="fonts/Lato-italic.fntdata"/><Relationship Id="rId108" Type="http://schemas.openxmlformats.org/officeDocument/2006/relationships/font" Target="fonts/Lato-bold.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PlayfairDisplay-regular.fntdata"/><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Lato-bol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RobotoMono-boldItalic.fntdata"/><Relationship Id="rId18" Type="http://schemas.openxmlformats.org/officeDocument/2006/relationships/slide" Target="slides/slide13.xml"/><Relationship Id="rId113" Type="http://schemas.openxmlformats.org/officeDocument/2006/relationships/font" Target="fonts/RobotoMono-italic.fntdata"/><Relationship Id="rId112" Type="http://schemas.openxmlformats.org/officeDocument/2006/relationships/font" Target="fonts/RobotoMono-bold.fntdata"/><Relationship Id="rId111" Type="http://schemas.openxmlformats.org/officeDocument/2006/relationships/font" Target="fonts/RobotoMono-regular.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03eb439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f03eb439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03eb4397f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03eb4397f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03eb4397f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03eb4397f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03eb4397f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03eb4397f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03eb4397f_0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03eb4397f_0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03eb4397f_0_1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03eb4397f_0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03eb4397f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03eb4397f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03eb4397f_0_1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03eb4397f_0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03eb4397f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03eb4397f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03eb4397f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03eb4397f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03eb4397f_0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03eb4397f_0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2f44e1cd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2f44e1c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2f44e1cd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2f44e1c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03eb4397f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03eb4397f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03eb4397f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03eb4397f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03eb4397f_0_1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03eb4397f_0_1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03eb4397f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03eb4397f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03eb4397f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03eb4397f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03eb4397f_0_1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03eb4397f_0_1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03eb4397f_0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03eb4397f_0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2fae74b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2fae74b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03eb4397f_0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03eb4397f_0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7c0ccb15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7c0ccb15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2f44e1c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2f44e1c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03eb4397f_0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03eb4397f_0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7c0ccb15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7c0ccb15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7c0ccb15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7c0ccb1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03eb4397f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03eb4397f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03eb4397f_0_1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03eb4397f_0_1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7c0ccb1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7c0ccb1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7c0ccb15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7c0ccb15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00919e5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800919e5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800919e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800919e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4f4845e0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4f4845e0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800919e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800919e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821a9cb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821a9cb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821a9cbf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821a9cbf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821a9cbf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821a9cbf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4f4845e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4f4845e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4f4845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4f4845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4f4845e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4f4845e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821a9cbf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821a9cbf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4f4845e0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4f4845e0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821a9cbf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821a9cbf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821a9cbf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821a9cbf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4f4845e0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4f4845e0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4f4845e0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f4f4845e0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4f4845e0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4f4845e0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03eb4397f_0_1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f03eb4397f_0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5406611a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5406611a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f5406611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f5406611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5406611a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5406611a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5406611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f5406611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5406611a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5406611a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5406611a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5406611a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5406611a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5406611a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5406611a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f5406611a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5406611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5406611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5406611a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f5406611a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5406611a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5406611a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5406611a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5406611a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406611a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5406611a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f5406611a0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f5406611a0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557ceff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557ceff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557ceffa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f557ceffa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557ceffa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f557ceffa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55e8af7d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f55e8af7d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557ceffa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f557ceffa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557ceffa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f557ceffa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557ceffa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f557ceffa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557ceffa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557ceffa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55e8af7d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f55e8af7d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55e8af7d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55e8af7d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55e8af7d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f55e8af7d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55e8af7d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55e8af7d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55e8af7d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f55e8af7d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55e8af7d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f55e8af7d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f55e8af7d7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f55e8af7d7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f55e8af7d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f55e8af7d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55e8af7d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f55e8af7d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55e8af7d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f55e8af7d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f55e8af7d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f55e8af7d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55e8af7d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f55e8af7d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f55e8af7d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f55e8af7d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55e8af7d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f55e8af7d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f55e8af7d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f55e8af7d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55e8af7d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55e8af7d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55e8af7d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f55e8af7d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f55e8af7d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f55e8af7d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55e8af7d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f55e8af7d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f55e8af7d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f55e8af7d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f55e8af7d7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f55e8af7d7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f55e8af7d7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f55e8af7d7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f55e8af7d7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f55e8af7d7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f5679787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f5679787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f588bcd9e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f588bcd9e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2.png"/><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7.png"/><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png"/><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4.png"/><Relationship Id="rId4" Type="http://schemas.openxmlformats.org/officeDocument/2006/relationships/image" Target="../media/image3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6.png"/><Relationship Id="rId4" Type="http://schemas.openxmlformats.org/officeDocument/2006/relationships/image" Target="../media/image4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asp.net"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9.png"/><Relationship Id="rId4" Type="http://schemas.openxmlformats.org/officeDocument/2006/relationships/image" Target="../media/image4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hyperlink" Target="http://asp.net"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4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5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4.png"/><Relationship Id="rId4" Type="http://schemas.openxmlformats.org/officeDocument/2006/relationships/image" Target="../media/image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5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5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5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5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6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55.png"/><Relationship Id="rId4" Type="http://schemas.openxmlformats.org/officeDocument/2006/relationships/image" Target="../media/image5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5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7.xml"/><Relationship Id="rId3" Type="http://schemas.openxmlformats.org/officeDocument/2006/relationships/hyperlink" Target="http://linkedin.com/in/balaji-dinakara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 - Latest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 Initializer</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6" name="Google Shape;66;p14"/>
          <p:cNvPicPr preferRelativeResize="0"/>
          <p:nvPr/>
        </p:nvPicPr>
        <p:blipFill>
          <a:blip r:embed="rId3">
            <a:alphaModFix/>
          </a:blip>
          <a:stretch>
            <a:fillRect/>
          </a:stretch>
        </p:blipFill>
        <p:spPr>
          <a:xfrm>
            <a:off x="358590" y="1152477"/>
            <a:ext cx="7822211" cy="341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445000" y="847750"/>
            <a:ext cx="7649199" cy="4053075"/>
          </a:xfrm>
          <a:prstGeom prst="rect">
            <a:avLst/>
          </a:prstGeom>
          <a:noFill/>
          <a:ln>
            <a:noFill/>
          </a:ln>
        </p:spPr>
      </p:pic>
      <p:sp>
        <p:nvSpPr>
          <p:cNvPr id="72" name="Google Shape;72;p15"/>
          <p:cNvSpPr txBox="1"/>
          <p:nvPr>
            <p:ph type="title"/>
          </p:nvPr>
        </p:nvSpPr>
        <p:spPr>
          <a:xfrm>
            <a:off x="445000" y="2216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Properties Declaration</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8" name="Google Shape;78;p16"/>
          <p:cNvPicPr preferRelativeResize="0"/>
          <p:nvPr/>
        </p:nvPicPr>
        <p:blipFill>
          <a:blip r:embed="rId3">
            <a:alphaModFix/>
          </a:blip>
          <a:stretch>
            <a:fillRect/>
          </a:stretch>
        </p:blipFill>
        <p:spPr>
          <a:xfrm>
            <a:off x="311700" y="0"/>
            <a:ext cx="8396975" cy="5083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152400" y="152400"/>
            <a:ext cx="7591425" cy="440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433575" y="808525"/>
            <a:ext cx="7019925" cy="3019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530825" y="873179"/>
            <a:ext cx="7353300" cy="3348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a:blip r:embed="rId3">
            <a:alphaModFix/>
          </a:blip>
          <a:stretch>
            <a:fillRect/>
          </a:stretch>
        </p:blipFill>
        <p:spPr>
          <a:xfrm>
            <a:off x="152400" y="152400"/>
            <a:ext cx="8905474" cy="4361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52400" y="152400"/>
            <a:ext cx="8115300" cy="4684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2"/>
          <p:cNvPicPr preferRelativeResize="0"/>
          <p:nvPr/>
        </p:nvPicPr>
        <p:blipFill>
          <a:blip r:embed="rId3">
            <a:alphaModFix/>
          </a:blip>
          <a:stretch>
            <a:fillRect/>
          </a:stretch>
        </p:blipFill>
        <p:spPr>
          <a:xfrm>
            <a:off x="152400" y="556150"/>
            <a:ext cx="7439025" cy="4155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52400" y="152400"/>
            <a:ext cx="8067675" cy="4114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4"/>
          <p:cNvPicPr preferRelativeResize="0"/>
          <p:nvPr/>
        </p:nvPicPr>
        <p:blipFill>
          <a:blip r:embed="rId3">
            <a:alphaModFix/>
          </a:blip>
          <a:stretch>
            <a:fillRect/>
          </a:stretch>
        </p:blipFill>
        <p:spPr>
          <a:xfrm>
            <a:off x="152400" y="152400"/>
            <a:ext cx="8150099" cy="476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Record</a:t>
            </a:r>
            <a:endParaRPr/>
          </a:p>
        </p:txBody>
      </p:sp>
      <p:sp>
        <p:nvSpPr>
          <p:cNvPr id="124" name="Google Shape;12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solidFill>
                  <a:srgbClr val="000000"/>
                </a:solidFill>
                <a:latin typeface="Arial"/>
                <a:ea typeface="Arial"/>
                <a:cs typeface="Arial"/>
                <a:sym typeface="Arial"/>
              </a:rPr>
              <a:t>These automatically become: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Properties (</a:t>
            </a:r>
            <a:r>
              <a:rPr lang="en" sz="1100">
                <a:solidFill>
                  <a:srgbClr val="188038"/>
                </a:solidFill>
                <a:latin typeface="Roboto Mono"/>
                <a:ea typeface="Roboto Mono"/>
                <a:cs typeface="Roboto Mono"/>
                <a:sym typeface="Roboto Mono"/>
              </a:rPr>
              <a:t>init</a:t>
            </a:r>
            <a:r>
              <a:rPr lang="en" sz="1100">
                <a:solidFill>
                  <a:srgbClr val="000000"/>
                </a:solidFill>
                <a:latin typeface="Arial"/>
                <a:ea typeface="Arial"/>
                <a:cs typeface="Arial"/>
                <a:sym typeface="Arial"/>
              </a:rPr>
              <a:t> by default)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Constructor parameters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for value equality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in </a:t>
            </a:r>
            <a:r>
              <a:rPr lang="en" sz="1100">
                <a:solidFill>
                  <a:srgbClr val="188038"/>
                </a:solidFill>
                <a:latin typeface="Roboto Mono"/>
                <a:ea typeface="Roboto Mono"/>
                <a:cs typeface="Roboto Mono"/>
                <a:sym typeface="Roboto Mono"/>
              </a:rPr>
              <a:t>ToString()</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600"/>
              <a:t>public record GameDtos(</a:t>
            </a:r>
            <a:endParaRPr sz="1600"/>
          </a:p>
          <a:p>
            <a:pPr indent="0" lvl="0" marL="0" rtl="0" algn="l">
              <a:spcBef>
                <a:spcPts val="0"/>
              </a:spcBef>
              <a:spcAft>
                <a:spcPts val="0"/>
              </a:spcAft>
              <a:buNone/>
            </a:pPr>
            <a:r>
              <a:rPr lang="en" sz="1600"/>
              <a:t>   int Id,</a:t>
            </a:r>
            <a:endParaRPr sz="1600"/>
          </a:p>
          <a:p>
            <a:pPr indent="0" lvl="0" marL="0" rtl="0" algn="l">
              <a:spcBef>
                <a:spcPts val="0"/>
              </a:spcBef>
              <a:spcAft>
                <a:spcPts val="0"/>
              </a:spcAft>
              <a:buNone/>
            </a:pPr>
            <a:r>
              <a:rPr lang="en" sz="1600"/>
              <a:t>   string Name</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   // Additional members go here</a:t>
            </a:r>
            <a:endParaRPr sz="1600"/>
          </a:p>
          <a:p>
            <a:pPr indent="0" lvl="0" marL="0" rtl="0" algn="l">
              <a:spcBef>
                <a:spcPts val="0"/>
              </a:spcBef>
              <a:spcAft>
                <a:spcPts val="0"/>
              </a:spcAft>
              <a:buNone/>
            </a:pPr>
            <a:r>
              <a:rPr lang="en" sz="1600"/>
              <a:t>}</a:t>
            </a:r>
            <a:endParaRPr sz="1600"/>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vs Record</a:t>
            </a:r>
            <a:endParaRPr/>
          </a:p>
        </p:txBody>
      </p:sp>
      <p:pic>
        <p:nvPicPr>
          <p:cNvPr id="130" name="Google Shape;130;p26"/>
          <p:cNvPicPr preferRelativeResize="0"/>
          <p:nvPr/>
        </p:nvPicPr>
        <p:blipFill>
          <a:blip r:embed="rId3">
            <a:alphaModFix/>
          </a:blip>
          <a:stretch>
            <a:fillRect/>
          </a:stretch>
        </p:blipFill>
        <p:spPr>
          <a:xfrm>
            <a:off x="465675" y="1398075"/>
            <a:ext cx="8001000" cy="3638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56"/>
              <a:t>var builder =</a:t>
            </a:r>
            <a:r>
              <a:rPr lang="en" sz="2644"/>
              <a:t> </a:t>
            </a:r>
            <a:r>
              <a:rPr lang="en" sz="2756"/>
              <a:t>WebApplication.CreateBuilder(args);</a:t>
            </a:r>
            <a:r>
              <a:rPr lang="en"/>
              <a:t> </a:t>
            </a:r>
            <a:endParaRPr/>
          </a:p>
        </p:txBody>
      </p:sp>
      <p:sp>
        <p:nvSpPr>
          <p:cNvPr id="136" name="Google Shape;136;p27"/>
          <p:cNvSpPr txBox="1"/>
          <p:nvPr>
            <p:ph idx="1" type="body"/>
          </p:nvPr>
        </p:nvSpPr>
        <p:spPr>
          <a:xfrm>
            <a:off x="311700" y="1514275"/>
            <a:ext cx="8520600" cy="305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rgbClr val="000000"/>
                </a:solidFill>
                <a:latin typeface="Arial"/>
                <a:ea typeface="Arial"/>
                <a:cs typeface="Arial"/>
                <a:sym typeface="Arial"/>
              </a:rPr>
              <a:t>Creates a </a:t>
            </a:r>
            <a:r>
              <a:rPr b="1" lang="en" sz="1500">
                <a:solidFill>
                  <a:srgbClr val="000000"/>
                </a:solidFill>
                <a:latin typeface="Arial"/>
                <a:ea typeface="Arial"/>
                <a:cs typeface="Arial"/>
                <a:sym typeface="Arial"/>
              </a:rPr>
              <a:t>WebApplicationBuilder</a:t>
            </a:r>
            <a:r>
              <a:rPr lang="en" sz="1500">
                <a:solidFill>
                  <a:srgbClr val="000000"/>
                </a:solidFill>
                <a:latin typeface="Arial"/>
                <a:ea typeface="Arial"/>
                <a:cs typeface="Arial"/>
                <a:sym typeface="Arial"/>
              </a:rPr>
              <a:t> object.</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prepares everything needed to build your web application.</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en" sz="1500">
                <a:solidFill>
                  <a:srgbClr val="000000"/>
                </a:solidFill>
                <a:latin typeface="Arial"/>
                <a:ea typeface="Arial"/>
                <a:cs typeface="Arial"/>
                <a:sym typeface="Arial"/>
              </a:rPr>
              <a:t>It automatically configures:</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Arial"/>
                <a:ea typeface="Arial"/>
                <a:cs typeface="Arial"/>
                <a:sym typeface="Arial"/>
              </a:rPr>
              <a:t>Dependency Injection (DI)</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Configuration (appsettings.json, environment variables, etc.)</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Logging</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Kestrel web server</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Hosting environment</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 app = builder.Build(); </a:t>
            </a:r>
            <a:endParaRPr/>
          </a:p>
        </p:txBody>
      </p:sp>
      <p:sp>
        <p:nvSpPr>
          <p:cNvPr id="142" name="Google Shape;14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Builds the application from the builder.</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Creates the actual </a:t>
            </a:r>
            <a:r>
              <a:rPr b="1" lang="en" sz="1700">
                <a:solidFill>
                  <a:srgbClr val="000000"/>
                </a:solidFill>
                <a:latin typeface="Arial"/>
                <a:ea typeface="Arial"/>
                <a:cs typeface="Arial"/>
                <a:sym typeface="Arial"/>
              </a:rPr>
              <a:t>WebApplication</a:t>
            </a:r>
            <a:r>
              <a:rPr lang="en" sz="1700">
                <a:solidFill>
                  <a:srgbClr val="000000"/>
                </a:solidFill>
                <a:latin typeface="Arial"/>
                <a:ea typeface="Arial"/>
                <a:cs typeface="Arial"/>
                <a:sym typeface="Arial"/>
              </a:rPr>
              <a:t> object that will receive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After this point, most services are already configured.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sp>
        <p:nvSpPr>
          <p:cNvPr id="148" name="Google Shape;14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Adds middleware that automatically redirects </a:t>
            </a:r>
            <a:r>
              <a:rPr b="1" lang="en">
                <a:solidFill>
                  <a:srgbClr val="000000"/>
                </a:solidFill>
                <a:latin typeface="Arial"/>
                <a:ea typeface="Arial"/>
                <a:cs typeface="Arial"/>
                <a:sym typeface="Arial"/>
              </a:rPr>
              <a:t>HTTP requests to HTTPS</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Example:</a:t>
            </a:r>
            <a:br>
              <a:rPr lang="en">
                <a:solidFill>
                  <a:srgbClr val="000000"/>
                </a:solidFill>
                <a:latin typeface="Arial"/>
                <a:ea typeface="Arial"/>
                <a:cs typeface="Arial"/>
                <a:sym typeface="Arial"/>
              </a:rPr>
            </a:b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http://localhost:5176</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          ↓</a:t>
            </a:r>
            <a:br>
              <a:rPr lang="en">
                <a:solidFill>
                  <a:srgbClr val="000000"/>
                </a:solidFill>
                <a:latin typeface="Arial"/>
                <a:ea typeface="Arial"/>
                <a:cs typeface="Arial"/>
                <a:sym typeface="Arial"/>
              </a:rPr>
            </a:br>
            <a:r>
              <a:rPr lang="en">
                <a:solidFill>
                  <a:srgbClr val="000000"/>
                </a:solidFill>
                <a:latin typeface="Arial"/>
                <a:ea typeface="Arial"/>
                <a:cs typeface="Arial"/>
                <a:sym typeface="Arial"/>
              </a:rPr>
              <a:t>https://localhost:7036</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app.MapGet("/", () =&gt; "Hello World!"); </a:t>
            </a:r>
            <a:endParaRPr/>
          </a:p>
        </p:txBody>
      </p:sp>
      <p:sp>
        <p:nvSpPr>
          <p:cNvPr id="154" name="Google Shape;15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Creates a </a:t>
            </a:r>
            <a:r>
              <a:rPr b="1" lang="en" sz="1600">
                <a:solidFill>
                  <a:srgbClr val="000000"/>
                </a:solidFill>
                <a:latin typeface="Arial"/>
                <a:ea typeface="Arial"/>
                <a:cs typeface="Arial"/>
                <a:sym typeface="Arial"/>
              </a:rPr>
              <a:t>GET endpoint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0"/>
              </a:spcBef>
              <a:spcAft>
                <a:spcPts val="0"/>
              </a:spcAft>
              <a:buSzPts val="1600"/>
              <a:buChar char="●"/>
            </a:pPr>
            <a:r>
              <a:rPr lang="en" sz="1600">
                <a:solidFill>
                  <a:srgbClr val="000000"/>
                </a:solidFill>
                <a:latin typeface="Arial"/>
                <a:ea typeface="Arial"/>
                <a:cs typeface="Arial"/>
                <a:sym typeface="Arial"/>
              </a:rPr>
              <a:t>When someone sends a GET request to </a:t>
            </a:r>
            <a:r>
              <a:rPr lang="en" sz="1600">
                <a:solidFill>
                  <a:srgbClr val="188038"/>
                </a:solidFill>
                <a:latin typeface="Roboto Mono"/>
                <a:ea typeface="Roboto Mono"/>
                <a:cs typeface="Roboto Mono"/>
                <a:sym typeface="Roboto Mono"/>
              </a:rPr>
              <a:t>/</a:t>
            </a:r>
            <a:r>
              <a:rPr lang="en" sz="1600">
                <a:solidFill>
                  <a:srgbClr val="000000"/>
                </a:solidFill>
                <a:latin typeface="Arial"/>
                <a:ea typeface="Arial"/>
                <a:cs typeface="Arial"/>
                <a:sym typeface="Arial"/>
              </a:rPr>
              <a:t>, it returns </a:t>
            </a:r>
            <a:r>
              <a:rPr lang="en" sz="1600">
                <a:solidFill>
                  <a:srgbClr val="188038"/>
                </a:solidFill>
                <a:latin typeface="Roboto Mono"/>
                <a:ea typeface="Roboto Mono"/>
                <a:cs typeface="Roboto Mono"/>
                <a:sym typeface="Roboto Mono"/>
              </a:rPr>
              <a:t>"Hello World!"</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app.Run(); </a:t>
            </a:r>
            <a:r>
              <a:rPr lang="en"/>
              <a:t>Middleware (Terminal)</a:t>
            </a:r>
            <a:endParaRPr/>
          </a:p>
        </p:txBody>
      </p:sp>
      <p:sp>
        <p:nvSpPr>
          <p:cNvPr id="160" name="Google Shape;16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Starts the Kestrel web server. </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Begins listening for incoming HTTP requests.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This is a </a:t>
            </a:r>
            <a:r>
              <a:rPr b="1" lang="en" sz="1700">
                <a:solidFill>
                  <a:srgbClr val="000000"/>
                </a:solidFill>
                <a:latin typeface="Arial"/>
                <a:ea typeface="Arial"/>
                <a:cs typeface="Arial"/>
                <a:sym typeface="Arial"/>
              </a:rPr>
              <a:t>blocking call</a:t>
            </a:r>
            <a:r>
              <a:rPr lang="en" sz="1700">
                <a:solidFill>
                  <a:srgbClr val="000000"/>
                </a:solidFill>
                <a:latin typeface="Arial"/>
                <a:ea typeface="Arial"/>
                <a:cs typeface="Arial"/>
                <a:sym typeface="Arial"/>
              </a:rPr>
              <a:t>—the application keeps running until it is stopped.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 Middleware (Terminal)</a:t>
            </a:r>
            <a:endParaRPr/>
          </a:p>
        </p:txBody>
      </p:sp>
      <p:sp>
        <p:nvSpPr>
          <p:cNvPr id="166" name="Google Shape;16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Handles the request.</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b="1" lang="en" sz="1900">
                <a:solidFill>
                  <a:srgbClr val="000000"/>
                </a:solidFill>
                <a:latin typeface="Arial"/>
                <a:ea typeface="Arial"/>
                <a:cs typeface="Arial"/>
                <a:sym typeface="Arial"/>
              </a:rPr>
              <a:t>Does not call the next middleware.</a:t>
            </a:r>
            <a:endParaRPr b="1"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Ends the pipeline.</a:t>
            </a:r>
            <a:endParaRPr sz="19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app.Run(async context =&gt;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await context.Response.WriteAsync("Hello");</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1200"/>
              </a:spcAft>
              <a:buNone/>
            </a:pPr>
            <a:r>
              <a:rPr lang="en"/>
              <a:t>Use when you want to produce the final response. </a:t>
            </a:r>
            <a:endParaRPr/>
          </a:p>
        </p:txBody>
      </p:sp>
      <p:pic>
        <p:nvPicPr>
          <p:cNvPr id="167" name="Google Shape;167;p32"/>
          <p:cNvPicPr preferRelativeResize="0"/>
          <p:nvPr/>
        </p:nvPicPr>
        <p:blipFill>
          <a:blip r:embed="rId3">
            <a:alphaModFix/>
          </a:blip>
          <a:stretch>
            <a:fillRect/>
          </a:stretch>
        </p:blipFill>
        <p:spPr>
          <a:xfrm>
            <a:off x="641391" y="3624963"/>
            <a:ext cx="1400175" cy="1190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391350"/>
            <a:ext cx="8520600" cy="1117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MapGet(), MapPost(), MapPut(), </a:t>
            </a:r>
            <a:r>
              <a:rPr lang="en"/>
              <a:t>MapPatch(), </a:t>
            </a:r>
            <a:r>
              <a:rPr lang="en"/>
              <a:t>MapDelete()</a:t>
            </a:r>
            <a:endParaRPr/>
          </a:p>
        </p:txBody>
      </p:sp>
      <p:sp>
        <p:nvSpPr>
          <p:cNvPr id="173" name="Google Shape;173;p33"/>
          <p:cNvSpPr txBox="1"/>
          <p:nvPr>
            <p:ph idx="1" type="body"/>
          </p:nvPr>
        </p:nvSpPr>
        <p:spPr>
          <a:xfrm>
            <a:off x="311700" y="1614275"/>
            <a:ext cx="8520600" cy="2954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These map HTTP methods directly to endpoints.</a:t>
            </a:r>
            <a:endParaRPr/>
          </a:p>
          <a:p>
            <a:pPr indent="0" lvl="0" marL="0" rtl="0" algn="l">
              <a:spcBef>
                <a:spcPts val="1200"/>
              </a:spcBef>
              <a:spcAft>
                <a:spcPts val="0"/>
              </a:spcAft>
              <a:buNone/>
            </a:pPr>
            <a:r>
              <a:rPr lang="en" sz="1300"/>
              <a:t>app.MapGet("/games", () =&gt; games);</a:t>
            </a:r>
            <a:endParaRPr sz="1300"/>
          </a:p>
          <a:p>
            <a:pPr indent="0" lvl="0" marL="0" rtl="0" algn="l">
              <a:spcBef>
                <a:spcPts val="0"/>
              </a:spcBef>
              <a:spcAft>
                <a:spcPts val="0"/>
              </a:spcAft>
              <a:buNone/>
            </a:pPr>
            <a:r>
              <a:rPr lang="en" sz="1300"/>
              <a:t>app.MapGet("/games/{id}", (int id) =&gt; games.FirstOrDefault(x =&gt; x.Id == id)).WithName(GetGameEndPointName);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app.MapPost("/games", (CreateGameDtos createGame)=&gt;</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   return "User Created";</a:t>
            </a:r>
            <a:endParaRPr sz="1300"/>
          </a:p>
          <a:p>
            <a:pPr indent="0" lvl="0" marL="0" rtl="0" algn="l">
              <a:spcBef>
                <a:spcPts val="0"/>
              </a:spcBef>
              <a:spcAft>
                <a:spcPts val="0"/>
              </a:spcAft>
              <a:buNone/>
            </a:pPr>
            <a:r>
              <a:rPr lang="en" sz="1300"/>
              <a:t>});</a:t>
            </a:r>
            <a:endParaRPr sz="1300"/>
          </a:p>
          <a:p>
            <a:pPr indent="0" lvl="0" marL="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Middleware</a:t>
            </a:r>
            <a:endParaRPr/>
          </a:p>
          <a:p>
            <a:pPr indent="0" lvl="0" marL="0" rtl="0" algn="l">
              <a:spcBef>
                <a:spcPts val="0"/>
              </a:spcBef>
              <a:spcAft>
                <a:spcPts val="0"/>
              </a:spcAft>
              <a:buNone/>
            </a:pPr>
            <a:r>
              <a:t/>
            </a:r>
            <a:endParaRPr/>
          </a:p>
        </p:txBody>
      </p:sp>
      <p:sp>
        <p:nvSpPr>
          <p:cNvPr id="179" name="Google Shape;17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Each middleware component can:</a:t>
            </a:r>
            <a:endParaRPr/>
          </a:p>
          <a:p>
            <a:pPr indent="-298450" lvl="0" marL="457200" rtl="0" algn="l">
              <a:spcBef>
                <a:spcPts val="1200"/>
              </a:spcBef>
              <a:spcAft>
                <a:spcPts val="0"/>
              </a:spcAft>
              <a:buClr>
                <a:srgbClr val="000000"/>
              </a:buClr>
              <a:buSzPts val="1100"/>
              <a:buFont typeface="Arial"/>
              <a:buAutoNum type="arabicPeriod"/>
            </a:pPr>
            <a:r>
              <a:rPr lang="en"/>
              <a:t>Process an incoming HTTP request.</a:t>
            </a:r>
            <a:endParaRPr/>
          </a:p>
          <a:p>
            <a:pPr indent="-298450" lvl="0" marL="457200" rtl="0" algn="l">
              <a:spcBef>
                <a:spcPts val="0"/>
              </a:spcBef>
              <a:spcAft>
                <a:spcPts val="0"/>
              </a:spcAft>
              <a:buClr>
                <a:srgbClr val="000000"/>
              </a:buClr>
              <a:buSzPts val="1100"/>
              <a:buFont typeface="Arial"/>
              <a:buAutoNum type="arabicPeriod"/>
            </a:pPr>
            <a:r>
              <a:rPr lang="en"/>
              <a:t>Decide whether to pass the request to the next middleware.</a:t>
            </a:r>
            <a:endParaRPr/>
          </a:p>
          <a:p>
            <a:pPr indent="-298450" lvl="0" marL="457200" rtl="0" algn="l">
              <a:spcBef>
                <a:spcPts val="0"/>
              </a:spcBef>
              <a:spcAft>
                <a:spcPts val="0"/>
              </a:spcAft>
              <a:buClr>
                <a:srgbClr val="000000"/>
              </a:buClr>
              <a:buSzPts val="1100"/>
              <a:buFont typeface="Arial"/>
              <a:buAutoNum type="arabicPeriod"/>
            </a:pPr>
            <a:r>
              <a:rPr lang="en"/>
              <a:t>Process the outgoing HTTP response.</a:t>
            </a:r>
            <a:endParaRPr/>
          </a:p>
          <a:p>
            <a:pPr indent="0" lvl="0" marL="0" rtl="0" algn="l">
              <a:spcBef>
                <a:spcPts val="1200"/>
              </a:spcBef>
              <a:spcAft>
                <a:spcPts val="0"/>
              </a:spcAft>
              <a:buNone/>
            </a:pPr>
            <a:r>
              <a:rPr lang="en"/>
              <a:t>Think of middleware as a chain of handlers through which every request passes.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a:t>
            </a:r>
            <a:r>
              <a:rPr lang="en"/>
              <a:t> Middleware</a:t>
            </a:r>
            <a:endParaRPr/>
          </a:p>
        </p:txBody>
      </p:sp>
      <p:sp>
        <p:nvSpPr>
          <p:cNvPr id="185" name="Google Shape;18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Executes code </a:t>
            </a:r>
            <a:r>
              <a:rPr b="1" lang="en" sz="3306">
                <a:solidFill>
                  <a:srgbClr val="000000"/>
                </a:solidFill>
                <a:latin typeface="Arial"/>
                <a:ea typeface="Arial"/>
                <a:cs typeface="Arial"/>
                <a:sym typeface="Arial"/>
              </a:rPr>
              <a:t>before and after</a:t>
            </a:r>
            <a:r>
              <a:rPr lang="en" sz="3306">
                <a:solidFill>
                  <a:srgbClr val="000000"/>
                </a:solidFill>
                <a:latin typeface="Arial"/>
                <a:ea typeface="Arial"/>
                <a:cs typeface="Arial"/>
                <a:sym typeface="Arial"/>
              </a:rPr>
              <a:t> the next middleware.</a:t>
            </a:r>
            <a:endParaRPr sz="3306">
              <a:solidFill>
                <a:srgbClr val="000000"/>
              </a:solidFill>
              <a:latin typeface="Arial"/>
              <a:ea typeface="Arial"/>
              <a:cs typeface="Arial"/>
              <a:sym typeface="Arial"/>
            </a:endParaRPr>
          </a:p>
          <a:p>
            <a:pPr indent="-391284" lvl="0" marL="457200" rtl="0" algn="l">
              <a:spcBef>
                <a:spcPts val="0"/>
              </a:spcBef>
              <a:spcAft>
                <a:spcPts val="0"/>
              </a:spcAft>
              <a:buSzPct val="100000"/>
              <a:buChar char="●"/>
            </a:pPr>
            <a:r>
              <a:rPr lang="en" sz="3306">
                <a:solidFill>
                  <a:srgbClr val="000000"/>
                </a:solidFill>
                <a:latin typeface="Arial"/>
                <a:ea typeface="Arial"/>
                <a:cs typeface="Arial"/>
                <a:sym typeface="Arial"/>
              </a:rPr>
              <a:t>Calls </a:t>
            </a:r>
            <a:r>
              <a:rPr lang="en" sz="3306">
                <a:solidFill>
                  <a:srgbClr val="188038"/>
                </a:solidFill>
                <a:latin typeface="Roboto Mono"/>
                <a:ea typeface="Roboto Mono"/>
                <a:cs typeface="Roboto Mono"/>
                <a:sym typeface="Roboto Mono"/>
              </a:rPr>
              <a:t>next()</a:t>
            </a:r>
            <a:r>
              <a:rPr lang="en" sz="3306">
                <a:solidFill>
                  <a:srgbClr val="000000"/>
                </a:solidFill>
                <a:latin typeface="Arial"/>
                <a:ea typeface="Arial"/>
                <a:cs typeface="Arial"/>
                <a:sym typeface="Arial"/>
              </a:rPr>
              <a:t> to continue the pipeline.</a:t>
            </a:r>
            <a:endParaRPr sz="3306">
              <a:solidFill>
                <a:srgbClr val="000000"/>
              </a:solidFill>
              <a:latin typeface="Arial"/>
              <a:ea typeface="Arial"/>
              <a:cs typeface="Arial"/>
              <a:sym typeface="Arial"/>
            </a:endParaRPr>
          </a:p>
          <a:p>
            <a:pPr indent="-391284" lvl="0" marL="4572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Use cases</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Logging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Authentication</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Exception handling</a:t>
            </a:r>
            <a:endParaRPr sz="3306">
              <a:solidFill>
                <a:srgbClr val="000000"/>
              </a:solidFill>
              <a:latin typeface="Arial"/>
              <a:ea typeface="Arial"/>
              <a:cs typeface="Arial"/>
              <a:sym typeface="Arial"/>
            </a:endParaRPr>
          </a:p>
          <a:p>
            <a:pPr indent="-391284" lvl="1" marL="914400" rtl="0" algn="l">
              <a:spcBef>
                <a:spcPts val="0"/>
              </a:spcBef>
              <a:spcAft>
                <a:spcPts val="0"/>
              </a:spcAft>
              <a:buClr>
                <a:srgbClr val="000000"/>
              </a:buClr>
              <a:buSzPct val="100000"/>
              <a:buFont typeface="Arial"/>
              <a:buChar char="○"/>
            </a:pPr>
            <a:r>
              <a:rPr lang="en" sz="3306">
                <a:solidFill>
                  <a:srgbClr val="000000"/>
                </a:solidFill>
                <a:latin typeface="Arial"/>
                <a:ea typeface="Arial"/>
                <a:cs typeface="Arial"/>
                <a:sym typeface="Arial"/>
              </a:rPr>
              <a:t>Custom headers</a:t>
            </a:r>
            <a:endParaRPr sz="3306">
              <a:solidFill>
                <a:srgbClr val="000000"/>
              </a:solidFill>
              <a:latin typeface="Arial"/>
              <a:ea typeface="Arial"/>
              <a:cs typeface="Arial"/>
              <a:sym typeface="Arial"/>
            </a:endParaRPr>
          </a:p>
          <a:p>
            <a:pPr indent="0" lvl="0" marL="45720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(Normal Middleware Pipeline) </a:t>
            </a:r>
            <a:endParaRPr/>
          </a:p>
          <a:p>
            <a:pPr indent="0" lvl="0" marL="0" rtl="0" algn="l">
              <a:spcBef>
                <a:spcPts val="0"/>
              </a:spcBef>
              <a:spcAft>
                <a:spcPts val="0"/>
              </a:spcAft>
              <a:buNone/>
            </a:pPr>
            <a:r>
              <a:t/>
            </a:r>
            <a:endParaRPr/>
          </a:p>
        </p:txBody>
      </p:sp>
      <p:sp>
        <p:nvSpPr>
          <p:cNvPr id="191" name="Google Shape;19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92" name="Google Shape;192;p36"/>
          <p:cNvPicPr preferRelativeResize="0"/>
          <p:nvPr/>
        </p:nvPicPr>
        <p:blipFill>
          <a:blip r:embed="rId3">
            <a:alphaModFix/>
          </a:blip>
          <a:stretch>
            <a:fillRect/>
          </a:stretch>
        </p:blipFill>
        <p:spPr>
          <a:xfrm>
            <a:off x="3186550" y="1199713"/>
            <a:ext cx="2019300" cy="3495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 - Implemented for api key </a:t>
            </a:r>
            <a:endParaRPr/>
          </a:p>
        </p:txBody>
      </p:sp>
      <p:sp>
        <p:nvSpPr>
          <p:cNvPr id="198" name="Google Shape;19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None/>
            </a:pPr>
            <a:r>
              <a:rPr lang="en"/>
              <a:t>Sample code: </a:t>
            </a:r>
            <a:endParaRPr/>
          </a:p>
          <a:p>
            <a:pPr indent="0" lvl="0" marL="0" rtl="0" algn="l">
              <a:lnSpc>
                <a:spcPct val="135714"/>
              </a:lnSpc>
              <a:spcBef>
                <a:spcPts val="0"/>
              </a:spcBef>
              <a:spcAft>
                <a:spcPts val="0"/>
              </a:spcAft>
              <a:buNone/>
            </a:pPr>
            <a:r>
              <a:t/>
            </a:r>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app</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Use</a:t>
            </a:r>
            <a:r>
              <a:rPr lang="en" sz="1050">
                <a:solidFill>
                  <a:srgbClr val="E6EDF3"/>
                </a:solidFill>
                <a:highlight>
                  <a:srgbClr val="0D1117"/>
                </a:highlight>
                <a:latin typeface="Courier New"/>
                <a:ea typeface="Courier New"/>
                <a:cs typeface="Courier New"/>
                <a:sym typeface="Courier New"/>
              </a:rPr>
              <a:t>(</a:t>
            </a:r>
            <a:r>
              <a:rPr lang="en" sz="1050">
                <a:solidFill>
                  <a:srgbClr val="FF7B72"/>
                </a:solidFill>
                <a:highlight>
                  <a:srgbClr val="0D1117"/>
                </a:highlight>
                <a:latin typeface="Courier New"/>
                <a:ea typeface="Courier New"/>
                <a:cs typeface="Courier New"/>
                <a:sym typeface="Courier New"/>
              </a:rPr>
              <a:t>async</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=&gt;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Path</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StartsWithSegments</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"/games"</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Request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Headers</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TryGetValue</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"X-API-Key"</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out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var</a:t>
            </a:r>
            <a:r>
              <a:rPr lang="en" sz="1050">
                <a:solidFill>
                  <a:srgbClr val="E6EDF3"/>
                </a:solidFill>
                <a:highlight>
                  <a:srgbClr val="0D1117"/>
                </a:highlight>
                <a:latin typeface="Courier New"/>
                <a:ea typeface="Courier New"/>
                <a:cs typeface="Courier New"/>
                <a:sym typeface="Courier New"/>
              </a:rPr>
              <a:t> key) </a:t>
            </a:r>
            <a:r>
              <a:rPr lang="en" sz="1050">
                <a:solidFill>
                  <a:srgbClr val="FF7B72"/>
                </a:solidFill>
                <a:highlight>
                  <a:srgbClr val="0D1117"/>
                </a:highlight>
                <a:latin typeface="Courier New"/>
                <a:ea typeface="Courier New"/>
                <a:cs typeface="Courier New"/>
                <a:sym typeface="Courier New"/>
              </a:rPr>
              <a:t>||</a:t>
            </a:r>
            <a:endParaRPr sz="1050">
              <a:solidFill>
                <a:srgbClr val="FF7B72"/>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key </a:t>
            </a:r>
            <a:r>
              <a:rPr lang="en" sz="1050">
                <a:solidFill>
                  <a:srgbClr val="D2A8FF"/>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ApiKey)</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StatusCode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StatusCodes</a:t>
            </a:r>
            <a:r>
              <a:rPr lang="en" sz="1050">
                <a:solidFill>
                  <a:srgbClr val="FF7B72"/>
                </a:solidFill>
                <a:highlight>
                  <a:srgbClr val="0D1117"/>
                </a:highlight>
                <a:latin typeface="Courier New"/>
                <a:ea typeface="Courier New"/>
                <a:cs typeface="Courier New"/>
                <a:sym typeface="Courier New"/>
              </a:rPr>
              <a:t>.</a:t>
            </a:r>
            <a:r>
              <a:rPr lang="en" sz="1050">
                <a:solidFill>
                  <a:srgbClr val="79C0FF"/>
                </a:solidFill>
                <a:highlight>
                  <a:srgbClr val="0D1117"/>
                </a:highlight>
                <a:latin typeface="Courier New"/>
                <a:ea typeface="Courier New"/>
                <a:cs typeface="Courier New"/>
                <a:sym typeface="Courier New"/>
              </a:rPr>
              <a:t>Status401Unauthorized</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context</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Response</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WriteAsync</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"Invalid API Key"</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return</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await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next</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311700" y="21990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80"/>
              <a:t>app.UseWhen() (Conditional Middleware, Returns to Main Pipeline)</a:t>
            </a:r>
            <a:endParaRPr sz="2080"/>
          </a:p>
        </p:txBody>
      </p:sp>
      <p:sp>
        <p:nvSpPr>
          <p:cNvPr id="204" name="Google Shape;204;p38"/>
          <p:cNvSpPr txBox="1"/>
          <p:nvPr>
            <p:ph idx="1" type="body"/>
          </p:nvPr>
        </p:nvSpPr>
        <p:spPr>
          <a:xfrm>
            <a:off x="311700" y="915275"/>
            <a:ext cx="8520600" cy="36537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Runs middleware only when a condition is true, then returns to the main pipeline.</a:t>
            </a:r>
            <a:endParaRPr/>
          </a:p>
          <a:p>
            <a:pPr indent="0" lvl="0" marL="0" rtl="0" algn="l">
              <a:spcBef>
                <a:spcPts val="1200"/>
              </a:spcBef>
              <a:spcAft>
                <a:spcPts val="1200"/>
              </a:spcAft>
              <a:buNone/>
            </a:pPr>
            <a:r>
              <a:t/>
            </a:r>
            <a:endParaRPr/>
          </a:p>
        </p:txBody>
      </p:sp>
      <p:pic>
        <p:nvPicPr>
          <p:cNvPr id="205" name="Google Shape;205;p38"/>
          <p:cNvPicPr preferRelativeResize="0"/>
          <p:nvPr/>
        </p:nvPicPr>
        <p:blipFill>
          <a:blip r:embed="rId3">
            <a:alphaModFix/>
          </a:blip>
          <a:stretch>
            <a:fillRect/>
          </a:stretch>
        </p:blipFill>
        <p:spPr>
          <a:xfrm>
            <a:off x="2633300" y="1390075"/>
            <a:ext cx="3086100" cy="3587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UseWhen() Middleware </a:t>
            </a:r>
            <a:endParaRPr/>
          </a:p>
          <a:p>
            <a:pPr indent="0" lvl="0" marL="0" rtl="0" algn="l">
              <a:spcBef>
                <a:spcPts val="0"/>
              </a:spcBef>
              <a:spcAft>
                <a:spcPts val="0"/>
              </a:spcAft>
              <a:buNone/>
            </a:pPr>
            <a:r>
              <a:t/>
            </a:r>
            <a:endParaRPr/>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app.UseWhen(</a:t>
            </a:r>
            <a:endParaRPr/>
          </a:p>
          <a:p>
            <a:pPr indent="0" lvl="0" marL="0" rtl="0" algn="l">
              <a:spcBef>
                <a:spcPts val="0"/>
              </a:spcBef>
              <a:spcAft>
                <a:spcPts val="0"/>
              </a:spcAft>
              <a:buNone/>
            </a:pPr>
            <a:r>
              <a:rPr lang="en"/>
              <a:t>   context =&gt; context.Request.Path.StartsWithSegments("/api"),</a:t>
            </a:r>
            <a:endParaRPr/>
          </a:p>
          <a:p>
            <a:pPr indent="0" lvl="0" marL="0" rtl="0" algn="l">
              <a:spcBef>
                <a:spcPts val="0"/>
              </a:spcBef>
              <a:spcAft>
                <a:spcPts val="0"/>
              </a:spcAft>
              <a:buNone/>
            </a:pPr>
            <a:r>
              <a:rPr lang="en"/>
              <a:t>   appBuilder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appBuilder.Use(async (context, next)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Console.WriteLine("API Request");</a:t>
            </a:r>
            <a:endParaRPr/>
          </a:p>
          <a:p>
            <a:pPr indent="0" lvl="0" marL="0" rtl="0" algn="l">
              <a:spcBef>
                <a:spcPts val="0"/>
              </a:spcBef>
              <a:spcAft>
                <a:spcPts val="0"/>
              </a:spcAft>
              <a:buNone/>
            </a:pPr>
            <a:r>
              <a:rPr lang="en"/>
              <a:t>           await next();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a:p>
            <a:pPr indent="0" lvl="0" marL="0" rtl="0" algn="l">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(Path-Based Branch)</a:t>
            </a:r>
            <a:endParaRPr/>
          </a:p>
        </p:txBody>
      </p:sp>
      <p:sp>
        <p:nvSpPr>
          <p:cNvPr id="217" name="Google Shape;21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Branches the pipeline based on the </a:t>
            </a:r>
            <a:r>
              <a:rPr b="1" lang="en" sz="1100">
                <a:solidFill>
                  <a:srgbClr val="000000"/>
                </a:solidFill>
                <a:latin typeface="Arial"/>
                <a:ea typeface="Arial"/>
                <a:cs typeface="Arial"/>
                <a:sym typeface="Arial"/>
              </a:rPr>
              <a:t>URL path</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when different URL paths need different middleware.</a:t>
            </a:r>
            <a:endParaRPr sz="1100">
              <a:solidFill>
                <a:srgbClr val="000000"/>
              </a:solidFill>
              <a:latin typeface="Arial"/>
              <a:ea typeface="Arial"/>
              <a:cs typeface="Arial"/>
              <a:sym typeface="Arial"/>
            </a:endParaRPr>
          </a:p>
        </p:txBody>
      </p:sp>
      <p:pic>
        <p:nvPicPr>
          <p:cNvPr id="218" name="Google Shape;218;p40"/>
          <p:cNvPicPr preferRelativeResize="0"/>
          <p:nvPr/>
        </p:nvPicPr>
        <p:blipFill>
          <a:blip r:embed="rId3">
            <a:alphaModFix/>
          </a:blip>
          <a:stretch>
            <a:fillRect/>
          </a:stretch>
        </p:blipFill>
        <p:spPr>
          <a:xfrm>
            <a:off x="3672975" y="1667000"/>
            <a:ext cx="3829050" cy="31423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 </a:t>
            </a:r>
            <a:r>
              <a:rPr lang="en"/>
              <a:t>Middleware</a:t>
            </a:r>
            <a:endParaRPr/>
          </a:p>
        </p:txBody>
      </p:sp>
      <p:sp>
        <p:nvSpPr>
          <p:cNvPr id="224" name="Google Shape;22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457200" rtl="0" algn="l">
              <a:spcBef>
                <a:spcPts val="0"/>
              </a:spcBef>
              <a:spcAft>
                <a:spcPts val="0"/>
              </a:spcAft>
              <a:buNone/>
            </a:pPr>
            <a:r>
              <a:rPr lang="en"/>
              <a:t>app.Map("/admin", adminApp =&gt;</a:t>
            </a:r>
            <a:endParaRPr/>
          </a:p>
          <a:p>
            <a:pPr indent="0" lvl="0" marL="457200" rtl="0" algn="l">
              <a:spcBef>
                <a:spcPts val="0"/>
              </a:spcBef>
              <a:spcAft>
                <a:spcPts val="0"/>
              </a:spcAft>
              <a:buNone/>
            </a:pPr>
            <a:r>
              <a:rPr lang="en"/>
              <a:t>{</a:t>
            </a:r>
            <a:endParaRPr/>
          </a:p>
          <a:p>
            <a:pPr indent="0" lvl="0" marL="457200" rtl="0" algn="l">
              <a:spcBef>
                <a:spcPts val="0"/>
              </a:spcBef>
              <a:spcAft>
                <a:spcPts val="0"/>
              </a:spcAft>
              <a:buNone/>
            </a:pPr>
            <a:r>
              <a:rPr lang="en"/>
              <a:t>   adminApp.Run(async context =&gt;</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       await context.Response.WriteAsync("Admin Page");</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a:t>
            </a:r>
            <a:endParaRPr/>
          </a:p>
          <a:p>
            <a:pPr indent="0" lvl="0" marL="457200" rtl="0" algn="l">
              <a:spcBef>
                <a:spcPts val="1200"/>
              </a:spcBef>
              <a:spcAft>
                <a:spcPts val="0"/>
              </a:spcAft>
              <a:buNone/>
            </a:pPr>
            <a:r>
              <a:rPr lang="en"/>
              <a:t>Requests:</a:t>
            </a:r>
            <a:endParaRPr/>
          </a:p>
          <a:p>
            <a:pPr indent="0" lvl="0" marL="457200" rtl="0" algn="l">
              <a:spcBef>
                <a:spcPts val="1200"/>
              </a:spcBef>
              <a:spcAft>
                <a:spcPts val="0"/>
              </a:spcAft>
              <a:buNone/>
            </a:pPr>
            <a:r>
              <a:rPr lang="en"/>
              <a:t>/admin     → Admin Page</a:t>
            </a:r>
            <a:endParaRPr/>
          </a:p>
          <a:p>
            <a:pPr indent="0" lvl="0" marL="457200" rtl="0" algn="l">
              <a:spcBef>
                <a:spcPts val="0"/>
              </a:spcBef>
              <a:spcAft>
                <a:spcPts val="0"/>
              </a:spcAft>
              <a:buNone/>
            </a:pPr>
            <a:r>
              <a:rPr lang="en"/>
              <a:t>/anything  → Continues in main pipeline</a:t>
            </a:r>
            <a:endParaRPr/>
          </a:p>
          <a:p>
            <a:pPr indent="0" lvl="0" marL="0" rtl="0" algn="l">
              <a:spcBef>
                <a:spcPts val="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(Condition-Based Branch)</a:t>
            </a:r>
            <a:endParaRPr/>
          </a:p>
        </p:txBody>
      </p:sp>
      <p:sp>
        <p:nvSpPr>
          <p:cNvPr id="230" name="Google Shape;23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Branches the pipeline based on a condition.</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231" name="Google Shape;231;p42"/>
          <p:cNvPicPr preferRelativeResize="0"/>
          <p:nvPr/>
        </p:nvPicPr>
        <p:blipFill>
          <a:blip r:embed="rId3">
            <a:alphaModFix/>
          </a:blip>
          <a:stretch>
            <a:fillRect/>
          </a:stretch>
        </p:blipFill>
        <p:spPr>
          <a:xfrm>
            <a:off x="976325" y="1666997"/>
            <a:ext cx="3381375" cy="3342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app.MapWhen() Middleware</a:t>
            </a:r>
            <a:endParaRPr/>
          </a:p>
          <a:p>
            <a:pPr indent="0" lvl="0" marL="0" rtl="0" algn="l">
              <a:spcBef>
                <a:spcPts val="0"/>
              </a:spcBef>
              <a:spcAft>
                <a:spcPts val="0"/>
              </a:spcAft>
              <a:buNone/>
            </a:pPr>
            <a:r>
              <a:t/>
            </a:r>
            <a:endParaRPr/>
          </a:p>
        </p:txBody>
      </p:sp>
      <p:sp>
        <p:nvSpPr>
          <p:cNvPr id="237" name="Google Shape;23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app.MapWhen(</a:t>
            </a:r>
            <a:endParaRPr/>
          </a:p>
          <a:p>
            <a:pPr indent="0" lvl="0" marL="0" rtl="0" algn="l">
              <a:spcBef>
                <a:spcPts val="0"/>
              </a:spcBef>
              <a:spcAft>
                <a:spcPts val="0"/>
              </a:spcAft>
              <a:buNone/>
            </a:pPr>
            <a:r>
              <a:rPr lang="en"/>
              <a:t>   context =&gt; context.Request.Query.ContainsKey("admin"),</a:t>
            </a:r>
            <a:endParaRPr/>
          </a:p>
          <a:p>
            <a:pPr indent="0" lvl="0" marL="0" rtl="0" algn="l">
              <a:spcBef>
                <a:spcPts val="0"/>
              </a:spcBef>
              <a:spcAft>
                <a:spcPts val="0"/>
              </a:spcAft>
              <a:buNone/>
            </a:pPr>
            <a:r>
              <a:rPr lang="en"/>
              <a:t>   adminApp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adminApp.Run(async context =&gt;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await context.Response.WriteAsync("Admin");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app.UseRouting();</a:t>
            </a:r>
            <a:endParaRPr/>
          </a:p>
        </p:txBody>
      </p:sp>
      <p:sp>
        <p:nvSpPr>
          <p:cNvPr id="243" name="Google Shape;24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Adds the routing middleware to match incoming URLs to endpoints.</a:t>
            </a:r>
            <a:endParaRPr/>
          </a:p>
        </p:txBody>
      </p:sp>
      <p:pic>
        <p:nvPicPr>
          <p:cNvPr id="244" name="Google Shape;244;p44"/>
          <p:cNvPicPr preferRelativeResize="0"/>
          <p:nvPr/>
        </p:nvPicPr>
        <p:blipFill>
          <a:blip r:embed="rId3">
            <a:alphaModFix/>
          </a:blip>
          <a:stretch>
            <a:fillRect/>
          </a:stretch>
        </p:blipFill>
        <p:spPr>
          <a:xfrm>
            <a:off x="860425" y="1750476"/>
            <a:ext cx="4629150" cy="3185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app.UseStaticFiles();</a:t>
            </a:r>
            <a:endParaRPr/>
          </a:p>
        </p:txBody>
      </p:sp>
      <p:sp>
        <p:nvSpPr>
          <p:cNvPr id="250" name="Google Shape;25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t>
            </a:r>
            <a:r>
              <a:rPr lang="en"/>
              <a:t>ells ASP.NET Core to serve files from the wwwroot folder.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app.UseHttpsRedirection(); </a:t>
            </a:r>
            <a:endParaRPr/>
          </a:p>
        </p:txBody>
      </p:sp>
      <p:pic>
        <p:nvPicPr>
          <p:cNvPr id="256" name="Google Shape;256;p46"/>
          <p:cNvPicPr preferRelativeResize="0"/>
          <p:nvPr/>
        </p:nvPicPr>
        <p:blipFill>
          <a:blip r:embed="rId3">
            <a:alphaModFix/>
          </a:blip>
          <a:stretch>
            <a:fillRect/>
          </a:stretch>
        </p:blipFill>
        <p:spPr>
          <a:xfrm>
            <a:off x="3659109" y="1112050"/>
            <a:ext cx="2895484" cy="3821250"/>
          </a:xfrm>
          <a:prstGeom prst="rect">
            <a:avLst/>
          </a:prstGeom>
          <a:noFill/>
          <a:ln>
            <a:noFill/>
          </a:ln>
        </p:spPr>
      </p:pic>
      <p:pic>
        <p:nvPicPr>
          <p:cNvPr id="257" name="Google Shape;257;p46"/>
          <p:cNvPicPr preferRelativeResize="0"/>
          <p:nvPr/>
        </p:nvPicPr>
        <p:blipFill>
          <a:blip r:embed="rId4">
            <a:alphaModFix/>
          </a:blip>
          <a:stretch>
            <a:fillRect/>
          </a:stretch>
        </p:blipFill>
        <p:spPr>
          <a:xfrm>
            <a:off x="431725" y="1160200"/>
            <a:ext cx="2388282" cy="3821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0" lang="en" sz="1800">
                <a:solidFill>
                  <a:schemeClr val="dk2"/>
                </a:solidFill>
                <a:latin typeface="Lato"/>
                <a:ea typeface="Lato"/>
                <a:cs typeface="Lato"/>
                <a:sym typeface="Lato"/>
              </a:rPr>
              <a:t>app.UseHttpsRedirection(); </a:t>
            </a:r>
            <a:endParaRPr/>
          </a:p>
        </p:txBody>
      </p:sp>
      <p:sp>
        <p:nvSpPr>
          <p:cNvPr id="263" name="Google Shape;26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dotnet dev-certs https --check </a:t>
            </a:r>
            <a:endParaRPr/>
          </a:p>
          <a:p>
            <a:pPr indent="-342900" lvl="0" marL="457200" rtl="0" algn="l">
              <a:spcBef>
                <a:spcPts val="0"/>
              </a:spcBef>
              <a:spcAft>
                <a:spcPts val="0"/>
              </a:spcAft>
              <a:buSzPts val="1800"/>
              <a:buChar char="-"/>
            </a:pPr>
            <a:r>
              <a:rPr lang="en"/>
              <a:t>dotnet dev-certs https --clean </a:t>
            </a:r>
            <a:endParaRPr/>
          </a:p>
          <a:p>
            <a:pPr indent="-342900" lvl="0" marL="457200" rtl="0" algn="l">
              <a:spcBef>
                <a:spcPts val="0"/>
              </a:spcBef>
              <a:spcAft>
                <a:spcPts val="0"/>
              </a:spcAft>
              <a:buSzPts val="1800"/>
              <a:buChar char="-"/>
            </a:pPr>
            <a:r>
              <a:rPr lang="en"/>
              <a:t>dotnet dev-certs https --trust </a:t>
            </a:r>
            <a:endParaRPr/>
          </a:p>
          <a:p>
            <a:pPr indent="0" lvl="0" marL="0" rtl="0" algn="l">
              <a:spcBef>
                <a:spcPts val="1200"/>
              </a:spcBef>
              <a:spcAft>
                <a:spcPts val="0"/>
              </a:spcAft>
              <a:buNone/>
            </a:pPr>
            <a:r>
              <a:rPr lang="en"/>
              <a:t>Command line execution: </a:t>
            </a:r>
            <a:endParaRPr/>
          </a:p>
          <a:p>
            <a:pPr indent="-342900" lvl="0" marL="457200" rtl="0" algn="l">
              <a:spcBef>
                <a:spcPts val="1200"/>
              </a:spcBef>
              <a:spcAft>
                <a:spcPts val="0"/>
              </a:spcAft>
              <a:buSzPts val="1800"/>
              <a:buChar char="-"/>
            </a:pPr>
            <a:r>
              <a:rPr b="1" lang="en"/>
              <a:t>dotnet run --launch-profile https </a:t>
            </a:r>
            <a:endParaRPr b="1"/>
          </a:p>
          <a:p>
            <a:pPr indent="0" lvl="0" marL="0" rtl="0" algn="l">
              <a:spcBef>
                <a:spcPts val="1200"/>
              </a:spcBef>
              <a:spcAft>
                <a:spcPts val="0"/>
              </a:spcAft>
              <a:buNone/>
            </a:pPr>
            <a:r>
              <a:rPr b="1" lang="en"/>
              <a:t>VS Code: </a:t>
            </a:r>
            <a:endParaRPr b="1"/>
          </a:p>
          <a:p>
            <a:pPr indent="0" lvl="0" marL="0" rtl="0" algn="l">
              <a:spcBef>
                <a:spcPts val="1200"/>
              </a:spcBef>
              <a:spcAft>
                <a:spcPts val="1200"/>
              </a:spcAft>
              <a:buNone/>
            </a:pPr>
            <a:r>
              <a:rPr b="1" lang="en"/>
              <a:t>Command palette -&gt; .Net Select Launch Configuration → http or https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a:t>
            </a:r>
            <a:endParaRPr/>
          </a:p>
        </p:txBody>
      </p:sp>
      <p:sp>
        <p:nvSpPr>
          <p:cNvPr id="269" name="Google Shape;26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app.UseHttpsRedirection();</a:t>
            </a:r>
            <a:endParaRPr/>
          </a:p>
          <a:p>
            <a:pPr indent="-325755" lvl="0" marL="457200" rtl="0" algn="l">
              <a:spcBef>
                <a:spcPts val="1200"/>
              </a:spcBef>
              <a:spcAft>
                <a:spcPts val="0"/>
              </a:spcAft>
              <a:buSzPct val="100000"/>
              <a:buChar char="-"/>
            </a:pPr>
            <a:r>
              <a:rPr lang="en"/>
              <a:t>dotnet dev-certs https --check </a:t>
            </a:r>
            <a:endParaRPr/>
          </a:p>
          <a:p>
            <a:pPr indent="-325755" lvl="0" marL="457200" rtl="0" algn="l">
              <a:spcBef>
                <a:spcPts val="0"/>
              </a:spcBef>
              <a:spcAft>
                <a:spcPts val="0"/>
              </a:spcAft>
              <a:buSzPct val="100000"/>
              <a:buChar char="-"/>
            </a:pPr>
            <a:r>
              <a:rPr lang="en"/>
              <a:t>dotnet dev-certs https --clean </a:t>
            </a:r>
            <a:endParaRPr/>
          </a:p>
          <a:p>
            <a:pPr indent="-325755" lvl="0" marL="457200" rtl="0" algn="l">
              <a:spcBef>
                <a:spcPts val="0"/>
              </a:spcBef>
              <a:spcAft>
                <a:spcPts val="0"/>
              </a:spcAft>
              <a:buSzPct val="100000"/>
              <a:buChar char="-"/>
            </a:pPr>
            <a:r>
              <a:rPr lang="en"/>
              <a:t>dotnet dev-certs https --trust </a:t>
            </a:r>
            <a:endParaRPr/>
          </a:p>
          <a:p>
            <a:pPr indent="-325755" lvl="0" marL="457200" rtl="0" algn="l">
              <a:spcBef>
                <a:spcPts val="0"/>
              </a:spcBef>
              <a:spcAft>
                <a:spcPts val="0"/>
              </a:spcAft>
              <a:buSzPct val="100000"/>
              <a:buChar char="-"/>
            </a:pPr>
            <a:r>
              <a:rPr b="1" lang="en"/>
              <a:t>dotnet run --launch-profile https </a:t>
            </a:r>
            <a:endParaRPr b="1"/>
          </a:p>
          <a:p>
            <a:pPr indent="0" lvl="0" marL="0" rtl="0" algn="l">
              <a:spcBef>
                <a:spcPts val="1200"/>
              </a:spcBef>
              <a:spcAft>
                <a:spcPts val="0"/>
              </a:spcAft>
              <a:buNone/>
            </a:pPr>
            <a:r>
              <a:rPr lang="en"/>
              <a:t>app.UseAuthorization();</a:t>
            </a:r>
            <a:endParaRPr/>
          </a:p>
          <a:p>
            <a:pPr indent="0" lvl="0" marL="0" rtl="0" algn="l">
              <a:spcBef>
                <a:spcPts val="1200"/>
              </a:spcBef>
              <a:spcAft>
                <a:spcPts val="0"/>
              </a:spcAft>
              <a:buNone/>
            </a:pPr>
            <a:r>
              <a:rPr lang="en"/>
              <a:t>app.MapStaticAssets();</a:t>
            </a:r>
            <a:endParaRPr/>
          </a:p>
          <a:p>
            <a:pPr indent="0" lvl="0" marL="0" rtl="0" algn="l">
              <a:spcBef>
                <a:spcPts val="1200"/>
              </a:spcBef>
              <a:spcAft>
                <a:spcPts val="0"/>
              </a:spcAft>
              <a:buNone/>
            </a:pPr>
            <a:r>
              <a:rPr lang="en"/>
              <a:t>app.MapControllerRoute(</a:t>
            </a:r>
            <a:endParaRPr/>
          </a:p>
          <a:p>
            <a:pPr indent="0" lvl="0" marL="0" rtl="0" algn="l">
              <a:spcBef>
                <a:spcPts val="1200"/>
              </a:spcBef>
              <a:spcAft>
                <a:spcPts val="0"/>
              </a:spcAft>
              <a:buNone/>
            </a:pPr>
            <a:r>
              <a:rPr lang="en"/>
              <a:t>    name: "default", pattern: "{controller=Home}/{action=index}/{id?}");</a:t>
            </a:r>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Breakdown of MVC</a:t>
            </a:r>
            <a:endParaRPr/>
          </a:p>
        </p:txBody>
      </p:sp>
      <p:sp>
        <p:nvSpPr>
          <p:cNvPr id="275" name="Google Shape;275;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//configure logging, DI, kestrel web server, hosting environment</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builder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WebApplication</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CreateBuilder</a:t>
            </a:r>
            <a:r>
              <a:rPr lang="en" sz="756">
                <a:solidFill>
                  <a:srgbClr val="E6EDF3"/>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args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 Add services to the container.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mvc services in DI container (model, view, controller, validation )</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AddControllersWithViews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//for validating [Required] [Range]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builder</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Services</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AddValidation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//build the configured application, built the middleware pipeline.</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FF7B72"/>
                </a:solidFill>
                <a:highlight>
                  <a:schemeClr val="dk2"/>
                </a:highlight>
                <a:latin typeface="Courier New"/>
                <a:ea typeface="Courier New"/>
                <a:cs typeface="Courier New"/>
                <a:sym typeface="Courier New"/>
              </a:rPr>
              <a:t>var</a:t>
            </a:r>
            <a:r>
              <a:rPr lang="en" sz="756">
                <a:solidFill>
                  <a:srgbClr val="E6EDF3"/>
                </a:solidFill>
                <a:highlight>
                  <a:schemeClr val="dk2"/>
                </a:highlight>
                <a:latin typeface="Courier New"/>
                <a:ea typeface="Courier New"/>
                <a:cs typeface="Courier New"/>
                <a:sym typeface="Courier New"/>
              </a:rPr>
              <a:t> app </a:t>
            </a:r>
            <a:r>
              <a:rPr lang="en" sz="756">
                <a:solidFill>
                  <a:srgbClr val="FF7B72"/>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 builder</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Build</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//Adds the routing middleware to match incoming URLs to endpoints.</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UseRouting</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//tells ASP.NET Core to serve files from the wwwroot folder.</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UseStaticFiles</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UseHttpsRedirection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8B949E"/>
                </a:solidFill>
                <a:highlight>
                  <a:schemeClr val="dk2"/>
                </a:highlight>
                <a:latin typeface="Courier New"/>
                <a:ea typeface="Courier New"/>
                <a:cs typeface="Courier New"/>
                <a:sym typeface="Courier New"/>
              </a:rPr>
              <a:t>//map default routing for base url</a:t>
            </a:r>
            <a:endParaRPr sz="756">
              <a:solidFill>
                <a:srgbClr val="8B949E"/>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MapControllerRoute</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name</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"default"</a:t>
            </a:r>
            <a:r>
              <a:rPr lang="en" sz="756">
                <a:solidFill>
                  <a:srgbClr val="E6EDF3"/>
                </a:solidFill>
                <a:highlight>
                  <a:schemeClr val="dk2"/>
                </a:highlight>
                <a:latin typeface="Courier New"/>
                <a:ea typeface="Courier New"/>
                <a:cs typeface="Courier New"/>
                <a:sym typeface="Courier New"/>
              </a:rPr>
              <a:t>, </a:t>
            </a:r>
            <a:r>
              <a:rPr lang="en" sz="756">
                <a:solidFill>
                  <a:srgbClr val="FFA657"/>
                </a:solidFill>
                <a:highlight>
                  <a:schemeClr val="dk2"/>
                </a:highlight>
                <a:latin typeface="Courier New"/>
                <a:ea typeface="Courier New"/>
                <a:cs typeface="Courier New"/>
                <a:sym typeface="Courier New"/>
              </a:rPr>
              <a:t>pattern</a:t>
            </a:r>
            <a:r>
              <a:rPr lang="en" sz="756">
                <a:solidFill>
                  <a:srgbClr val="E6EDF3"/>
                </a:solidFill>
                <a:highlight>
                  <a:schemeClr val="dk2"/>
                </a:highlight>
                <a:latin typeface="Courier New"/>
                <a:ea typeface="Courier New"/>
                <a:cs typeface="Courier New"/>
                <a:sym typeface="Courier New"/>
              </a:rPr>
              <a:t>: </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controller</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Home</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action</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index</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id</a:t>
            </a:r>
            <a:r>
              <a:rPr lang="en" sz="756">
                <a:solidFill>
                  <a:srgbClr val="FF7B72"/>
                </a:solidFill>
                <a:highlight>
                  <a:schemeClr val="dk2"/>
                </a:highlight>
                <a:latin typeface="Courier New"/>
                <a:ea typeface="Courier New"/>
                <a:cs typeface="Courier New"/>
                <a:sym typeface="Courier New"/>
              </a:rPr>
              <a:t>?}</a:t>
            </a:r>
            <a:r>
              <a:rPr lang="en" sz="756">
                <a:solidFill>
                  <a:srgbClr val="A5D6FF"/>
                </a:solidFill>
                <a:highlight>
                  <a:schemeClr val="dk2"/>
                </a:highlight>
                <a:latin typeface="Courier New"/>
                <a:ea typeface="Courier New"/>
                <a:cs typeface="Courier New"/>
                <a:sym typeface="Courier New"/>
              </a:rPr>
              <a:t>"</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t/>
            </a:r>
            <a:endParaRPr sz="756">
              <a:solidFill>
                <a:srgbClr val="E6EDF3"/>
              </a:solidFill>
              <a:highlight>
                <a:schemeClr val="dk2"/>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en" sz="756">
                <a:solidFill>
                  <a:srgbClr val="E6EDF3"/>
                </a:solidFill>
                <a:highlight>
                  <a:schemeClr val="dk2"/>
                </a:highlight>
                <a:latin typeface="Courier New"/>
                <a:ea typeface="Courier New"/>
                <a:cs typeface="Courier New"/>
                <a:sym typeface="Courier New"/>
              </a:rPr>
              <a:t>app</a:t>
            </a:r>
            <a:r>
              <a:rPr lang="en" sz="756">
                <a:solidFill>
                  <a:srgbClr val="FF7B72"/>
                </a:solidFill>
                <a:highlight>
                  <a:schemeClr val="dk2"/>
                </a:highlight>
                <a:latin typeface="Courier New"/>
                <a:ea typeface="Courier New"/>
                <a:cs typeface="Courier New"/>
                <a:sym typeface="Courier New"/>
              </a:rPr>
              <a:t>.</a:t>
            </a:r>
            <a:r>
              <a:rPr lang="en" sz="756">
                <a:solidFill>
                  <a:srgbClr val="D2A8FF"/>
                </a:solidFill>
                <a:highlight>
                  <a:schemeClr val="dk2"/>
                </a:highlight>
                <a:latin typeface="Courier New"/>
                <a:ea typeface="Courier New"/>
                <a:cs typeface="Courier New"/>
                <a:sym typeface="Courier New"/>
              </a:rPr>
              <a:t>Run</a:t>
            </a:r>
            <a:r>
              <a:rPr lang="en" sz="756">
                <a:solidFill>
                  <a:srgbClr val="E6EDF3"/>
                </a:solidFill>
                <a:highlight>
                  <a:schemeClr val="dk2"/>
                </a:highlight>
                <a:latin typeface="Courier New"/>
                <a:ea typeface="Courier New"/>
                <a:cs typeface="Courier New"/>
                <a:sym typeface="Courier New"/>
              </a:rPr>
              <a:t>();</a:t>
            </a:r>
            <a:endParaRPr sz="756">
              <a:solidFill>
                <a:srgbClr val="E6EDF3"/>
              </a:solidFill>
              <a:highlight>
                <a:schemeClr val="dk2"/>
              </a:highlight>
              <a:latin typeface="Courier New"/>
              <a:ea typeface="Courier New"/>
              <a:cs typeface="Courier New"/>
              <a:sym typeface="Courier New"/>
            </a:endParaRPr>
          </a:p>
          <a:p>
            <a:pPr indent="0" lvl="0" marL="0" rtl="0" algn="l">
              <a:lnSpc>
                <a:spcPct val="95000"/>
              </a:lnSpc>
              <a:spcBef>
                <a:spcPts val="0"/>
              </a:spcBef>
              <a:spcAft>
                <a:spcPts val="1200"/>
              </a:spcAft>
              <a:buSzPts val="688"/>
              <a:buNone/>
            </a:pPr>
            <a:r>
              <a:t/>
            </a:r>
            <a:endParaRPr sz="1225">
              <a:highlight>
                <a:schemeClr val="dk2"/>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Controller</a:t>
            </a:r>
            <a:endParaRPr/>
          </a:p>
        </p:txBody>
      </p:sp>
      <p:sp>
        <p:nvSpPr>
          <p:cNvPr id="281" name="Google Shape;28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IActionResult - IActionResult is an interface in ASP.NET Core MVC that represents the result of an action method. It gives you the flexibility to return different types of responses from the same action.</a:t>
            </a:r>
            <a:endParaRPr sz="15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82" name="Google Shape;282;p50"/>
          <p:cNvPicPr preferRelativeResize="0"/>
          <p:nvPr/>
        </p:nvPicPr>
        <p:blipFill>
          <a:blip r:embed="rId3">
            <a:alphaModFix/>
          </a:blip>
          <a:stretch>
            <a:fillRect/>
          </a:stretch>
        </p:blipFill>
        <p:spPr>
          <a:xfrm>
            <a:off x="700200" y="1931246"/>
            <a:ext cx="2114550" cy="2579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MVC</a:t>
            </a:r>
            <a:endParaRPr/>
          </a:p>
        </p:txBody>
      </p:sp>
      <p:sp>
        <p:nvSpPr>
          <p:cNvPr id="288" name="Google Shape;28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only with controller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 controller-view (Home controller - View\home\index.cshtml)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MVC→ Controller-model-view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Razor view</a:t>
            </a:r>
            <a:endParaRPr/>
          </a:p>
          <a:p>
            <a:pPr indent="0" lvl="0" marL="0" rtl="0" algn="l">
              <a:spcBef>
                <a:spcPts val="0"/>
              </a:spcBef>
              <a:spcAft>
                <a:spcPts val="0"/>
              </a:spcAft>
              <a:buNone/>
            </a:pPr>
            <a:r>
              <a:t/>
            </a:r>
            <a:endParaRPr/>
          </a:p>
        </p:txBody>
      </p:sp>
      <p:pic>
        <p:nvPicPr>
          <p:cNvPr id="294" name="Google Shape;294;p52"/>
          <p:cNvPicPr preferRelativeResize="0"/>
          <p:nvPr/>
        </p:nvPicPr>
        <p:blipFill>
          <a:blip r:embed="rId3">
            <a:alphaModFix/>
          </a:blip>
          <a:stretch>
            <a:fillRect/>
          </a:stretch>
        </p:blipFill>
        <p:spPr>
          <a:xfrm>
            <a:off x="376275" y="1266363"/>
            <a:ext cx="7010400" cy="23526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_Layout and _Viewstart</a:t>
            </a:r>
            <a:endParaRPr/>
          </a:p>
        </p:txBody>
      </p:sp>
      <p:sp>
        <p:nvSpPr>
          <p:cNvPr id="300" name="Google Shape;30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1200"/>
              </a:spcBef>
              <a:spcAft>
                <a:spcPts val="0"/>
              </a:spcAft>
              <a:buSzPts val="1800"/>
              <a:buChar char="●"/>
            </a:pPr>
            <a:r>
              <a:rPr lang="en" sz="1100">
                <a:solidFill>
                  <a:srgbClr val="000000"/>
                </a:solidFill>
                <a:latin typeface="Arial"/>
                <a:ea typeface="Arial"/>
                <a:cs typeface="Arial"/>
                <a:sym typeface="Arial"/>
              </a:rPr>
              <a:t>Views\Shared\_Layout.cshtml (@RenderBody) </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sz="1100">
                <a:solidFill>
                  <a:srgbClr val="000000"/>
                </a:solidFill>
                <a:latin typeface="Arial"/>
                <a:ea typeface="Arial"/>
                <a:cs typeface="Arial"/>
                <a:sym typeface="Arial"/>
              </a:rPr>
              <a:t>Views\_viewstart.cshtml (avoid import of _Layout in all .cshtml)</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_Layout.cshtml</a:t>
            </a:r>
            <a:endParaRPr sz="1100">
              <a:solidFill>
                <a:srgbClr val="000000"/>
              </a:solidFill>
              <a:latin typeface="Arial"/>
              <a:ea typeface="Arial"/>
              <a:cs typeface="Arial"/>
              <a:sym typeface="Arial"/>
            </a:endParaRPr>
          </a:p>
          <a:p>
            <a:pPr indent="0" lvl="0" marL="457200" rtl="0" algn="l">
              <a:lnSpc>
                <a:spcPct val="135714"/>
              </a:lnSpc>
              <a:spcBef>
                <a:spcPts val="120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rgbClr val="E6EDF3"/>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_ViewStart.cshtml</a:t>
            </a:r>
            <a:endParaRPr sz="1100">
              <a:solidFill>
                <a:srgbClr val="000000"/>
              </a:solidFill>
              <a:latin typeface="Arial"/>
              <a:ea typeface="Arial"/>
              <a:cs typeface="Arial"/>
              <a:sym typeface="Arial"/>
            </a:endParaRPr>
          </a:p>
          <a:p>
            <a:pPr indent="0" lvl="0" marL="457200" rtl="0" algn="l">
              <a:lnSpc>
                <a:spcPct val="135714"/>
              </a:lnSpc>
              <a:spcBef>
                <a:spcPts val="0"/>
              </a:spcBef>
              <a:spcAft>
                <a:spcPts val="0"/>
              </a:spcAft>
              <a:buNone/>
            </a:pPr>
            <a:r>
              <a:rPr lang="en" sz="1100">
                <a:solidFill>
                  <a:srgbClr val="000000"/>
                </a:solidFill>
                <a:latin typeface="Arial"/>
                <a:ea typeface="Arial"/>
                <a:cs typeface="Arial"/>
                <a:sym typeface="Arial"/>
              </a:rPr>
              <a:t>	</a:t>
            </a: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Layout = "_Layout";</a:t>
            </a:r>
            <a:endParaRPr sz="1050">
              <a:solidFill>
                <a:schemeClr val="dk1"/>
              </a:solidFill>
              <a:latin typeface="Courier New"/>
              <a:ea typeface="Courier New"/>
              <a:cs typeface="Courier New"/>
              <a:sym typeface="Courier New"/>
            </a:endParaRPr>
          </a:p>
          <a:p>
            <a:pPr indent="45720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1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Section</a:t>
            </a:r>
            <a:endParaRPr/>
          </a:p>
        </p:txBody>
      </p:sp>
      <p:sp>
        <p:nvSpPr>
          <p:cNvPr id="306" name="Google Shape;30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1: _Layout.cshtml</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&lt;div class="pd-3"&gt;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@RenderSection("title",false)</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 class="container"&gt;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@RenderBody()</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&lt;/div&gt;</a:t>
            </a:r>
            <a:endParaRPr sz="1050">
              <a:solidFill>
                <a:schemeClr val="dk1"/>
              </a:solidFill>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Step 2: Index.cshtml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@section title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@if (Model != null)</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&lt;h3&gt;Book Section&lt;/h3&gt;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_ViewImports</a:t>
            </a:r>
            <a:endParaRPr/>
          </a:p>
        </p:txBody>
      </p:sp>
      <p:sp>
        <p:nvSpPr>
          <p:cNvPr id="312" name="Google Shape;312;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Helps to avoid import in all views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 Framework </a:t>
            </a:r>
            <a:endParaRPr/>
          </a:p>
        </p:txBody>
      </p:sp>
      <p:sp>
        <p:nvSpPr>
          <p:cNvPr id="318" name="Google Shape;318;p56"/>
          <p:cNvSpPr txBox="1"/>
          <p:nvPr>
            <p:ph idx="1" type="body"/>
          </p:nvPr>
        </p:nvSpPr>
        <p:spPr>
          <a:xfrm>
            <a:off x="311700" y="1152475"/>
            <a:ext cx="8520600" cy="3688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Without migration</a:t>
            </a:r>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EF Core is simply mapping the model.</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No migrations</a:t>
            </a:r>
            <a:endParaRPr sz="1100">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SzPts val="1400"/>
              <a:buChar char="○"/>
            </a:pPr>
            <a:r>
              <a:rPr lang="en" sz="1100">
                <a:solidFill>
                  <a:srgbClr val="000000"/>
                </a:solidFill>
                <a:latin typeface="Arial"/>
                <a:ea typeface="Arial"/>
                <a:cs typeface="Arial"/>
                <a:sym typeface="Arial"/>
              </a:rPr>
              <a:t>GET, POST, PUT, DELETE</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With migration </a:t>
            </a:r>
            <a:endParaRPr/>
          </a:p>
          <a:p>
            <a:pPr indent="-317500" lvl="1" marL="914400" rtl="0" algn="l">
              <a:spcBef>
                <a:spcPts val="0"/>
              </a:spcBef>
              <a:spcAft>
                <a:spcPts val="0"/>
              </a:spcAft>
              <a:buSzPts val="1400"/>
              <a:buChar char="○"/>
            </a:pPr>
            <a:r>
              <a:rPr lang="en"/>
              <a:t>Change db name in connection string </a:t>
            </a:r>
            <a:endParaRPr/>
          </a:p>
          <a:p>
            <a:pPr indent="-317500" lvl="1" marL="914400" rtl="0" algn="l">
              <a:spcBef>
                <a:spcPts val="0"/>
              </a:spcBef>
              <a:spcAft>
                <a:spcPts val="0"/>
              </a:spcAft>
              <a:buSzPts val="1400"/>
              <a:buChar char="○"/>
            </a:pPr>
            <a:r>
              <a:rPr lang="en"/>
              <a:t>Command </a:t>
            </a:r>
            <a:endParaRPr/>
          </a:p>
          <a:p>
            <a:pPr indent="-317500" lvl="2" marL="1371600" rtl="0" algn="l">
              <a:spcBef>
                <a:spcPts val="0"/>
              </a:spcBef>
              <a:spcAft>
                <a:spcPts val="0"/>
              </a:spcAft>
              <a:buSzPts val="1400"/>
              <a:buChar char="■"/>
            </a:pPr>
            <a:r>
              <a:rPr lang="en"/>
              <a:t>dotnet tool install --global dotnet-ef </a:t>
            </a:r>
            <a:endParaRPr/>
          </a:p>
          <a:p>
            <a:pPr indent="-317500" lvl="2" marL="1371600" rtl="0" algn="l">
              <a:spcBef>
                <a:spcPts val="0"/>
              </a:spcBef>
              <a:spcAft>
                <a:spcPts val="0"/>
              </a:spcAft>
              <a:buSzPts val="1400"/>
              <a:buChar char="■"/>
            </a:pPr>
            <a:r>
              <a:rPr lang="en"/>
              <a:t>dotnet ef migrations add InitialCreate</a:t>
            </a:r>
            <a:endParaRPr/>
          </a:p>
          <a:p>
            <a:pPr indent="-317500" lvl="2" marL="1371600" rtl="0" algn="l">
              <a:spcBef>
                <a:spcPts val="0"/>
              </a:spcBef>
              <a:spcAft>
                <a:spcPts val="0"/>
              </a:spcAft>
              <a:buSzPts val="1400"/>
              <a:buChar char="■"/>
            </a:pPr>
            <a:r>
              <a:rPr lang="en"/>
              <a:t>dotnet ef database update </a:t>
            </a:r>
            <a:endParaRPr/>
          </a:p>
          <a:p>
            <a:pPr indent="-317500" lvl="1" marL="914400" rtl="0" algn="l">
              <a:spcBef>
                <a:spcPts val="0"/>
              </a:spcBef>
              <a:spcAft>
                <a:spcPts val="0"/>
              </a:spcAft>
              <a:buSzPts val="1400"/>
              <a:buChar char="○"/>
            </a:pPr>
            <a:r>
              <a:rPr lang="en"/>
              <a:t>To remove migration </a:t>
            </a:r>
            <a:endParaRPr/>
          </a:p>
          <a:p>
            <a:pPr indent="-317500" lvl="2" marL="1371600" rtl="0" algn="l">
              <a:spcBef>
                <a:spcPts val="0"/>
              </a:spcBef>
              <a:spcAft>
                <a:spcPts val="0"/>
              </a:spcAft>
              <a:buSzPts val="1400"/>
              <a:buChar char="■"/>
            </a:pPr>
            <a:r>
              <a:rPr lang="en"/>
              <a:t> dotnet ef migrations remove         </a:t>
            </a:r>
            <a:endParaRPr/>
          </a:p>
          <a:p>
            <a:pPr indent="-317500" lvl="1" marL="914400" rtl="0" algn="l">
              <a:spcBef>
                <a:spcPts val="0"/>
              </a:spcBef>
              <a:spcAft>
                <a:spcPts val="0"/>
              </a:spcAft>
              <a:buSzPts val="1400"/>
              <a:buChar char="○"/>
            </a:pPr>
            <a:r>
              <a:rPr lang="en"/>
              <a:t>To drop db </a:t>
            </a:r>
            <a:endParaRPr/>
          </a:p>
          <a:p>
            <a:pPr indent="-317500" lvl="2" marL="1371600" rtl="0" algn="l">
              <a:spcBef>
                <a:spcPts val="0"/>
              </a:spcBef>
              <a:spcAft>
                <a:spcPts val="0"/>
              </a:spcAft>
              <a:buSzPts val="1400"/>
              <a:buChar char="■"/>
            </a:pPr>
            <a:r>
              <a:rPr lang="en"/>
              <a:t>dotnet ef database drop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a:p>
            <a:pPr indent="0" lvl="0" marL="0" rtl="0" algn="l">
              <a:spcBef>
                <a:spcPts val="0"/>
              </a:spcBef>
              <a:spcAft>
                <a:spcPts val="0"/>
              </a:spcAft>
              <a:buNone/>
            </a:pPr>
            <a:r>
              <a:t/>
            </a:r>
            <a:endParaRPr/>
          </a:p>
        </p:txBody>
      </p:sp>
      <p:sp>
        <p:nvSpPr>
          <p:cNvPr id="324" name="Google Shape;324;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Database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Table already exists.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EF Core is simply mapping the model.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migration</a:t>
            </a:r>
            <a:endParaRPr/>
          </a:p>
        </p:txBody>
      </p:sp>
      <p:sp>
        <p:nvSpPr>
          <p:cNvPr id="330" name="Google Shape;33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_9MinimalAPIEntityProject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Data</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Microsoft</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EntityFrameworkCore</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using</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WebApplication2</a:t>
            </a:r>
            <a:r>
              <a:rPr lang="en" sz="520">
                <a:solidFill>
                  <a:srgbClr val="FF7B72"/>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Model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builder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WebApplication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CreateBuilder</a:t>
            </a: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args</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Services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AddDbContext</a:t>
            </a:r>
            <a:r>
              <a:rPr lang="en" sz="520">
                <a:solidFill>
                  <a:srgbClr val="E6EDF3"/>
                </a:solidFill>
                <a:highlight>
                  <a:srgbClr val="0D1117"/>
                </a:highlight>
                <a:latin typeface="Courier New"/>
                <a:ea typeface="Courier New"/>
                <a:cs typeface="Courier New"/>
                <a:sym typeface="Courier New"/>
              </a:rPr>
              <a:t>&lt;</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&gt;(</a:t>
            </a:r>
            <a:r>
              <a:rPr lang="en" sz="520">
                <a:solidFill>
                  <a:srgbClr val="FFA657"/>
                </a:solidFill>
                <a:highlight>
                  <a:srgbClr val="0D1117"/>
                </a:highlight>
                <a:latin typeface="Courier New"/>
                <a:ea typeface="Courier New"/>
                <a:cs typeface="Courier New"/>
                <a:sym typeface="Courier New"/>
              </a:rPr>
              <a:t>options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options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UseSqlServer</a:t>
            </a:r>
            <a:r>
              <a:rPr lang="en" sz="520">
                <a:solidFill>
                  <a:srgbClr val="E6EDF3"/>
                </a:solidFill>
                <a:highlight>
                  <a:srgbClr val="0D1117"/>
                </a:highlight>
                <a:latin typeface="Courier New"/>
                <a:ea typeface="Courier New"/>
                <a:cs typeface="Courier New"/>
                <a:sym typeface="Courier New"/>
              </a:rPr>
              <a:t>(builder</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Configuration</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GetConnectionString</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"DefaultConnection"</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app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builder</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Build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books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ToListAsync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books;</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MapGet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id</a:t>
            </a:r>
            <a:r>
              <a:rPr lang="en" sz="520">
                <a:solidFill>
                  <a:srgbClr val="FF7B72"/>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int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var</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FirstOrDefaultAsync</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x</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x</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(book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NotFound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Ok</a:t>
            </a:r>
            <a:r>
              <a:rPr lang="en" sz="520">
                <a:solidFill>
                  <a:srgbClr val="E6EDF3"/>
                </a:solidFill>
                <a:highlight>
                  <a:srgbClr val="0D1117"/>
                </a:highlight>
                <a:latin typeface="Courier New"/>
                <a:ea typeface="Courier New"/>
                <a:cs typeface="Courier New"/>
                <a:sym typeface="Courier New"/>
              </a:rPr>
              <a:t>(book);</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WithName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app</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MapPost</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"/books"</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async</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AppDbContext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=&gt;</a:t>
            </a:r>
            <a:endParaRPr sz="520">
              <a:solidFill>
                <a:srgbClr val="FF7B72"/>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if</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null</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BadRequest</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Books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Add</a:t>
            </a:r>
            <a:r>
              <a:rPr lang="en" sz="520">
                <a:solidFill>
                  <a:srgbClr val="E6EDF3"/>
                </a:solidFill>
                <a:highlight>
                  <a:srgbClr val="0D1117"/>
                </a:highlight>
                <a:latin typeface="Courier New"/>
                <a:ea typeface="Courier New"/>
                <a:cs typeface="Courier New"/>
                <a:sym typeface="Courier New"/>
              </a:rPr>
              <a:t>(</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 before save</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await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dbContext</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SaveChangesAsync</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8B949E"/>
                </a:solidFill>
                <a:highlight>
                  <a:srgbClr val="0D1117"/>
                </a:highlight>
                <a:latin typeface="Courier New"/>
                <a:ea typeface="Courier New"/>
                <a:cs typeface="Courier New"/>
                <a:sym typeface="Courier New"/>
              </a:rPr>
              <a:t>    // book.Id == 0 after SaveChanges.</a:t>
            </a:r>
            <a:endParaRPr sz="520">
              <a:solidFill>
                <a:srgbClr val="8B949E"/>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return</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Results</a:t>
            </a:r>
            <a:r>
              <a:rPr lang="en" sz="520">
                <a:solidFill>
                  <a:srgbClr val="FF7B72"/>
                </a:solidFill>
                <a:highlight>
                  <a:srgbClr val="0D1117"/>
                </a:highlight>
                <a:latin typeface="Courier New"/>
                <a:ea typeface="Courier New"/>
                <a:cs typeface="Courier New"/>
                <a:sym typeface="Courier New"/>
              </a:rPr>
              <a:t>.</a:t>
            </a:r>
            <a:r>
              <a:rPr lang="en" sz="520">
                <a:solidFill>
                  <a:srgbClr val="D2A8FF"/>
                </a:solidFill>
                <a:highlight>
                  <a:srgbClr val="0D1117"/>
                </a:highlight>
                <a:latin typeface="Courier New"/>
                <a:ea typeface="Courier New"/>
                <a:cs typeface="Courier New"/>
                <a:sym typeface="Courier New"/>
              </a:rPr>
              <a:t>CreatedAtRoute</a:t>
            </a:r>
            <a:r>
              <a:rPr lang="en" sz="520">
                <a:solidFill>
                  <a:srgbClr val="E6EDF3"/>
                </a:solidFill>
                <a:highlight>
                  <a:srgbClr val="0D1117"/>
                </a:highlight>
                <a:latin typeface="Courier New"/>
                <a:ea typeface="Courier New"/>
                <a:cs typeface="Courier New"/>
                <a:sym typeface="Courier New"/>
              </a:rPr>
              <a:t>(</a:t>
            </a:r>
            <a:r>
              <a:rPr lang="en" sz="520">
                <a:solidFill>
                  <a:srgbClr val="A5D6FF"/>
                </a:solidFill>
                <a:highlight>
                  <a:srgbClr val="0D1117"/>
                </a:highlight>
                <a:latin typeface="Courier New"/>
                <a:ea typeface="Courier New"/>
                <a:cs typeface="Courier New"/>
                <a:sym typeface="Courier New"/>
              </a:rPr>
              <a:t>"GetBookById"</a:t>
            </a:r>
            <a:r>
              <a:rPr lang="en" sz="520">
                <a:solidFill>
                  <a:srgbClr val="E6EDF3"/>
                </a:solidFill>
                <a:highlight>
                  <a:srgbClr val="0D1117"/>
                </a:highlight>
                <a:latin typeface="Courier New"/>
                <a:ea typeface="Courier New"/>
                <a:cs typeface="Courier New"/>
                <a:sym typeface="Courier New"/>
              </a:rPr>
              <a:t>, </a:t>
            </a:r>
            <a:r>
              <a:rPr lang="en" sz="520">
                <a:solidFill>
                  <a:srgbClr val="FF7B72"/>
                </a:solidFill>
                <a:highlight>
                  <a:srgbClr val="0D1117"/>
                </a:highlight>
                <a:latin typeface="Courier New"/>
                <a:ea typeface="Courier New"/>
                <a:cs typeface="Courier New"/>
                <a:sym typeface="Courier New"/>
              </a:rPr>
              <a:t>new</a:t>
            </a:r>
            <a:r>
              <a:rPr lang="en" sz="520">
                <a:solidFill>
                  <a:srgbClr val="E6EDF3"/>
                </a:solidFill>
                <a:highlight>
                  <a:srgbClr val="0D1117"/>
                </a:highlight>
                <a:latin typeface="Courier New"/>
                <a:ea typeface="Courier New"/>
                <a:cs typeface="Courier New"/>
                <a:sym typeface="Courier New"/>
              </a:rPr>
              <a:t> { id </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 </a:t>
            </a:r>
            <a:r>
              <a:rPr lang="en" sz="520">
                <a:solidFill>
                  <a:srgbClr val="FFA657"/>
                </a:solidFill>
                <a:highlight>
                  <a:srgbClr val="0D1117"/>
                </a:highlight>
                <a:latin typeface="Courier New"/>
                <a:ea typeface="Courier New"/>
                <a:cs typeface="Courier New"/>
                <a:sym typeface="Courier New"/>
              </a:rPr>
              <a:t>book</a:t>
            </a:r>
            <a:r>
              <a:rPr lang="en" sz="520">
                <a:solidFill>
                  <a:srgbClr val="FF7B72"/>
                </a:solidFill>
                <a:highlight>
                  <a:srgbClr val="0D1117"/>
                </a:highlight>
                <a:latin typeface="Courier New"/>
                <a:ea typeface="Courier New"/>
                <a:cs typeface="Courier New"/>
                <a:sym typeface="Courier New"/>
              </a:rPr>
              <a:t>.</a:t>
            </a:r>
            <a:r>
              <a:rPr lang="en" sz="520">
                <a:solidFill>
                  <a:srgbClr val="E6EDF3"/>
                </a:solidFill>
                <a:highlight>
                  <a:srgbClr val="0D1117"/>
                </a:highlight>
                <a:latin typeface="Courier New"/>
                <a:ea typeface="Courier New"/>
                <a:cs typeface="Courier New"/>
                <a:sym typeface="Courier New"/>
              </a:rPr>
              <a:t>Id }, </a:t>
            </a:r>
            <a:r>
              <a:rPr lang="en" sz="520">
                <a:solidFill>
                  <a:srgbClr val="FFA657"/>
                </a:solidFill>
                <a:highlight>
                  <a:srgbClr val="0D1117"/>
                </a:highlight>
                <a:latin typeface="Courier New"/>
                <a:ea typeface="Courier New"/>
                <a:cs typeface="Courier New"/>
                <a:sym typeface="Courier New"/>
              </a:rPr>
              <a:t>book</a:t>
            </a: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rPr lang="en" sz="520">
                <a:solidFill>
                  <a:srgbClr val="E6EDF3"/>
                </a:solidFill>
                <a:highlight>
                  <a:srgbClr val="0D1117"/>
                </a:highlight>
                <a:latin typeface="Courier New"/>
                <a:ea typeface="Courier New"/>
                <a:cs typeface="Courier New"/>
                <a:sym typeface="Courier New"/>
              </a:rPr>
              <a:t>});</a:t>
            </a:r>
            <a:endParaRPr sz="520">
              <a:solidFill>
                <a:srgbClr val="E6EDF3"/>
              </a:solidFill>
              <a:highlight>
                <a:srgbClr val="0D1117"/>
              </a:highlight>
              <a:latin typeface="Courier New"/>
              <a:ea typeface="Courier New"/>
              <a:cs typeface="Courier New"/>
              <a:sym typeface="Courier New"/>
            </a:endParaRPr>
          </a:p>
          <a:p>
            <a:pPr indent="0" lvl="0" marL="0" rtl="0" algn="l">
              <a:lnSpc>
                <a:spcPct val="115714"/>
              </a:lnSpc>
              <a:spcBef>
                <a:spcPts val="0"/>
              </a:spcBef>
              <a:spcAft>
                <a:spcPts val="0"/>
              </a:spcAft>
              <a:buSzPts val="440"/>
              <a:buNone/>
            </a:pPr>
            <a:r>
              <a:t/>
            </a:r>
            <a:endParaRPr sz="520">
              <a:solidFill>
                <a:srgbClr val="E6EDF3"/>
              </a:solidFill>
              <a:highlight>
                <a:srgbClr val="0D1117"/>
              </a:highlight>
              <a:latin typeface="Courier New"/>
              <a:ea typeface="Courier New"/>
              <a:cs typeface="Courier New"/>
              <a:sym typeface="Courier New"/>
            </a:endParaRPr>
          </a:p>
          <a:p>
            <a:pPr indent="0" lvl="0" marL="0" rtl="0" algn="l">
              <a:lnSpc>
                <a:spcPct val="95000"/>
              </a:lnSpc>
              <a:spcBef>
                <a:spcPts val="0"/>
              </a:spcBef>
              <a:spcAft>
                <a:spcPts val="1200"/>
              </a:spcAft>
              <a:buSzPts val="440"/>
              <a:buNone/>
            </a:pPr>
            <a:r>
              <a:t/>
            </a:r>
            <a:endParaRPr sz="82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 migration</a:t>
            </a:r>
            <a:endParaRPr/>
          </a:p>
        </p:txBody>
      </p:sp>
      <p:sp>
        <p:nvSpPr>
          <p:cNvPr id="336" name="Google Shape;336;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EF Core will:</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install dotnet tool install --global dotnet-ef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create model, Appdbcontext, program.cs, connectionstring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InitialCreate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check sql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add new property to model again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migrations add updatecolumnmigration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dotnet ef database update</a:t>
            </a:r>
            <a:endParaRPr sz="1100">
              <a:solidFill>
                <a:srgbClr val="000000"/>
              </a:solidFill>
              <a:latin typeface="Arial"/>
              <a:ea typeface="Arial"/>
              <a:cs typeface="Arial"/>
              <a:sym typeface="Arial"/>
            </a:endParaRPr>
          </a:p>
        </p:txBody>
      </p:sp>
      <p:pic>
        <p:nvPicPr>
          <p:cNvPr id="337" name="Google Shape;337;p59"/>
          <p:cNvPicPr preferRelativeResize="0"/>
          <p:nvPr/>
        </p:nvPicPr>
        <p:blipFill>
          <a:blip r:embed="rId3">
            <a:alphaModFix/>
          </a:blip>
          <a:stretch>
            <a:fillRect/>
          </a:stretch>
        </p:blipFill>
        <p:spPr>
          <a:xfrm>
            <a:off x="4697800" y="324575"/>
            <a:ext cx="3565750" cy="4641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IQueryable vs IEnumerable </a:t>
            </a:r>
            <a:endParaRPr/>
          </a:p>
        </p:txBody>
      </p:sp>
      <p:sp>
        <p:nvSpPr>
          <p:cNvPr id="343" name="Google Shape;343;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IEnumerable → db.Books.Where(x =&gt; x.Price &gt; 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IQueryable</a:t>
            </a:r>
            <a:endParaRPr/>
          </a:p>
          <a:p>
            <a:pPr indent="0" lvl="0" marL="0" rtl="0" algn="l">
              <a:spcBef>
                <a:spcPts val="0"/>
              </a:spcBef>
              <a:spcAft>
                <a:spcPts val="0"/>
              </a:spcAft>
              <a:buNone/>
            </a:pPr>
            <a:r>
              <a:rPr lang="en"/>
              <a:t>db.Books.Where(x =&gt; x.Price &gt; 500) .ToQueryString()) </a:t>
            </a:r>
            <a:endParaRPr/>
          </a:p>
          <a:p>
            <a:pPr indent="0" lvl="0" marL="0" rtl="0" algn="l">
              <a:spcBef>
                <a:spcPts val="0"/>
              </a:spcBef>
              <a:spcAft>
                <a:spcPts val="0"/>
              </a:spcAft>
              <a:buNone/>
            </a:pPr>
            <a:r>
              <a:rPr lang="en"/>
              <a:t>a</a:t>
            </a:r>
            <a:r>
              <a:rPr lang="en"/>
              <a:t>wait db.Books .Where(x =&gt; x.Price &gt; 500) .FirstOrDefaultAsync() </a:t>
            </a:r>
            <a:endParaRPr/>
          </a:p>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1"/>
          <p:cNvSpPr txBox="1"/>
          <p:nvPr>
            <p:ph type="title"/>
          </p:nvPr>
        </p:nvSpPr>
        <p:spPr>
          <a:xfrm>
            <a:off x="311700" y="324350"/>
            <a:ext cx="8520600" cy="69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ToQueryString()</a:t>
            </a:r>
            <a:endParaRPr/>
          </a:p>
        </p:txBody>
      </p:sp>
      <p:pic>
        <p:nvPicPr>
          <p:cNvPr id="349" name="Google Shape;349;p61"/>
          <p:cNvPicPr preferRelativeResize="0"/>
          <p:nvPr/>
        </p:nvPicPr>
        <p:blipFill>
          <a:blip r:embed="rId3">
            <a:alphaModFix/>
          </a:blip>
          <a:stretch>
            <a:fillRect/>
          </a:stretch>
        </p:blipFill>
        <p:spPr>
          <a:xfrm>
            <a:off x="408400" y="1017450"/>
            <a:ext cx="8520599" cy="37247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5" name="Google Shape;35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6" name="Google Shape;356;p62"/>
          <p:cNvPicPr preferRelativeResize="0"/>
          <p:nvPr/>
        </p:nvPicPr>
        <p:blipFill>
          <a:blip r:embed="rId3">
            <a:alphaModFix/>
          </a:blip>
          <a:stretch>
            <a:fillRect/>
          </a:stretch>
        </p:blipFill>
        <p:spPr>
          <a:xfrm>
            <a:off x="242825" y="213525"/>
            <a:ext cx="8729525" cy="43553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Routing Details</a:t>
            </a:r>
            <a:endParaRPr/>
          </a:p>
        </p:txBody>
      </p:sp>
      <p:sp>
        <p:nvSpPr>
          <p:cNvPr id="362" name="Google Shape;362;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Http method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Required route parameter (Route Constraints)</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a:t>
            </a:r>
            <a:r>
              <a:rPr lang="en" sz="1100">
                <a:solidFill>
                  <a:srgbClr val="000000"/>
                </a:solidFill>
                <a:highlight>
                  <a:srgbClr val="00FF00"/>
                </a:highlight>
                <a:latin typeface="Arial"/>
                <a:ea typeface="Arial"/>
                <a:cs typeface="Arial"/>
                <a:sym typeface="Arial"/>
              </a:rPr>
              <a:t>{id:int}</a:t>
            </a:r>
            <a:r>
              <a:rPr lang="en" sz="1100">
                <a:solidFill>
                  <a:srgbClr val="000000"/>
                </a:solidFill>
                <a:latin typeface="Arial"/>
                <a:ea typeface="Arial"/>
                <a:cs typeface="Arial"/>
                <a:sym typeface="Arial"/>
              </a:rPr>
              <a:t>", (int id) =&gt;</a:t>
            </a:r>
            <a:endParaRPr sz="1100">
              <a:solidFill>
                <a:srgbClr val="000000"/>
              </a:solidFill>
              <a:latin typeface="Arial"/>
              <a:ea typeface="Arial"/>
              <a:cs typeface="Arial"/>
              <a:sym typeface="Arial"/>
            </a:endParaRPr>
          </a:p>
          <a:p>
            <a:pPr indent="-298450" lvl="1" marL="914400" rtl="0" algn="l">
              <a:spcBef>
                <a:spcPts val="120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Route parameter with default values  </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a:t>
            </a:r>
            <a:r>
              <a:rPr lang="en" sz="1100">
                <a:solidFill>
                  <a:srgbClr val="000000"/>
                </a:solidFill>
                <a:highlight>
                  <a:srgbClr val="00FF00"/>
                </a:highlight>
                <a:latin typeface="Arial"/>
                <a:ea typeface="Arial"/>
                <a:cs typeface="Arial"/>
                <a:sym typeface="Arial"/>
              </a:rPr>
              <a:t>{id:int=2}</a:t>
            </a:r>
            <a:r>
              <a:rPr lang="en" sz="1100">
                <a:solidFill>
                  <a:srgbClr val="000000"/>
                </a:solidFill>
                <a:latin typeface="Arial"/>
                <a:ea typeface="Arial"/>
                <a:cs typeface="Arial"/>
                <a:sym typeface="Arial"/>
              </a:rPr>
              <a:t>", (int id) =&gt;</a:t>
            </a:r>
            <a:endParaRPr sz="1100">
              <a:solidFill>
                <a:srgbClr val="000000"/>
              </a:solidFill>
              <a:latin typeface="Arial"/>
              <a:ea typeface="Arial"/>
              <a:cs typeface="Arial"/>
              <a:sym typeface="Arial"/>
            </a:endParaRPr>
          </a:p>
          <a:p>
            <a:pPr indent="-298450" lvl="1" marL="914400" rtl="0" algn="l">
              <a:spcBef>
                <a:spcPts val="120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Optional route parameter </a:t>
            </a:r>
            <a:endParaRPr sz="1100">
              <a:solidFill>
                <a:srgbClr val="000000"/>
              </a:solidFill>
              <a:latin typeface="Arial"/>
              <a:ea typeface="Arial"/>
              <a:cs typeface="Arial"/>
              <a:sym typeface="Arial"/>
            </a:endParaRPr>
          </a:p>
          <a:p>
            <a:pPr indent="0" lvl="0" marL="914400" rtl="0" algn="l">
              <a:spcBef>
                <a:spcPts val="1200"/>
              </a:spcBef>
              <a:spcAft>
                <a:spcPts val="0"/>
              </a:spcAft>
              <a:buNone/>
            </a:pPr>
            <a:r>
              <a:rPr lang="en" sz="1100">
                <a:solidFill>
                  <a:srgbClr val="000000"/>
                </a:solidFill>
                <a:latin typeface="Arial"/>
                <a:ea typeface="Arial"/>
                <a:cs typeface="Arial"/>
                <a:sym typeface="Arial"/>
              </a:rPr>
              <a:t>group.MapGet("/{id:int?}", (int? id) =&gt;</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if (id is null)</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return Results.Ok("All games");</a:t>
            </a:r>
            <a:endParaRPr sz="1100">
              <a:solidFill>
                <a:srgbClr val="000000"/>
              </a:solidFill>
              <a:latin typeface="Arial"/>
              <a:ea typeface="Arial"/>
              <a:cs typeface="Arial"/>
              <a:sym typeface="Arial"/>
            </a:endParaRPr>
          </a:p>
          <a:p>
            <a:pPr indent="0" lvl="0" marL="914400" rtl="0" algn="l">
              <a:spcBef>
                <a:spcPts val="0"/>
              </a:spcBef>
              <a:spcAft>
                <a:spcPts val="0"/>
              </a:spcAft>
              <a:buNone/>
            </a:pPr>
            <a:r>
              <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    return Results.Ok($"Game Id: {id}");</a:t>
            </a:r>
            <a:endParaRPr sz="1100">
              <a:solidFill>
                <a:srgbClr val="000000"/>
              </a:solidFill>
              <a:latin typeface="Arial"/>
              <a:ea typeface="Arial"/>
              <a:cs typeface="Arial"/>
              <a:sym typeface="Arial"/>
            </a:endParaRPr>
          </a:p>
          <a:p>
            <a:pPr indent="0" lvl="0" marL="9144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AutoNum type="alphaLcPeriod"/>
            </a:pPr>
            <a:r>
              <a:rPr lang="en" sz="1100">
                <a:solidFill>
                  <a:srgbClr val="000000"/>
                </a:solidFill>
                <a:latin typeface="Arial"/>
                <a:ea typeface="Arial"/>
                <a:cs typeface="Arial"/>
                <a:sym typeface="Arial"/>
              </a:rPr>
              <a:t>Use [AsParameters] </a:t>
            </a:r>
            <a:endParaRPr sz="11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4"/>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80"/>
              <a:t>app.MapOpenApi(); - OpenAPI JSON is the contract of an API.  </a:t>
            </a:r>
            <a:endParaRPr sz="2280"/>
          </a:p>
        </p:txBody>
      </p:sp>
      <p:sp>
        <p:nvSpPr>
          <p:cNvPr id="368" name="Google Shape;368;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Char char="●"/>
            </a:pPr>
            <a:r>
              <a:rPr lang="en"/>
              <a:t>Creates OpenAPI document </a:t>
            </a:r>
            <a:endParaRPr/>
          </a:p>
          <a:p>
            <a:pPr indent="-300038" lvl="0" marL="457200" rtl="0" algn="l">
              <a:spcBef>
                <a:spcPts val="0"/>
              </a:spcBef>
              <a:spcAft>
                <a:spcPts val="0"/>
              </a:spcAft>
              <a:buSzPct val="100000"/>
              <a:buChar char="●"/>
            </a:pPr>
            <a:r>
              <a:rPr lang="en"/>
              <a:t>https://localhost:5001/openapi/v1.json </a:t>
            </a:r>
            <a:endParaRPr/>
          </a:p>
          <a:p>
            <a:pPr indent="0" lvl="0" marL="0" rtl="0" algn="l">
              <a:spcBef>
                <a:spcPts val="1200"/>
              </a:spcBef>
              <a:spcAft>
                <a:spcPts val="0"/>
              </a:spcAft>
              <a:buNone/>
            </a:pPr>
            <a:r>
              <a:rPr lang="en"/>
              <a:t>      The OpenAPI JSON describes:</a:t>
            </a:r>
            <a:endParaRPr/>
          </a:p>
          <a:p>
            <a:pPr indent="-272256" lvl="0" marL="457200" rtl="0" algn="l">
              <a:spcBef>
                <a:spcPts val="1200"/>
              </a:spcBef>
              <a:spcAft>
                <a:spcPts val="0"/>
              </a:spcAft>
              <a:buClr>
                <a:srgbClr val="000000"/>
              </a:buClr>
              <a:buSzPct val="61111"/>
              <a:buFont typeface="Arial"/>
              <a:buChar char="●"/>
            </a:pPr>
            <a:r>
              <a:rPr lang="en"/>
              <a:t>Available endpoints</a:t>
            </a:r>
            <a:endParaRPr/>
          </a:p>
          <a:p>
            <a:pPr indent="-272256" lvl="0" marL="457200" rtl="0" algn="l">
              <a:spcBef>
                <a:spcPts val="0"/>
              </a:spcBef>
              <a:spcAft>
                <a:spcPts val="0"/>
              </a:spcAft>
              <a:buClr>
                <a:srgbClr val="000000"/>
              </a:buClr>
              <a:buSzPct val="61111"/>
              <a:buFont typeface="Arial"/>
              <a:buChar char="●"/>
            </a:pPr>
            <a:r>
              <a:rPr lang="en"/>
              <a:t>HTTP methods (GET, POST, PUT, DELETE)</a:t>
            </a:r>
            <a:endParaRPr/>
          </a:p>
          <a:p>
            <a:pPr indent="-272256" lvl="0" marL="457200" rtl="0" algn="l">
              <a:spcBef>
                <a:spcPts val="0"/>
              </a:spcBef>
              <a:spcAft>
                <a:spcPts val="0"/>
              </a:spcAft>
              <a:buClr>
                <a:srgbClr val="000000"/>
              </a:buClr>
              <a:buSzPct val="61111"/>
              <a:buFont typeface="Arial"/>
              <a:buChar char="●"/>
            </a:pPr>
            <a:r>
              <a:rPr lang="en"/>
              <a:t>Route parameters</a:t>
            </a:r>
            <a:endParaRPr/>
          </a:p>
          <a:p>
            <a:pPr indent="-272256" lvl="0" marL="457200" rtl="0" algn="l">
              <a:spcBef>
                <a:spcPts val="0"/>
              </a:spcBef>
              <a:spcAft>
                <a:spcPts val="0"/>
              </a:spcAft>
              <a:buClr>
                <a:srgbClr val="000000"/>
              </a:buClr>
              <a:buSzPct val="61111"/>
              <a:buFont typeface="Arial"/>
              <a:buChar char="●"/>
            </a:pPr>
            <a:r>
              <a:rPr lang="en"/>
              <a:t>Query parameters</a:t>
            </a:r>
            <a:endParaRPr/>
          </a:p>
          <a:p>
            <a:pPr indent="-272256" lvl="0" marL="457200" rtl="0" algn="l">
              <a:spcBef>
                <a:spcPts val="0"/>
              </a:spcBef>
              <a:spcAft>
                <a:spcPts val="0"/>
              </a:spcAft>
              <a:buClr>
                <a:srgbClr val="000000"/>
              </a:buClr>
              <a:buSzPct val="61111"/>
              <a:buFont typeface="Arial"/>
              <a:buChar char="●"/>
            </a:pPr>
            <a:r>
              <a:rPr lang="en"/>
              <a:t>Request body schema</a:t>
            </a:r>
            <a:endParaRPr/>
          </a:p>
          <a:p>
            <a:pPr indent="-272256" lvl="0" marL="457200" rtl="0" algn="l">
              <a:spcBef>
                <a:spcPts val="0"/>
              </a:spcBef>
              <a:spcAft>
                <a:spcPts val="0"/>
              </a:spcAft>
              <a:buClr>
                <a:srgbClr val="000000"/>
              </a:buClr>
              <a:buSzPct val="61111"/>
              <a:buFont typeface="Arial"/>
              <a:buChar char="●"/>
            </a:pPr>
            <a:r>
              <a:rPr lang="en"/>
              <a:t>Response schema</a:t>
            </a:r>
            <a:endParaRPr/>
          </a:p>
          <a:p>
            <a:pPr indent="-272256" lvl="0" marL="457200" rtl="0" algn="l">
              <a:spcBef>
                <a:spcPts val="0"/>
              </a:spcBef>
              <a:spcAft>
                <a:spcPts val="0"/>
              </a:spcAft>
              <a:buClr>
                <a:srgbClr val="000000"/>
              </a:buClr>
              <a:buSzPct val="61111"/>
              <a:buFont typeface="Arial"/>
              <a:buChar char="●"/>
            </a:pPr>
            <a:r>
              <a:rPr lang="en"/>
              <a:t>Status codes (200, 404, etc.)</a:t>
            </a:r>
            <a:endParaRPr/>
          </a:p>
          <a:p>
            <a:pPr indent="-272256" lvl="0" marL="457200" rtl="0" algn="l">
              <a:spcBef>
                <a:spcPts val="0"/>
              </a:spcBef>
              <a:spcAft>
                <a:spcPts val="0"/>
              </a:spcAft>
              <a:buClr>
                <a:srgbClr val="000000"/>
              </a:buClr>
              <a:buSzPct val="61111"/>
              <a:buFont typeface="Arial"/>
              <a:buChar char="●"/>
            </a:pPr>
            <a:r>
              <a:rPr lang="en"/>
              <a:t>API title and version</a:t>
            </a:r>
            <a:endParaRPr/>
          </a:p>
          <a:p>
            <a:pPr indent="0" lvl="0" marL="457200" marR="0" rtl="0" algn="l">
              <a:lnSpc>
                <a:spcPct val="115000"/>
              </a:lnSpc>
              <a:spcBef>
                <a:spcPts val="1200"/>
              </a:spcBef>
              <a:spcAft>
                <a:spcPts val="0"/>
              </a:spcAft>
              <a:buNone/>
            </a:pPr>
            <a:r>
              <a:rPr lang="en"/>
              <a:t>ASP.NET Core:</a:t>
            </a:r>
            <a:endParaRPr/>
          </a:p>
          <a:p>
            <a:pPr indent="-272256" lvl="0" marL="457200" marR="0" rtl="0" algn="l">
              <a:lnSpc>
                <a:spcPct val="115000"/>
              </a:lnSpc>
              <a:spcBef>
                <a:spcPts val="1200"/>
              </a:spcBef>
              <a:spcAft>
                <a:spcPts val="0"/>
              </a:spcAft>
              <a:buClr>
                <a:srgbClr val="000000"/>
              </a:buClr>
              <a:buSzPct val="61111"/>
              <a:buFont typeface="Arial"/>
              <a:buChar char="●"/>
            </a:pPr>
            <a:r>
              <a:rPr lang="en"/>
              <a:t>Looks at all your Minimal API endpoints.</a:t>
            </a:r>
            <a:endParaRPr/>
          </a:p>
          <a:p>
            <a:pPr indent="-272256" lvl="0" marL="457200" marR="0" rtl="0" algn="l">
              <a:lnSpc>
                <a:spcPct val="115000"/>
              </a:lnSpc>
              <a:spcBef>
                <a:spcPts val="0"/>
              </a:spcBef>
              <a:spcAft>
                <a:spcPts val="0"/>
              </a:spcAft>
              <a:buClr>
                <a:srgbClr val="000000"/>
              </a:buClr>
              <a:buSzPct val="61111"/>
              <a:buFont typeface="Arial"/>
              <a:buChar char="●"/>
            </a:pPr>
            <a:r>
              <a:rPr lang="en"/>
              <a:t>Collects their metadata (routes, HTTP methods, parameters, request/response types).</a:t>
            </a:r>
            <a:endParaRPr/>
          </a:p>
          <a:p>
            <a:pPr indent="-272256" lvl="0" marL="457200" marR="0" rtl="0" algn="l">
              <a:lnSpc>
                <a:spcPct val="115000"/>
              </a:lnSpc>
              <a:spcBef>
                <a:spcPts val="0"/>
              </a:spcBef>
              <a:spcAft>
                <a:spcPts val="0"/>
              </a:spcAft>
              <a:buClr>
                <a:srgbClr val="000000"/>
              </a:buClr>
              <a:buSzPct val="61111"/>
              <a:buFont typeface="Arial"/>
              <a:buChar char="●"/>
            </a:pPr>
            <a:r>
              <a:rPr lang="en"/>
              <a:t>Generates an OpenAPI JSON document.</a:t>
            </a:r>
            <a:endParaRPr/>
          </a:p>
          <a:p>
            <a:pPr indent="-272256" lvl="0" marL="457200" marR="0" rtl="0" algn="l">
              <a:lnSpc>
                <a:spcPct val="115000"/>
              </a:lnSpc>
              <a:spcBef>
                <a:spcPts val="0"/>
              </a:spcBef>
              <a:spcAft>
                <a:spcPts val="0"/>
              </a:spcAft>
              <a:buClr>
                <a:srgbClr val="000000"/>
              </a:buClr>
              <a:buSzPct val="61111"/>
              <a:buFont typeface="Arial"/>
              <a:buChar char="●"/>
            </a:pPr>
            <a:r>
              <a:rPr lang="en"/>
              <a:t>Returns that JSON to the client.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990"/>
              <a:buFont typeface="Arial"/>
              <a:buNone/>
            </a:pPr>
            <a:r>
              <a:rPr lang="en" sz="2280"/>
              <a:t>app.MapOpenApi();</a:t>
            </a:r>
            <a:endParaRPr/>
          </a:p>
        </p:txBody>
      </p:sp>
      <p:sp>
        <p:nvSpPr>
          <p:cNvPr id="374" name="Google Shape;374;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builder.Services.AddOpenApi();</a:t>
            </a:r>
            <a:endParaRPr/>
          </a:p>
          <a:p>
            <a:pPr indent="0" lvl="0" marL="0" rtl="0" algn="l">
              <a:spcBef>
                <a:spcPts val="0"/>
              </a:spcBef>
              <a:spcAft>
                <a:spcPts val="0"/>
              </a:spcAft>
              <a:buNone/>
            </a:pPr>
            <a:r>
              <a:rPr lang="en"/>
              <a:t>var app = builder.Build();</a:t>
            </a:r>
            <a:endParaRPr/>
          </a:p>
          <a:p>
            <a:pPr indent="0" lvl="0" marL="0" rtl="0" algn="l">
              <a:spcBef>
                <a:spcPts val="0"/>
              </a:spcBef>
              <a:spcAft>
                <a:spcPts val="0"/>
              </a:spcAft>
              <a:buNone/>
            </a:pPr>
            <a:r>
              <a:rPr lang="en"/>
              <a:t>if (app.Environment.IsDevelopment())</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app.MapOpenApi();</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300">
                <a:solidFill>
                  <a:srgbClr val="188038"/>
                </a:solidFill>
                <a:latin typeface="Roboto Mono"/>
                <a:ea typeface="Roboto Mono"/>
                <a:cs typeface="Roboto Mono"/>
                <a:sym typeface="Roboto Mono"/>
              </a:rPr>
              <a:t>builder.Services.AddOpenApi(); - </a:t>
            </a:r>
            <a:r>
              <a:rPr lang="en" sz="1100">
                <a:solidFill>
                  <a:srgbClr val="000000"/>
                </a:solidFill>
                <a:latin typeface="Arial"/>
                <a:ea typeface="Arial"/>
                <a:cs typeface="Arial"/>
                <a:sym typeface="Arial"/>
              </a:rPr>
              <a:t>Registers the services required to generate an </a:t>
            </a:r>
            <a:r>
              <a:rPr b="1" lang="en" sz="1100">
                <a:solidFill>
                  <a:srgbClr val="000000"/>
                </a:solidFill>
                <a:latin typeface="Arial"/>
                <a:ea typeface="Arial"/>
                <a:cs typeface="Arial"/>
                <a:sym typeface="Arial"/>
              </a:rPr>
              <a:t>OpenAPI document</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188038"/>
                </a:solidFill>
                <a:latin typeface="Roboto Mono"/>
                <a:ea typeface="Roboto Mono"/>
                <a:cs typeface="Roboto Mono"/>
                <a:sym typeface="Roboto Mono"/>
              </a:rPr>
              <a:t>app.MapOpenApi(); - </a:t>
            </a:r>
            <a:r>
              <a:rPr lang="en" sz="1100">
                <a:solidFill>
                  <a:srgbClr val="000000"/>
                </a:solidFill>
                <a:latin typeface="Arial"/>
                <a:ea typeface="Arial"/>
                <a:cs typeface="Arial"/>
                <a:sym typeface="Arial"/>
              </a:rPr>
              <a:t>Creates an endpoint that serves the generated OpenAPI document.</a:t>
            </a:r>
            <a:endParaRPr sz="1100">
              <a:solidFill>
                <a:srgbClr val="000000"/>
              </a:solidFill>
              <a:latin typeface="Arial"/>
              <a:ea typeface="Arial"/>
              <a:cs typeface="Arial"/>
              <a:sym typeface="Arial"/>
            </a:endParaRPr>
          </a:p>
          <a:p>
            <a:pPr indent="0" lvl="0" marL="0" rtl="0" algn="l">
              <a:spcBef>
                <a:spcPts val="400"/>
              </a:spcBef>
              <a:spcAft>
                <a:spcPts val="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6"/>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80"/>
              <a:t>MapOpenAPI (Direct support ) vs Swagger (external)</a:t>
            </a:r>
            <a:endParaRPr sz="2680"/>
          </a:p>
        </p:txBody>
      </p:sp>
      <p:sp>
        <p:nvSpPr>
          <p:cNvPr id="380" name="Google Shape;380;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1" name="Google Shape;381;p66"/>
          <p:cNvPicPr preferRelativeResize="0"/>
          <p:nvPr/>
        </p:nvPicPr>
        <p:blipFill>
          <a:blip r:embed="rId3">
            <a:alphaModFix/>
          </a:blip>
          <a:stretch>
            <a:fillRect/>
          </a:stretch>
        </p:blipFill>
        <p:spPr>
          <a:xfrm>
            <a:off x="161925" y="1242225"/>
            <a:ext cx="8820150" cy="3148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Swagger</a:t>
            </a:r>
            <a:endParaRPr/>
          </a:p>
        </p:txBody>
      </p:sp>
      <p:sp>
        <p:nvSpPr>
          <p:cNvPr id="387" name="Google Shape;387;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735" lvl="0" marL="457200" rtl="0" algn="l">
              <a:lnSpc>
                <a:spcPct val="85000"/>
              </a:lnSpc>
              <a:spcBef>
                <a:spcPts val="0"/>
              </a:spcBef>
              <a:spcAft>
                <a:spcPts val="0"/>
              </a:spcAft>
              <a:buSzPts val="1010"/>
              <a:buChar char="●"/>
            </a:pPr>
            <a:r>
              <a:rPr lang="en" sz="1010"/>
              <a:t>Nuget package - Swashbuckle.AspNetCore</a:t>
            </a:r>
            <a:endParaRPr sz="1010"/>
          </a:p>
          <a:p>
            <a:pPr indent="0" lvl="0" marL="457200" rtl="0" algn="l">
              <a:lnSpc>
                <a:spcPct val="85000"/>
              </a:lnSpc>
              <a:spcBef>
                <a:spcPts val="0"/>
              </a:spcBef>
              <a:spcAft>
                <a:spcPts val="0"/>
              </a:spcAft>
              <a:buNone/>
            </a:pPr>
            <a:r>
              <a:t/>
            </a:r>
            <a:endParaRPr sz="1010"/>
          </a:p>
          <a:p>
            <a:pPr indent="0" lvl="0" marL="0" rtl="0" algn="l">
              <a:lnSpc>
                <a:spcPct val="85000"/>
              </a:lnSpc>
              <a:spcBef>
                <a:spcPts val="0"/>
              </a:spcBef>
              <a:spcAft>
                <a:spcPts val="0"/>
              </a:spcAft>
              <a:buSzPts val="770"/>
              <a:buNone/>
            </a:pPr>
            <a:r>
              <a:rPr lang="en" sz="1010"/>
              <a:t>// Swagger</a:t>
            </a:r>
            <a:endParaRPr sz="1010"/>
          </a:p>
          <a:p>
            <a:pPr indent="0" lvl="0" marL="0" rtl="0" algn="l">
              <a:lnSpc>
                <a:spcPct val="85000"/>
              </a:lnSpc>
              <a:spcBef>
                <a:spcPts val="0"/>
              </a:spcBef>
              <a:spcAft>
                <a:spcPts val="0"/>
              </a:spcAft>
              <a:buSzPts val="770"/>
              <a:buNone/>
            </a:pPr>
            <a:r>
              <a:rPr lang="en" sz="1010"/>
              <a:t>builder.Services.AddEndpointsApiExplorer();</a:t>
            </a:r>
            <a:endParaRPr sz="1010"/>
          </a:p>
          <a:p>
            <a:pPr indent="0" lvl="0" marL="0" rtl="0" algn="l">
              <a:lnSpc>
                <a:spcPct val="85000"/>
              </a:lnSpc>
              <a:spcBef>
                <a:spcPts val="0"/>
              </a:spcBef>
              <a:spcAft>
                <a:spcPts val="0"/>
              </a:spcAft>
              <a:buSzPts val="770"/>
              <a:buNone/>
            </a:pPr>
            <a:r>
              <a:rPr lang="en" sz="1010"/>
              <a:t>builder.Services.AddSwaggerGen(options =&gt;</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rPr lang="en" sz="1010"/>
              <a:t>    options.SwaggerDoc("v1", new OpenApiInfo</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        Title = "Weather API",</a:t>
            </a:r>
            <a:endParaRPr sz="1010"/>
          </a:p>
          <a:p>
            <a:pPr indent="0" lvl="0" marL="0" rtl="0" algn="l">
              <a:lnSpc>
                <a:spcPct val="85000"/>
              </a:lnSpc>
              <a:spcBef>
                <a:spcPts val="0"/>
              </a:spcBef>
              <a:spcAft>
                <a:spcPts val="0"/>
              </a:spcAft>
              <a:buSzPts val="770"/>
              <a:buNone/>
            </a:pPr>
            <a:r>
              <a:rPr lang="en" sz="1010"/>
              <a:t>        Version = "v1",</a:t>
            </a:r>
            <a:endParaRPr sz="1010"/>
          </a:p>
          <a:p>
            <a:pPr indent="0" lvl="0" marL="0" rtl="0" algn="l">
              <a:lnSpc>
                <a:spcPct val="85000"/>
              </a:lnSpc>
              <a:spcBef>
                <a:spcPts val="0"/>
              </a:spcBef>
              <a:spcAft>
                <a:spcPts val="0"/>
              </a:spcAft>
              <a:buSzPts val="770"/>
              <a:buNone/>
            </a:pPr>
            <a:r>
              <a:rPr lang="en" sz="1010"/>
              <a:t>        Description = "Sample Minimal API"</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rPr lang="en" sz="1010"/>
              <a:t>if (app.Environment.IsDevelopment())</a:t>
            </a:r>
            <a:endParaRPr sz="1010"/>
          </a:p>
          <a:p>
            <a:pPr indent="0" lvl="0" marL="0" rtl="0" algn="l">
              <a:lnSpc>
                <a:spcPct val="85000"/>
              </a:lnSpc>
              <a:spcBef>
                <a:spcPts val="0"/>
              </a:spcBef>
              <a:spcAft>
                <a:spcPts val="0"/>
              </a:spcAft>
              <a:buSzPts val="770"/>
              <a:buNone/>
            </a:pPr>
            <a:r>
              <a:rPr lang="en" sz="1010"/>
              <a:t>{</a:t>
            </a:r>
            <a:endParaRPr sz="1010"/>
          </a:p>
          <a:p>
            <a:pPr indent="0" lvl="0" marL="0" rtl="0" algn="l">
              <a:lnSpc>
                <a:spcPct val="85000"/>
              </a:lnSpc>
              <a:spcBef>
                <a:spcPts val="0"/>
              </a:spcBef>
              <a:spcAft>
                <a:spcPts val="0"/>
              </a:spcAft>
              <a:buSzPts val="770"/>
              <a:buNone/>
            </a:pPr>
            <a:r>
              <a:rPr lang="en" sz="1010"/>
              <a:t>    // Swagger JSON</a:t>
            </a:r>
            <a:endParaRPr sz="1010"/>
          </a:p>
          <a:p>
            <a:pPr indent="0" lvl="0" marL="0" rtl="0" algn="l">
              <a:lnSpc>
                <a:spcPct val="85000"/>
              </a:lnSpc>
              <a:spcBef>
                <a:spcPts val="0"/>
              </a:spcBef>
              <a:spcAft>
                <a:spcPts val="0"/>
              </a:spcAft>
              <a:buSzPts val="770"/>
              <a:buNone/>
            </a:pPr>
            <a:r>
              <a:rPr lang="en" sz="1010"/>
              <a:t>    app.UseSwagger();</a:t>
            </a:r>
            <a:endParaRPr sz="1010"/>
          </a:p>
          <a:p>
            <a:pPr indent="0" lvl="0" marL="0" rtl="0" algn="l">
              <a:lnSpc>
                <a:spcPct val="85000"/>
              </a:lnSpc>
              <a:spcBef>
                <a:spcPts val="0"/>
              </a:spcBef>
              <a:spcAft>
                <a:spcPts val="0"/>
              </a:spcAft>
              <a:buSzPts val="770"/>
              <a:buNone/>
            </a:pPr>
            <a:r>
              <a:t/>
            </a:r>
            <a:endParaRPr sz="1010"/>
          </a:p>
          <a:p>
            <a:pPr indent="0" lvl="0" marL="0" rtl="0" algn="l">
              <a:lnSpc>
                <a:spcPct val="85000"/>
              </a:lnSpc>
              <a:spcBef>
                <a:spcPts val="0"/>
              </a:spcBef>
              <a:spcAft>
                <a:spcPts val="0"/>
              </a:spcAft>
              <a:buSzPts val="770"/>
              <a:buNone/>
            </a:pPr>
            <a:r>
              <a:rPr lang="en" sz="1010"/>
              <a:t>    // Swagger UI</a:t>
            </a:r>
            <a:endParaRPr sz="1010"/>
          </a:p>
          <a:p>
            <a:pPr indent="0" lvl="0" marL="0" rtl="0" algn="l">
              <a:lnSpc>
                <a:spcPct val="85000"/>
              </a:lnSpc>
              <a:spcBef>
                <a:spcPts val="0"/>
              </a:spcBef>
              <a:spcAft>
                <a:spcPts val="0"/>
              </a:spcAft>
              <a:buSzPts val="770"/>
              <a:buNone/>
            </a:pPr>
            <a:r>
              <a:rPr lang="en" sz="1010"/>
              <a:t>    app.UseSwaggerUI(options =&gt;</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        options.SwaggerEndpoint("/swagger/v1/swagger.json", "Weather API v1");</a:t>
            </a:r>
            <a:endParaRPr sz="1010"/>
          </a:p>
          <a:p>
            <a:pPr indent="0" lvl="0" marL="0" rtl="0" algn="l">
              <a:lnSpc>
                <a:spcPct val="85000"/>
              </a:lnSpc>
              <a:spcBef>
                <a:spcPts val="0"/>
              </a:spcBef>
              <a:spcAft>
                <a:spcPts val="0"/>
              </a:spcAft>
              <a:buSzPts val="770"/>
              <a:buNone/>
            </a:pPr>
            <a:r>
              <a:rPr lang="en" sz="1010"/>
              <a:t>    });</a:t>
            </a:r>
            <a:endParaRPr sz="1010"/>
          </a:p>
          <a:p>
            <a:pPr indent="0" lvl="0" marL="0" rtl="0" algn="l">
              <a:lnSpc>
                <a:spcPct val="85000"/>
              </a:lnSpc>
              <a:spcBef>
                <a:spcPts val="0"/>
              </a:spcBef>
              <a:spcAft>
                <a:spcPts val="0"/>
              </a:spcAft>
              <a:buSzPts val="770"/>
              <a:buNone/>
            </a:pPr>
            <a:r>
              <a:rPr lang="en" sz="1010"/>
              <a:t>}</a:t>
            </a:r>
            <a:endParaRPr sz="101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8"/>
          <p:cNvSpPr txBox="1"/>
          <p:nvPr>
            <p:ph type="title"/>
          </p:nvPr>
        </p:nvSpPr>
        <p:spPr>
          <a:xfrm>
            <a:off x="311700" y="256775"/>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MVC vs Razor</a:t>
            </a:r>
            <a:endParaRPr/>
          </a:p>
        </p:txBody>
      </p:sp>
      <p:pic>
        <p:nvPicPr>
          <p:cNvPr id="393" name="Google Shape;393;p68"/>
          <p:cNvPicPr preferRelativeResize="0"/>
          <p:nvPr/>
        </p:nvPicPr>
        <p:blipFill>
          <a:blip r:embed="rId3">
            <a:alphaModFix/>
          </a:blip>
          <a:stretch>
            <a:fillRect/>
          </a:stretch>
        </p:blipFill>
        <p:spPr>
          <a:xfrm>
            <a:off x="441900" y="924725"/>
            <a:ext cx="2400300" cy="37545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RazorPage Request Flow</a:t>
            </a:r>
            <a:endParaRPr/>
          </a:p>
        </p:txBody>
      </p:sp>
      <p:pic>
        <p:nvPicPr>
          <p:cNvPr id="399" name="Google Shape;399;p69"/>
          <p:cNvPicPr preferRelativeResize="0"/>
          <p:nvPr/>
        </p:nvPicPr>
        <p:blipFill>
          <a:blip r:embed="rId3">
            <a:alphaModFix/>
          </a:blip>
          <a:stretch>
            <a:fillRect/>
          </a:stretch>
        </p:blipFill>
        <p:spPr>
          <a:xfrm>
            <a:off x="5101650" y="99650"/>
            <a:ext cx="3730650" cy="4944200"/>
          </a:xfrm>
          <a:prstGeom prst="rect">
            <a:avLst/>
          </a:prstGeom>
          <a:noFill/>
          <a:ln>
            <a:noFill/>
          </a:ln>
        </p:spPr>
      </p:pic>
      <p:sp>
        <p:nvSpPr>
          <p:cNvPr id="400" name="Google Shape;400;p69"/>
          <p:cNvSpPr txBox="1"/>
          <p:nvPr/>
        </p:nvSpPr>
        <p:spPr>
          <a:xfrm>
            <a:off x="393425" y="1159550"/>
            <a:ext cx="3842100" cy="3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In Razor Pages, every </a:t>
            </a:r>
            <a:r>
              <a:rPr lang="en" sz="1300">
                <a:solidFill>
                  <a:srgbClr val="188038"/>
                </a:solidFill>
                <a:latin typeface="Roboto Mono"/>
                <a:ea typeface="Roboto Mono"/>
                <a:cs typeface="Roboto Mono"/>
                <a:sym typeface="Roboto Mono"/>
              </a:rPr>
              <a:t>.cshtml</a:t>
            </a:r>
            <a:r>
              <a:rPr lang="en" sz="1300"/>
              <a:t> normally has a corresponding </a:t>
            </a:r>
            <a:r>
              <a:rPr lang="en" sz="1300">
                <a:solidFill>
                  <a:srgbClr val="188038"/>
                </a:solidFill>
                <a:latin typeface="Roboto Mono"/>
                <a:ea typeface="Roboto Mono"/>
                <a:cs typeface="Roboto Mono"/>
                <a:sym typeface="Roboto Mono"/>
              </a:rPr>
              <a:t>.cshtml.cs</a:t>
            </a:r>
            <a:r>
              <a:rPr lang="en" sz="1300"/>
              <a:t> PageModel. Unlike MVC where multiple views can use the same controller, Razor Pages follows a page-focused model.</a:t>
            </a:r>
            <a:endParaRPr sz="1300"/>
          </a:p>
          <a:p>
            <a:pPr indent="0" lvl="0" marL="0" rtl="0" algn="l">
              <a:spcBef>
                <a:spcPts val="0"/>
              </a:spcBef>
              <a:spcAft>
                <a:spcPts val="0"/>
              </a:spcAft>
              <a:buNone/>
            </a:pPr>
            <a:r>
              <a:t/>
            </a:r>
            <a:endParaRPr sz="1300"/>
          </a:p>
          <a:p>
            <a:pPr indent="0" lvl="0" marL="0" rtl="0" algn="l">
              <a:lnSpc>
                <a:spcPct val="115000"/>
              </a:lnSpc>
              <a:spcBef>
                <a:spcPts val="1200"/>
              </a:spcBef>
              <a:spcAft>
                <a:spcPts val="0"/>
              </a:spcAft>
              <a:buNone/>
            </a:pPr>
            <a:r>
              <a:rPr lang="en" sz="1100">
                <a:solidFill>
                  <a:srgbClr val="188038"/>
                </a:solidFill>
                <a:latin typeface="Roboto Mono"/>
                <a:ea typeface="Roboto Mono"/>
                <a:cs typeface="Roboto Mono"/>
                <a:sym typeface="Roboto Mono"/>
              </a:rPr>
              <a:t>@page</a:t>
            </a:r>
            <a:r>
              <a:rPr lang="en" sz="1100"/>
              <a:t> is the </a:t>
            </a:r>
            <a:r>
              <a:rPr b="1" lang="en" sz="1100"/>
              <a:t>most important directive</a:t>
            </a:r>
            <a:r>
              <a:rPr lang="en" sz="1100"/>
              <a:t> in Razor Pages.</a:t>
            </a:r>
            <a:endParaRPr sz="1100"/>
          </a:p>
          <a:p>
            <a:pPr indent="0" lvl="0" marL="0" rtl="0" algn="l">
              <a:lnSpc>
                <a:spcPct val="115000"/>
              </a:lnSpc>
              <a:spcBef>
                <a:spcPts val="1200"/>
              </a:spcBef>
              <a:spcAft>
                <a:spcPts val="0"/>
              </a:spcAft>
              <a:buNone/>
            </a:pPr>
            <a:r>
              <a:rPr lang="en" sz="1100"/>
              <a:t>It tells ASP.NET Core:</a:t>
            </a:r>
            <a:endParaRPr sz="1100"/>
          </a:p>
          <a:p>
            <a:pPr indent="0" lvl="0" marL="381000" marR="381000" rtl="0" algn="l">
              <a:lnSpc>
                <a:spcPct val="115000"/>
              </a:lnSpc>
              <a:spcBef>
                <a:spcPts val="1200"/>
              </a:spcBef>
              <a:spcAft>
                <a:spcPts val="0"/>
              </a:spcAft>
              <a:buNone/>
            </a:pPr>
            <a:r>
              <a:rPr b="1" lang="en" sz="1100"/>
              <a:t>"This </a:t>
            </a:r>
            <a:r>
              <a:rPr b="1" lang="en" sz="1100">
                <a:solidFill>
                  <a:srgbClr val="188038"/>
                </a:solidFill>
                <a:latin typeface="Roboto Mono"/>
                <a:ea typeface="Roboto Mono"/>
                <a:cs typeface="Roboto Mono"/>
                <a:sym typeface="Roboto Mono"/>
              </a:rPr>
              <a:t>.cshtml</a:t>
            </a:r>
            <a:r>
              <a:rPr b="1" lang="en" sz="1100"/>
              <a:t> file is a Razor Page and can handle HTTP requests directly."</a:t>
            </a:r>
            <a:endParaRPr b="1" sz="1100"/>
          </a:p>
          <a:p>
            <a:pPr indent="0" lvl="0" marL="0" rtl="0" algn="l">
              <a:lnSpc>
                <a:spcPct val="115000"/>
              </a:lnSpc>
              <a:spcBef>
                <a:spcPts val="1200"/>
              </a:spcBef>
              <a:spcAft>
                <a:spcPts val="0"/>
              </a:spcAft>
              <a:buNone/>
            </a:pPr>
            <a:r>
              <a:rPr lang="en" sz="1100"/>
              <a:t>Without </a:t>
            </a:r>
            <a:r>
              <a:rPr lang="en" sz="1100">
                <a:solidFill>
                  <a:srgbClr val="188038"/>
                </a:solidFill>
                <a:latin typeface="Roboto Mono"/>
                <a:ea typeface="Roboto Mono"/>
                <a:cs typeface="Roboto Mono"/>
                <a:sym typeface="Roboto Mono"/>
              </a:rPr>
              <a:t>@page</a:t>
            </a:r>
            <a:r>
              <a:rPr lang="en" sz="1100"/>
              <a:t>, the file is treated as a normal Razor view and </a:t>
            </a:r>
            <a:r>
              <a:rPr b="1" lang="en" sz="1100"/>
              <a:t>cannot be accessed directly by a URL</a:t>
            </a:r>
            <a:r>
              <a:rPr lang="en" sz="1100"/>
              <a:t>.</a:t>
            </a:r>
            <a:endParaRPr sz="1100"/>
          </a:p>
          <a:p>
            <a:pPr indent="0" lvl="0" marL="0" rtl="0" algn="l">
              <a:spcBef>
                <a:spcPts val="1200"/>
              </a:spcBef>
              <a:spcAft>
                <a:spcPts val="0"/>
              </a:spcAft>
              <a:buNone/>
            </a:pPr>
            <a:r>
              <a:t/>
            </a:r>
            <a:endParaRPr sz="13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Simple Comparison MVC vs RazorPage</a:t>
            </a:r>
            <a:endParaRPr/>
          </a:p>
        </p:txBody>
      </p:sp>
      <p:sp>
        <p:nvSpPr>
          <p:cNvPr id="406" name="Google Shape;40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7" name="Google Shape;407;p70"/>
          <p:cNvPicPr preferRelativeResize="0"/>
          <p:nvPr/>
        </p:nvPicPr>
        <p:blipFill>
          <a:blip r:embed="rId3">
            <a:alphaModFix/>
          </a:blip>
          <a:stretch>
            <a:fillRect/>
          </a:stretch>
        </p:blipFill>
        <p:spPr>
          <a:xfrm>
            <a:off x="167288" y="1095056"/>
            <a:ext cx="8353425" cy="36385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.cshtml</a:t>
            </a:r>
            <a:endParaRPr/>
          </a:p>
        </p:txBody>
      </p:sp>
      <p:sp>
        <p:nvSpPr>
          <p:cNvPr id="413" name="Google Shape;413;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4" name="Google Shape;414;p71"/>
          <p:cNvPicPr preferRelativeResize="0"/>
          <p:nvPr/>
        </p:nvPicPr>
        <p:blipFill>
          <a:blip r:embed="rId3">
            <a:alphaModFix/>
          </a:blip>
          <a:stretch>
            <a:fillRect/>
          </a:stretch>
        </p:blipFill>
        <p:spPr>
          <a:xfrm>
            <a:off x="61925" y="1260375"/>
            <a:ext cx="9020175" cy="34164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a:t>
            </a:r>
            <a:endParaRPr/>
          </a:p>
        </p:txBody>
      </p:sp>
      <p:sp>
        <p:nvSpPr>
          <p:cNvPr id="420" name="Google Shape;420;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ViewData is available only during the current HTTP request. </a:t>
            </a:r>
            <a:endParaRPr sz="2200">
              <a:solidFill>
                <a:srgbClr val="000000"/>
              </a:solidFill>
              <a:latin typeface="Arial"/>
              <a:ea typeface="Arial"/>
              <a:cs typeface="Arial"/>
              <a:sym typeface="Arial"/>
            </a:endParaRPr>
          </a:p>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It is shared between the Controller/PageModel and the View/Razor Page for that request.</a:t>
            </a:r>
            <a:endParaRPr sz="2200">
              <a:solidFill>
                <a:srgbClr val="000000"/>
              </a:solidFill>
              <a:latin typeface="Arial"/>
              <a:ea typeface="Arial"/>
              <a:cs typeface="Arial"/>
              <a:sym typeface="Arial"/>
            </a:endParaRPr>
          </a:p>
          <a:p>
            <a:pPr indent="-368300" lvl="0" marL="457200" rtl="0" algn="l">
              <a:spcBef>
                <a:spcPts val="0"/>
              </a:spcBef>
              <a:spcAft>
                <a:spcPts val="0"/>
              </a:spcAft>
              <a:buClr>
                <a:srgbClr val="000000"/>
              </a:buClr>
              <a:buSzPts val="2200"/>
              <a:buFont typeface="Arial"/>
              <a:buChar char="●"/>
            </a:pPr>
            <a:r>
              <a:rPr lang="en" sz="2200">
                <a:solidFill>
                  <a:srgbClr val="000000"/>
                </a:solidFill>
                <a:latin typeface="Arial"/>
                <a:ea typeface="Arial"/>
                <a:cs typeface="Arial"/>
                <a:sym typeface="Arial"/>
              </a:rPr>
              <a:t> It does not survive a redirect, refresh, or a new request.</a:t>
            </a:r>
            <a:endParaRPr sz="2200">
              <a:solidFill>
                <a:srgbClr val="000000"/>
              </a:solidFill>
              <a:latin typeface="Arial"/>
              <a:ea typeface="Arial"/>
              <a:cs typeface="Arial"/>
              <a:sym typeface="Arial"/>
            </a:endParaRPr>
          </a:p>
          <a:p>
            <a:pPr indent="-368300" lvl="0" marL="457200" rtl="0" algn="l">
              <a:spcBef>
                <a:spcPts val="0"/>
              </a:spcBef>
              <a:spcAft>
                <a:spcPts val="0"/>
              </a:spcAft>
              <a:buSzPts val="2200"/>
              <a:buChar char="●"/>
            </a:pPr>
            <a:r>
              <a:rPr lang="en" sz="2200">
                <a:solidFill>
                  <a:srgbClr val="000000"/>
                </a:solidFill>
                <a:latin typeface="Arial"/>
                <a:ea typeface="Arial"/>
                <a:cs typeface="Arial"/>
                <a:sym typeface="Arial"/>
              </a:rPr>
              <a:t> If data needs to persist across requests, use </a:t>
            </a:r>
            <a:r>
              <a:rPr lang="en" sz="2200">
                <a:solidFill>
                  <a:srgbClr val="188038"/>
                </a:solidFill>
                <a:latin typeface="Roboto Mono"/>
                <a:ea typeface="Roboto Mono"/>
                <a:cs typeface="Roboto Mono"/>
                <a:sym typeface="Roboto Mono"/>
              </a:rPr>
              <a:t>TempData</a:t>
            </a:r>
            <a:r>
              <a:rPr lang="en" sz="2200">
                <a:solidFill>
                  <a:srgbClr val="000000"/>
                </a:solidFill>
                <a:latin typeface="Arial"/>
                <a:ea typeface="Arial"/>
                <a:cs typeface="Arial"/>
                <a:sym typeface="Arial"/>
              </a:rPr>
              <a:t>, </a:t>
            </a:r>
            <a:r>
              <a:rPr lang="en" sz="2200">
                <a:solidFill>
                  <a:srgbClr val="188038"/>
                </a:solidFill>
                <a:latin typeface="Roboto Mono"/>
                <a:ea typeface="Roboto Mono"/>
                <a:cs typeface="Roboto Mono"/>
                <a:sym typeface="Roboto Mono"/>
              </a:rPr>
              <a:t>Session</a:t>
            </a:r>
            <a:r>
              <a:rPr lang="en" sz="2200">
                <a:solidFill>
                  <a:srgbClr val="000000"/>
                </a:solidFill>
                <a:latin typeface="Arial"/>
                <a:ea typeface="Arial"/>
                <a:cs typeface="Arial"/>
                <a:sym typeface="Arial"/>
              </a:rPr>
              <a:t>, or another persistence mechanism instead. </a:t>
            </a:r>
            <a:endParaRPr sz="2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 - only during the current HTTP request </a:t>
            </a:r>
            <a:endParaRPr/>
          </a:p>
        </p:txBody>
      </p:sp>
      <p:pic>
        <p:nvPicPr>
          <p:cNvPr id="426" name="Google Shape;426;p73"/>
          <p:cNvPicPr preferRelativeResize="0"/>
          <p:nvPr/>
        </p:nvPicPr>
        <p:blipFill>
          <a:blip r:embed="rId3">
            <a:alphaModFix/>
          </a:blip>
          <a:stretch>
            <a:fillRect/>
          </a:stretch>
        </p:blipFill>
        <p:spPr>
          <a:xfrm>
            <a:off x="400475" y="1513875"/>
            <a:ext cx="2876550" cy="3284575"/>
          </a:xfrm>
          <a:prstGeom prst="rect">
            <a:avLst/>
          </a:prstGeom>
          <a:noFill/>
          <a:ln>
            <a:noFill/>
          </a:ln>
        </p:spPr>
      </p:pic>
      <p:pic>
        <p:nvPicPr>
          <p:cNvPr id="427" name="Google Shape;427;p73"/>
          <p:cNvPicPr preferRelativeResize="0"/>
          <p:nvPr/>
        </p:nvPicPr>
        <p:blipFill>
          <a:blip r:embed="rId4">
            <a:alphaModFix/>
          </a:blip>
          <a:stretch>
            <a:fillRect/>
          </a:stretch>
        </p:blipFill>
        <p:spPr>
          <a:xfrm>
            <a:off x="3740000" y="1513875"/>
            <a:ext cx="5264051" cy="33047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ViewBag</a:t>
            </a:r>
            <a:endParaRPr/>
          </a:p>
        </p:txBody>
      </p:sp>
      <p:sp>
        <p:nvSpPr>
          <p:cNvPr id="433" name="Google Shape;433;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solidFill>
                  <a:srgbClr val="000000"/>
                </a:solidFill>
                <a:latin typeface="Arial"/>
                <a:ea typeface="Arial"/>
                <a:cs typeface="Arial"/>
                <a:sym typeface="Arial"/>
              </a:rPr>
              <a:t>ViewBag doesn't provide any new capability. It is simply a more convenient syntax (</a:t>
            </a:r>
            <a:r>
              <a:rPr lang="en" sz="1600">
                <a:solidFill>
                  <a:srgbClr val="188038"/>
                </a:solidFill>
                <a:latin typeface="Roboto Mono"/>
                <a:ea typeface="Roboto Mono"/>
                <a:cs typeface="Roboto Mono"/>
                <a:sym typeface="Roboto Mono"/>
              </a:rPr>
              <a:t>ViewBag.Title</a:t>
            </a:r>
            <a:r>
              <a:rPr lang="en" sz="1600">
                <a:solidFill>
                  <a:srgbClr val="000000"/>
                </a:solidFill>
                <a:latin typeface="Arial"/>
                <a:ea typeface="Arial"/>
                <a:cs typeface="Arial"/>
                <a:sym typeface="Arial"/>
              </a:rPr>
              <a:t>) for accessing the same data stored in </a:t>
            </a:r>
            <a:r>
              <a:rPr lang="en" sz="1600">
                <a:solidFill>
                  <a:srgbClr val="188038"/>
                </a:solidFill>
                <a:latin typeface="Roboto Mono"/>
                <a:ea typeface="Roboto Mono"/>
                <a:cs typeface="Roboto Mono"/>
                <a:sym typeface="Roboto Mono"/>
              </a:rPr>
              <a:t>ViewData["Title"]</a:t>
            </a:r>
            <a:r>
              <a:rPr lang="en" sz="1600">
                <a:solidFill>
                  <a:srgbClr val="000000"/>
                </a:solidFill>
                <a:latin typeface="Arial"/>
                <a:ea typeface="Arial"/>
                <a:cs typeface="Arial"/>
                <a:sym typeface="Arial"/>
              </a:rPr>
              <a:t> </a:t>
            </a:r>
            <a:endParaRPr sz="1600">
              <a:solidFill>
                <a:srgbClr val="000000"/>
              </a:solidFill>
              <a:latin typeface="Arial"/>
              <a:ea typeface="Arial"/>
              <a:cs typeface="Arial"/>
              <a:sym typeface="Arial"/>
            </a:endParaRPr>
          </a:p>
          <a:p>
            <a:pPr indent="0" lvl="0" marL="457200" rtl="0" algn="l">
              <a:spcBef>
                <a:spcPts val="1200"/>
              </a:spcBef>
              <a:spcAft>
                <a:spcPts val="1200"/>
              </a:spcAft>
              <a:buNone/>
            </a:pPr>
            <a:r>
              <a:t/>
            </a:r>
            <a:endParaRPr sz="1600">
              <a:solidFill>
                <a:srgbClr val="000000"/>
              </a:solidFill>
              <a:latin typeface="Arial"/>
              <a:ea typeface="Arial"/>
              <a:cs typeface="Arial"/>
              <a:sym typeface="Arial"/>
            </a:endParaRPr>
          </a:p>
        </p:txBody>
      </p:sp>
      <p:pic>
        <p:nvPicPr>
          <p:cNvPr id="434" name="Google Shape;434;p74"/>
          <p:cNvPicPr preferRelativeResize="0"/>
          <p:nvPr/>
        </p:nvPicPr>
        <p:blipFill>
          <a:blip r:embed="rId3">
            <a:alphaModFix/>
          </a:blip>
          <a:stretch>
            <a:fillRect/>
          </a:stretch>
        </p:blipFill>
        <p:spPr>
          <a:xfrm>
            <a:off x="471497" y="1969400"/>
            <a:ext cx="6476700" cy="2721250"/>
          </a:xfrm>
          <a:prstGeom prst="rect">
            <a:avLst/>
          </a:prstGeom>
          <a:noFill/>
          <a:ln>
            <a:noFill/>
          </a:ln>
        </p:spPr>
      </p:pic>
      <p:pic>
        <p:nvPicPr>
          <p:cNvPr id="435" name="Google Shape;435;p74"/>
          <p:cNvPicPr preferRelativeResize="0"/>
          <p:nvPr/>
        </p:nvPicPr>
        <p:blipFill>
          <a:blip r:embed="rId4">
            <a:alphaModFix/>
          </a:blip>
          <a:stretch>
            <a:fillRect/>
          </a:stretch>
        </p:blipFill>
        <p:spPr>
          <a:xfrm>
            <a:off x="7280413" y="2466175"/>
            <a:ext cx="1666875" cy="14478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ViewData and ViewBag</a:t>
            </a:r>
            <a:endParaRPr/>
          </a:p>
        </p:txBody>
      </p:sp>
      <p:sp>
        <p:nvSpPr>
          <p:cNvPr id="441" name="Google Shape;441;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rgbClr val="000000"/>
                </a:solidFill>
                <a:latin typeface="Arial"/>
                <a:ea typeface="Arial"/>
                <a:cs typeface="Arial"/>
                <a:sym typeface="Arial"/>
              </a:rPr>
              <a:t>MVC:</a:t>
            </a:r>
            <a:r>
              <a:rPr lang="en" sz="1500">
                <a:solidFill>
                  <a:srgbClr val="000000"/>
                </a:solidFill>
                <a:latin typeface="Arial"/>
                <a:ea typeface="Arial"/>
                <a:cs typeface="Arial"/>
                <a:sym typeface="Arial"/>
              </a:rPr>
              <a:t> </a:t>
            </a:r>
            <a:r>
              <a:rPr lang="en" sz="1500">
                <a:solidFill>
                  <a:srgbClr val="188038"/>
                </a:solidFill>
                <a:latin typeface="Roboto Mono"/>
                <a:ea typeface="Roboto Mono"/>
                <a:cs typeface="Roboto Mono"/>
                <a:sym typeface="Roboto Mono"/>
              </a:rPr>
              <a:t>ViewBag</a:t>
            </a:r>
            <a:r>
              <a:rPr lang="en" sz="1500">
                <a:solidFill>
                  <a:srgbClr val="000000"/>
                </a:solidFill>
                <a:latin typeface="Arial"/>
                <a:ea typeface="Arial"/>
                <a:cs typeface="Arial"/>
                <a:sym typeface="Arial"/>
              </a:rPr>
              <a:t> and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share the same underlying data, so you can set one and read from the other.</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en" sz="1500">
                <a:solidFill>
                  <a:srgbClr val="000000"/>
                </a:solidFill>
                <a:latin typeface="Arial"/>
                <a:ea typeface="Arial"/>
                <a:cs typeface="Arial"/>
                <a:sym typeface="Arial"/>
              </a:rPr>
              <a:t>Razor Pages:</a:t>
            </a:r>
            <a:r>
              <a:rPr lang="en" sz="1500">
                <a:solidFill>
                  <a:srgbClr val="000000"/>
                </a:solidFill>
                <a:latin typeface="Arial"/>
                <a:ea typeface="Arial"/>
                <a:cs typeface="Arial"/>
                <a:sym typeface="Arial"/>
              </a:rPr>
              <a:t>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is available, but </a:t>
            </a:r>
            <a:r>
              <a:rPr lang="en" sz="1500">
                <a:solidFill>
                  <a:srgbClr val="188038"/>
                </a:solidFill>
                <a:latin typeface="Roboto Mono"/>
                <a:ea typeface="Roboto Mono"/>
                <a:cs typeface="Roboto Mono"/>
                <a:sym typeface="Roboto Mono"/>
              </a:rPr>
              <a:t>ViewBag</a:t>
            </a:r>
            <a:r>
              <a:rPr lang="en" sz="1500">
                <a:solidFill>
                  <a:srgbClr val="000000"/>
                </a:solidFill>
                <a:latin typeface="Arial"/>
                <a:ea typeface="Arial"/>
                <a:cs typeface="Arial"/>
                <a:sym typeface="Arial"/>
              </a:rPr>
              <a:t> is not exposed by </a:t>
            </a:r>
            <a:r>
              <a:rPr lang="en" sz="1500">
                <a:solidFill>
                  <a:srgbClr val="188038"/>
                </a:solidFill>
                <a:latin typeface="Roboto Mono"/>
                <a:ea typeface="Roboto Mono"/>
                <a:cs typeface="Roboto Mono"/>
                <a:sym typeface="Roboto Mono"/>
              </a:rPr>
              <a:t>PageModel</a:t>
            </a:r>
            <a:r>
              <a:rPr lang="en" sz="1500">
                <a:solidFill>
                  <a:srgbClr val="000000"/>
                </a:solidFill>
                <a:latin typeface="Arial"/>
                <a:ea typeface="Arial"/>
                <a:cs typeface="Arial"/>
                <a:sym typeface="Arial"/>
              </a:rPr>
              <a:t>, so use </a:t>
            </a:r>
            <a:r>
              <a:rPr lang="en" sz="1500">
                <a:solidFill>
                  <a:srgbClr val="188038"/>
                </a:solidFill>
                <a:latin typeface="Roboto Mono"/>
                <a:ea typeface="Roboto Mono"/>
                <a:cs typeface="Roboto Mono"/>
                <a:sym typeface="Roboto Mono"/>
              </a:rPr>
              <a:t>ViewData</a:t>
            </a:r>
            <a:r>
              <a:rPr lang="en" sz="1500">
                <a:solidFill>
                  <a:srgbClr val="000000"/>
                </a:solidFill>
                <a:latin typeface="Arial"/>
                <a:ea typeface="Arial"/>
                <a:cs typeface="Arial"/>
                <a:sym typeface="Arial"/>
              </a:rPr>
              <a:t> or strongly typed </a:t>
            </a:r>
            <a:r>
              <a:rPr lang="en" sz="1500">
                <a:solidFill>
                  <a:srgbClr val="188038"/>
                </a:solidFill>
                <a:latin typeface="Roboto Mono"/>
                <a:ea typeface="Roboto Mono"/>
                <a:cs typeface="Roboto Mono"/>
                <a:sym typeface="Roboto Mono"/>
              </a:rPr>
              <a:t>PageModel</a:t>
            </a:r>
            <a:r>
              <a:rPr lang="en" sz="1500">
                <a:solidFill>
                  <a:srgbClr val="000000"/>
                </a:solidFill>
                <a:latin typeface="Arial"/>
                <a:ea typeface="Arial"/>
                <a:cs typeface="Arial"/>
                <a:sym typeface="Arial"/>
              </a:rPr>
              <a:t> properties instead.</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TempData</a:t>
            </a:r>
            <a:endParaRPr/>
          </a:p>
        </p:txBody>
      </p:sp>
      <p:sp>
        <p:nvSpPr>
          <p:cNvPr id="447" name="Google Shape;447;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SzPts val="1600"/>
              <a:buChar char="●"/>
            </a:pPr>
            <a:r>
              <a:rPr lang="en" sz="1600">
                <a:solidFill>
                  <a:srgbClr val="188038"/>
                </a:solidFill>
                <a:latin typeface="Roboto Mono"/>
                <a:ea typeface="Roboto Mono"/>
                <a:cs typeface="Roboto Mono"/>
                <a:sym typeface="Roboto Mono"/>
              </a:rPr>
              <a:t>TempData</a:t>
            </a:r>
            <a:r>
              <a:rPr lang="en" sz="1600">
                <a:solidFill>
                  <a:srgbClr val="000000"/>
                </a:solidFill>
                <a:latin typeface="Arial"/>
                <a:ea typeface="Arial"/>
                <a:cs typeface="Arial"/>
                <a:sym typeface="Arial"/>
              </a:rPr>
              <a:t> is used to </a:t>
            </a:r>
            <a:r>
              <a:rPr b="1" lang="en" sz="1600">
                <a:solidFill>
                  <a:srgbClr val="000000"/>
                </a:solidFill>
                <a:latin typeface="Arial"/>
                <a:ea typeface="Arial"/>
                <a:cs typeface="Arial"/>
                <a:sym typeface="Arial"/>
              </a:rPr>
              <a:t>pass data from one request to the next request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It is most commonly used </a:t>
            </a:r>
            <a:r>
              <a:rPr b="1" lang="en" sz="1600">
                <a:solidFill>
                  <a:srgbClr val="000000"/>
                </a:solidFill>
                <a:latin typeface="Arial"/>
                <a:ea typeface="Arial"/>
                <a:cs typeface="Arial"/>
                <a:sym typeface="Arial"/>
              </a:rPr>
              <a:t>after a Redirect</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Authentication and Authorization </a:t>
            </a:r>
            <a:endParaRPr/>
          </a:p>
        </p:txBody>
      </p:sp>
      <p:pic>
        <p:nvPicPr>
          <p:cNvPr id="453" name="Google Shape;453;p77"/>
          <p:cNvPicPr preferRelativeResize="0"/>
          <p:nvPr/>
        </p:nvPicPr>
        <p:blipFill>
          <a:blip r:embed="rId3">
            <a:alphaModFix/>
          </a:blip>
          <a:stretch>
            <a:fillRect/>
          </a:stretch>
        </p:blipFill>
        <p:spPr>
          <a:xfrm>
            <a:off x="133350" y="1353007"/>
            <a:ext cx="8877300" cy="26193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ASP.NET Core Flow </a:t>
            </a:r>
            <a:endParaRPr/>
          </a:p>
        </p:txBody>
      </p:sp>
      <p:pic>
        <p:nvPicPr>
          <p:cNvPr id="459" name="Google Shape;459;p78"/>
          <p:cNvPicPr preferRelativeResize="0"/>
          <p:nvPr/>
        </p:nvPicPr>
        <p:blipFill>
          <a:blip r:embed="rId3">
            <a:alphaModFix/>
          </a:blip>
          <a:stretch>
            <a:fillRect/>
          </a:stretch>
        </p:blipFill>
        <p:spPr>
          <a:xfrm>
            <a:off x="311700" y="1121025"/>
            <a:ext cx="2459425" cy="3776725"/>
          </a:xfrm>
          <a:prstGeom prst="rect">
            <a:avLst/>
          </a:prstGeom>
          <a:noFill/>
          <a:ln>
            <a:noFill/>
          </a:ln>
        </p:spPr>
      </p:pic>
      <p:pic>
        <p:nvPicPr>
          <p:cNvPr id="460" name="Google Shape;460;p78"/>
          <p:cNvPicPr preferRelativeResize="0"/>
          <p:nvPr/>
        </p:nvPicPr>
        <p:blipFill>
          <a:blip r:embed="rId4">
            <a:alphaModFix/>
          </a:blip>
          <a:stretch>
            <a:fillRect/>
          </a:stretch>
        </p:blipFill>
        <p:spPr>
          <a:xfrm>
            <a:off x="2771125" y="1650250"/>
            <a:ext cx="6372876" cy="22381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 Auth</a:t>
            </a:r>
            <a:endParaRPr/>
          </a:p>
        </p:txBody>
      </p:sp>
      <p:pic>
        <p:nvPicPr>
          <p:cNvPr id="466" name="Google Shape;466;p79"/>
          <p:cNvPicPr preferRelativeResize="0"/>
          <p:nvPr/>
        </p:nvPicPr>
        <p:blipFill>
          <a:blip r:embed="rId3">
            <a:alphaModFix/>
          </a:blip>
          <a:stretch>
            <a:fillRect/>
          </a:stretch>
        </p:blipFill>
        <p:spPr>
          <a:xfrm>
            <a:off x="5882725" y="0"/>
            <a:ext cx="2273950" cy="4822826"/>
          </a:xfrm>
          <a:prstGeom prst="rect">
            <a:avLst/>
          </a:prstGeom>
          <a:noFill/>
          <a:ln>
            <a:noFill/>
          </a:ln>
        </p:spPr>
      </p:pic>
      <p:sp>
        <p:nvSpPr>
          <p:cNvPr id="467" name="Google Shape;467;p79"/>
          <p:cNvSpPr txBox="1"/>
          <p:nvPr/>
        </p:nvSpPr>
        <p:spPr>
          <a:xfrm>
            <a:off x="206100" y="1641775"/>
            <a:ext cx="53238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AutoNum type="arabicPeriod"/>
            </a:pPr>
            <a:r>
              <a:rPr lang="en" sz="2000"/>
              <a:t>You request </a:t>
            </a:r>
            <a:r>
              <a:rPr lang="en" sz="2000">
                <a:solidFill>
                  <a:srgbClr val="188038"/>
                </a:solidFill>
                <a:latin typeface="Roboto Mono"/>
                <a:ea typeface="Roboto Mono"/>
                <a:cs typeface="Roboto Mono"/>
                <a:sym typeface="Roboto Mono"/>
              </a:rPr>
              <a:t>/Home/Index</a:t>
            </a:r>
            <a:r>
              <a:rPr lang="en" sz="2000"/>
              <a:t>.</a:t>
            </a:r>
            <a:endParaRPr sz="2000"/>
          </a:p>
          <a:p>
            <a:pPr indent="-355600" lvl="0" marL="457200" rtl="0" algn="l">
              <a:spcBef>
                <a:spcPts val="0"/>
              </a:spcBef>
              <a:spcAft>
                <a:spcPts val="0"/>
              </a:spcAft>
              <a:buSzPts val="2000"/>
              <a:buAutoNum type="arabicPeriod"/>
            </a:pPr>
            <a:r>
              <a:rPr lang="en" sz="2000">
                <a:solidFill>
                  <a:srgbClr val="188038"/>
                </a:solidFill>
                <a:latin typeface="Roboto Mono"/>
                <a:ea typeface="Roboto Mono"/>
                <a:cs typeface="Roboto Mono"/>
                <a:sym typeface="Roboto Mono"/>
              </a:rPr>
              <a:t>[Authorize]</a:t>
            </a:r>
            <a:r>
              <a:rPr lang="en" sz="2000"/>
              <a:t> sees you're not authenticated.</a:t>
            </a:r>
            <a:endParaRPr sz="2000"/>
          </a:p>
          <a:p>
            <a:pPr indent="-355600" lvl="0" marL="457200" rtl="0" algn="l">
              <a:spcBef>
                <a:spcPts val="0"/>
              </a:spcBef>
              <a:spcAft>
                <a:spcPts val="0"/>
              </a:spcAft>
              <a:buSzPts val="2000"/>
              <a:buAutoNum type="arabicPeriod"/>
            </a:pPr>
            <a:r>
              <a:rPr lang="en" sz="2000"/>
              <a:t>It redirects to </a:t>
            </a:r>
            <a:r>
              <a:rPr lang="en" sz="2000">
                <a:solidFill>
                  <a:srgbClr val="188038"/>
                </a:solidFill>
                <a:latin typeface="Roboto Mono"/>
                <a:ea typeface="Roboto Mono"/>
                <a:cs typeface="Roboto Mono"/>
                <a:sym typeface="Roboto Mono"/>
              </a:rPr>
              <a:t>/Account/Login</a:t>
            </a:r>
            <a:r>
              <a:rPr lang="en" sz="2000"/>
              <a:t>.</a:t>
            </a:r>
            <a:endParaRPr sz="2000"/>
          </a:p>
          <a:p>
            <a:pPr indent="-355600" lvl="0" marL="457200" rtl="0" algn="l">
              <a:spcBef>
                <a:spcPts val="0"/>
              </a:spcBef>
              <a:spcAft>
                <a:spcPts val="0"/>
              </a:spcAft>
              <a:buSzPts val="2000"/>
              <a:buAutoNum type="arabicPeriod"/>
            </a:pPr>
            <a:r>
              <a:rPr b="1" lang="en" sz="2000"/>
              <a:t>Your </a:t>
            </a:r>
            <a:r>
              <a:rPr b="1" lang="en" sz="2000">
                <a:solidFill>
                  <a:srgbClr val="188038"/>
                </a:solidFill>
                <a:latin typeface="Roboto Mono"/>
                <a:ea typeface="Roboto Mono"/>
                <a:cs typeface="Roboto Mono"/>
                <a:sym typeface="Roboto Mono"/>
              </a:rPr>
              <a:t>Login()</a:t>
            </a:r>
            <a:r>
              <a:rPr b="1" lang="en" sz="2000"/>
              <a:t> action immediately signs you in.</a:t>
            </a:r>
            <a:endParaRPr b="1" sz="2000"/>
          </a:p>
          <a:p>
            <a:pPr indent="-355600" lvl="0" marL="457200" rtl="0" algn="l">
              <a:spcBef>
                <a:spcPts val="0"/>
              </a:spcBef>
              <a:spcAft>
                <a:spcPts val="0"/>
              </a:spcAft>
              <a:buSzPts val="2000"/>
              <a:buAutoNum type="arabicPeriod"/>
            </a:pPr>
            <a:r>
              <a:rPr lang="en" sz="2000"/>
              <a:t>A cookie is created.</a:t>
            </a:r>
            <a:endParaRPr sz="2000"/>
          </a:p>
          <a:p>
            <a:pPr indent="-355600" lvl="0" marL="457200" rtl="0" algn="l">
              <a:spcBef>
                <a:spcPts val="0"/>
              </a:spcBef>
              <a:spcAft>
                <a:spcPts val="0"/>
              </a:spcAft>
              <a:buSzPts val="2000"/>
              <a:buAutoNum type="arabicPeriod"/>
            </a:pPr>
            <a:r>
              <a:rPr lang="en" sz="2000"/>
              <a:t>From then on, every request is authenticated.</a:t>
            </a:r>
            <a:endParaRPr sz="2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80"/>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880"/>
              <a:t>Cookies - </a:t>
            </a:r>
            <a:r>
              <a:rPr lang="en" sz="1880"/>
              <a:t>Understanding</a:t>
            </a:r>
            <a:r>
              <a:rPr lang="en" sz="1880"/>
              <a:t> - Claim Identity, Claim Principal, SignIn Option</a:t>
            </a:r>
            <a:endParaRPr sz="1780"/>
          </a:p>
        </p:txBody>
      </p:sp>
      <p:sp>
        <p:nvSpPr>
          <p:cNvPr id="473" name="Google Shape;473;p80"/>
          <p:cNvSpPr txBox="1"/>
          <p:nvPr>
            <p:ph idx="1" type="body"/>
          </p:nvPr>
        </p:nvSpPr>
        <p:spPr>
          <a:xfrm>
            <a:off x="311700" y="1152475"/>
            <a:ext cx="8520600" cy="37647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SzPts val="935"/>
              <a:buNone/>
            </a:pPr>
            <a:r>
              <a:rPr lang="en" sz="1205"/>
              <a:t>Step 1: Login </a:t>
            </a:r>
            <a:endParaRPr sz="1205"/>
          </a:p>
          <a:p>
            <a:pPr indent="0" lvl="0" marL="0" rtl="0" algn="l">
              <a:lnSpc>
                <a:spcPct val="85000"/>
              </a:lnSpc>
              <a:spcBef>
                <a:spcPts val="1200"/>
              </a:spcBef>
              <a:spcAft>
                <a:spcPts val="0"/>
              </a:spcAft>
              <a:buSzPts val="935"/>
              <a:buNone/>
            </a:pPr>
            <a:r>
              <a:rPr lang="en" sz="1205"/>
              <a:t>Step 2: Create Claims - A claim is information about the logged-in user.  </a:t>
            </a:r>
            <a:endParaRPr sz="1205"/>
          </a:p>
          <a:p>
            <a:pPr indent="0" lvl="0" marL="0" rtl="0" algn="l">
              <a:lnSpc>
                <a:spcPct val="85000"/>
              </a:lnSpc>
              <a:spcBef>
                <a:spcPts val="1200"/>
              </a:spcBef>
              <a:spcAft>
                <a:spcPts val="0"/>
              </a:spcAft>
              <a:buSzPts val="935"/>
              <a:buNone/>
            </a:pPr>
            <a:r>
              <a:rPr lang="en" sz="1205"/>
              <a:t>	Later, you can access User.Identity?.Name </a:t>
            </a:r>
            <a:endParaRPr sz="1205"/>
          </a:p>
          <a:p>
            <a:pPr indent="0" lvl="0" marL="0" rtl="0" algn="l">
              <a:lnSpc>
                <a:spcPct val="85000"/>
              </a:lnSpc>
              <a:spcBef>
                <a:spcPts val="1200"/>
              </a:spcBef>
              <a:spcAft>
                <a:spcPts val="0"/>
              </a:spcAft>
              <a:buSzPts val="935"/>
              <a:buNone/>
            </a:pPr>
            <a:r>
              <a:rPr lang="en" sz="1205"/>
              <a:t>Step 3: Create Identity- A user's identity containing claims and the authentication type. </a:t>
            </a:r>
            <a:endParaRPr sz="1205"/>
          </a:p>
          <a:p>
            <a:pPr indent="0" lvl="0" marL="457200" rtl="0" algn="l">
              <a:lnSpc>
                <a:spcPct val="85000"/>
              </a:lnSpc>
              <a:spcBef>
                <a:spcPts val="0"/>
              </a:spcBef>
              <a:spcAft>
                <a:spcPts val="0"/>
              </a:spcAft>
              <a:buSzPts val="935"/>
              <a:buNone/>
            </a:pPr>
            <a:r>
              <a:t/>
            </a:r>
            <a:endParaRPr sz="1205"/>
          </a:p>
          <a:p>
            <a:pPr indent="0" lvl="0" marL="0" rtl="0" algn="l">
              <a:lnSpc>
                <a:spcPct val="85000"/>
              </a:lnSpc>
              <a:spcBef>
                <a:spcPts val="0"/>
              </a:spcBef>
              <a:spcAft>
                <a:spcPts val="0"/>
              </a:spcAft>
              <a:buSzPts val="935"/>
              <a:buNone/>
            </a:pPr>
            <a:r>
              <a:rPr lang="en" sz="1205"/>
              <a:t>Step 4: Create Principal - Represents the authenticated user and contains one or more identities. </a:t>
            </a:r>
            <a:endParaRPr sz="1205"/>
          </a:p>
          <a:p>
            <a:pPr indent="0" lvl="0" marL="0" rtl="0" algn="l">
              <a:lnSpc>
                <a:spcPct val="85000"/>
              </a:lnSpc>
              <a:spcBef>
                <a:spcPts val="1200"/>
              </a:spcBef>
              <a:spcAft>
                <a:spcPts val="0"/>
              </a:spcAft>
              <a:buSzPts val="935"/>
              <a:buNone/>
            </a:pPr>
            <a:r>
              <a:rPr lang="en" sz="1205"/>
              <a:t>Step 5: Sign In  → Creates the authentication cookie and sends it to the browser </a:t>
            </a:r>
            <a:endParaRPr sz="1205"/>
          </a:p>
          <a:p>
            <a:pPr indent="0" lvl="0" marL="0" rtl="0" algn="l">
              <a:lnSpc>
                <a:spcPct val="85000"/>
              </a:lnSpc>
              <a:spcBef>
                <a:spcPts val="1200"/>
              </a:spcBef>
              <a:spcAft>
                <a:spcPts val="0"/>
              </a:spcAft>
              <a:buSzPts val="935"/>
              <a:buNone/>
            </a:pPr>
            <a:r>
              <a:rPr lang="en" sz="1205"/>
              <a:t>ASP.NET Core:</a:t>
            </a:r>
            <a:endParaRPr sz="1205"/>
          </a:p>
          <a:p>
            <a:pPr indent="-294323" lvl="0" marL="457200" rtl="0" algn="l">
              <a:lnSpc>
                <a:spcPct val="95000"/>
              </a:lnSpc>
              <a:spcBef>
                <a:spcPts val="1200"/>
              </a:spcBef>
              <a:spcAft>
                <a:spcPts val="0"/>
              </a:spcAft>
              <a:buClr>
                <a:srgbClr val="000000"/>
              </a:buClr>
              <a:buSzPts val="1035"/>
              <a:buFont typeface="Arial"/>
              <a:buChar char="●"/>
            </a:pPr>
            <a:r>
              <a:rPr lang="en" sz="1205"/>
              <a:t>Creates an authentication cookie</a:t>
            </a:r>
            <a:endParaRPr sz="1205"/>
          </a:p>
          <a:p>
            <a:pPr indent="-294323" lvl="0" marL="457200" rtl="0" algn="l">
              <a:lnSpc>
                <a:spcPct val="95000"/>
              </a:lnSpc>
              <a:spcBef>
                <a:spcPts val="0"/>
              </a:spcBef>
              <a:spcAft>
                <a:spcPts val="0"/>
              </a:spcAft>
              <a:buClr>
                <a:srgbClr val="000000"/>
              </a:buClr>
              <a:buSzPts val="1035"/>
              <a:buFont typeface="Arial"/>
              <a:buChar char="●"/>
            </a:pPr>
            <a:r>
              <a:rPr lang="en" sz="1205"/>
              <a:t>Stores the encrypted claims inside it</a:t>
            </a:r>
            <a:endParaRPr sz="1205"/>
          </a:p>
          <a:p>
            <a:pPr indent="-294323" lvl="0" marL="457200" rtl="0" algn="l">
              <a:lnSpc>
                <a:spcPct val="95000"/>
              </a:lnSpc>
              <a:spcBef>
                <a:spcPts val="0"/>
              </a:spcBef>
              <a:spcAft>
                <a:spcPts val="0"/>
              </a:spcAft>
              <a:buClr>
                <a:srgbClr val="000000"/>
              </a:buClr>
              <a:buSzPts val="1035"/>
              <a:buFont typeface="Arial"/>
              <a:buChar char="●"/>
            </a:pPr>
            <a:r>
              <a:rPr lang="en" sz="1205"/>
              <a:t>Sends it to the browser</a:t>
            </a:r>
            <a:endParaRPr sz="1205"/>
          </a:p>
          <a:p>
            <a:pPr indent="0" lvl="0" marL="0" rtl="0" algn="l">
              <a:lnSpc>
                <a:spcPct val="95000"/>
              </a:lnSpc>
              <a:spcBef>
                <a:spcPts val="1200"/>
              </a:spcBef>
              <a:spcAft>
                <a:spcPts val="0"/>
              </a:spcAft>
              <a:buNone/>
            </a:pPr>
            <a:r>
              <a:rPr lang="en" sz="1205"/>
              <a:t>Step 6: Redirect on success. Check .AspNetCore.Cookies in Application tab</a:t>
            </a:r>
            <a:endParaRPr sz="1205"/>
          </a:p>
          <a:p>
            <a:pPr indent="0" lvl="0" marL="0" rtl="0" algn="l">
              <a:lnSpc>
                <a:spcPct val="85000"/>
              </a:lnSpc>
              <a:spcBef>
                <a:spcPts val="1200"/>
              </a:spcBef>
              <a:spcAft>
                <a:spcPts val="1200"/>
              </a:spcAft>
              <a:buSzPts val="935"/>
              <a:buNone/>
            </a:pPr>
            <a:r>
              <a:t/>
            </a:r>
            <a:endParaRPr sz="1205"/>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 vs JWT</a:t>
            </a:r>
            <a:endParaRPr/>
          </a:p>
        </p:txBody>
      </p:sp>
      <p:pic>
        <p:nvPicPr>
          <p:cNvPr id="479" name="Google Shape;479;p81"/>
          <p:cNvPicPr preferRelativeResize="0"/>
          <p:nvPr/>
        </p:nvPicPr>
        <p:blipFill>
          <a:blip r:embed="rId3">
            <a:alphaModFix/>
          </a:blip>
          <a:stretch>
            <a:fillRect/>
          </a:stretch>
        </p:blipFill>
        <p:spPr>
          <a:xfrm>
            <a:off x="402663" y="1079225"/>
            <a:ext cx="8067675" cy="36290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82"/>
          <p:cNvPicPr preferRelativeResize="0"/>
          <p:nvPr/>
        </p:nvPicPr>
        <p:blipFill>
          <a:blip r:embed="rId3">
            <a:alphaModFix/>
          </a:blip>
          <a:stretch>
            <a:fillRect/>
          </a:stretch>
        </p:blipFill>
        <p:spPr>
          <a:xfrm>
            <a:off x="161625" y="316075"/>
            <a:ext cx="4007025" cy="4415800"/>
          </a:xfrm>
          <a:prstGeom prst="rect">
            <a:avLst/>
          </a:prstGeom>
          <a:noFill/>
          <a:ln>
            <a:noFill/>
          </a:ln>
        </p:spPr>
      </p:pic>
      <p:pic>
        <p:nvPicPr>
          <p:cNvPr id="485" name="Google Shape;485;p82"/>
          <p:cNvPicPr preferRelativeResize="0"/>
          <p:nvPr/>
        </p:nvPicPr>
        <p:blipFill>
          <a:blip r:embed="rId4">
            <a:alphaModFix/>
          </a:blip>
          <a:stretch>
            <a:fillRect/>
          </a:stretch>
        </p:blipFill>
        <p:spPr>
          <a:xfrm>
            <a:off x="4520100" y="274725"/>
            <a:ext cx="3914775" cy="45568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JWT Flow</a:t>
            </a:r>
            <a:endParaRPr/>
          </a:p>
        </p:txBody>
      </p:sp>
      <p:pic>
        <p:nvPicPr>
          <p:cNvPr id="491" name="Google Shape;491;p83"/>
          <p:cNvPicPr preferRelativeResize="0"/>
          <p:nvPr/>
        </p:nvPicPr>
        <p:blipFill>
          <a:blip r:embed="rId3">
            <a:alphaModFix/>
          </a:blip>
          <a:stretch>
            <a:fillRect/>
          </a:stretch>
        </p:blipFill>
        <p:spPr>
          <a:xfrm>
            <a:off x="3048825" y="195250"/>
            <a:ext cx="2269250" cy="4537999"/>
          </a:xfrm>
          <a:prstGeom prst="rect">
            <a:avLst/>
          </a:prstGeom>
          <a:noFill/>
          <a:ln>
            <a:noFill/>
          </a:ln>
        </p:spPr>
      </p:pic>
      <p:pic>
        <p:nvPicPr>
          <p:cNvPr id="492" name="Google Shape;492;p83"/>
          <p:cNvPicPr preferRelativeResize="0"/>
          <p:nvPr/>
        </p:nvPicPr>
        <p:blipFill>
          <a:blip r:embed="rId4">
            <a:alphaModFix/>
          </a:blip>
          <a:stretch>
            <a:fillRect/>
          </a:stretch>
        </p:blipFill>
        <p:spPr>
          <a:xfrm>
            <a:off x="6396650" y="880425"/>
            <a:ext cx="2524125" cy="30956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Logger in </a:t>
            </a:r>
            <a:r>
              <a:rPr lang="en" u="sng">
                <a:solidFill>
                  <a:schemeClr val="hlink"/>
                </a:solidFill>
                <a:hlinkClick r:id="rId3"/>
              </a:rPr>
              <a:t>asp.net</a:t>
            </a:r>
            <a:r>
              <a:rPr lang="en"/>
              <a:t> core</a:t>
            </a:r>
            <a:endParaRPr/>
          </a:p>
        </p:txBody>
      </p:sp>
      <p:sp>
        <p:nvSpPr>
          <p:cNvPr id="498" name="Google Shape;498;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service </a:t>
            </a:r>
            <a:endParaRPr/>
          </a:p>
          <a:p>
            <a:pPr indent="0" lvl="0" marL="457200" rtl="0" algn="l">
              <a:spcBef>
                <a:spcPts val="0"/>
              </a:spcBef>
              <a:spcAft>
                <a:spcPts val="0"/>
              </a:spcAft>
              <a:buNone/>
            </a:pPr>
            <a:r>
              <a:rPr lang="en" sz="1400"/>
              <a:t>builder.Logging.ClearProviders(); </a:t>
            </a:r>
            <a:endParaRPr sz="1400"/>
          </a:p>
          <a:p>
            <a:pPr indent="0" lvl="0" marL="457200" rtl="0" algn="l">
              <a:spcBef>
                <a:spcPts val="0"/>
              </a:spcBef>
              <a:spcAft>
                <a:spcPts val="0"/>
              </a:spcAft>
              <a:buNone/>
            </a:pPr>
            <a:r>
              <a:rPr lang="en" sz="1400"/>
              <a:t>builder.Logging.AddConsole(); </a:t>
            </a:r>
            <a:endParaRPr sz="1400"/>
          </a:p>
          <a:p>
            <a:pPr indent="0" lvl="0" marL="457200" rtl="0" algn="l">
              <a:spcBef>
                <a:spcPts val="0"/>
              </a:spcBef>
              <a:spcAft>
                <a:spcPts val="0"/>
              </a:spcAft>
              <a:buNone/>
            </a:pPr>
            <a:r>
              <a:rPr lang="en" sz="1400"/>
              <a:t>builder.Logging.AddDebug(); </a:t>
            </a:r>
            <a:endParaRPr sz="1400"/>
          </a:p>
          <a:p>
            <a:pPr indent="0" lvl="0" marL="457200" rtl="0" algn="l">
              <a:spcBef>
                <a:spcPts val="0"/>
              </a:spcBef>
              <a:spcAft>
                <a:spcPts val="0"/>
              </a:spcAft>
              <a:buNone/>
            </a:pPr>
            <a:r>
              <a:rPr lang="en" sz="1400"/>
              <a:t>builder.Logging.AddEventLog();</a:t>
            </a:r>
            <a:endParaRPr sz="1400"/>
          </a:p>
          <a:p>
            <a:pPr indent="-342900" lvl="0" marL="457200" rtl="0" algn="l">
              <a:spcBef>
                <a:spcPts val="0"/>
              </a:spcBef>
              <a:spcAft>
                <a:spcPts val="0"/>
              </a:spcAft>
              <a:buSzPts val="1800"/>
              <a:buChar char="●"/>
            </a:pPr>
            <a:r>
              <a:rPr lang="en"/>
              <a:t>Update appsettings.json </a:t>
            </a:r>
            <a:endParaRPr/>
          </a:p>
          <a:p>
            <a:pPr indent="0" lvl="0" marL="0" rtl="0" algn="l">
              <a:spcBef>
                <a:spcPts val="1200"/>
              </a:spcBef>
              <a:spcAft>
                <a:spcPts val="0"/>
              </a:spcAft>
              <a:buNone/>
            </a:pPr>
            <a:r>
              <a:rPr lang="en" sz="1500"/>
              <a:t>{ "Logging": { "LogLevel": { "Default": "Information", "Microsoft": "Warning", "Microsoft.AspNetCore": "Warning" } } } </a:t>
            </a:r>
            <a:endParaRPr sz="1500"/>
          </a:p>
          <a:p>
            <a:pPr indent="-342900" lvl="0" marL="457200" rtl="0" algn="l">
              <a:spcBef>
                <a:spcPts val="1200"/>
              </a:spcBef>
              <a:spcAft>
                <a:spcPts val="0"/>
              </a:spcAft>
              <a:buSzPts val="1800"/>
              <a:buChar char="●"/>
            </a:pPr>
            <a:r>
              <a:rPr lang="en"/>
              <a:t>Configure ILogger to controller, razor page, service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ASP.NET Core - Serilog </a:t>
            </a:r>
            <a:endParaRPr/>
          </a:p>
        </p:txBody>
      </p:sp>
      <p:sp>
        <p:nvSpPr>
          <p:cNvPr id="504" name="Google Shape;504;p85"/>
          <p:cNvSpPr txBox="1"/>
          <p:nvPr>
            <p:ph idx="1" type="body"/>
          </p:nvPr>
        </p:nvSpPr>
        <p:spPr>
          <a:xfrm>
            <a:off x="311700" y="1152475"/>
            <a:ext cx="3766500" cy="3630000"/>
          </a:xfrm>
          <a:prstGeom prst="rect">
            <a:avLst/>
          </a:prstGeom>
        </p:spPr>
        <p:txBody>
          <a:bodyPr anchorCtr="0" anchor="t" bIns="91425" lIns="91425" spcFirstLastPara="1" rIns="91425" wrap="square" tIns="91425">
            <a:noAutofit/>
          </a:bodyPr>
          <a:lstStyle/>
          <a:p>
            <a:pPr indent="-317976" lvl="0" marL="457200" rtl="0" algn="l">
              <a:lnSpc>
                <a:spcPct val="95000"/>
              </a:lnSpc>
              <a:spcBef>
                <a:spcPts val="1800"/>
              </a:spcBef>
              <a:spcAft>
                <a:spcPts val="0"/>
              </a:spcAft>
              <a:buClr>
                <a:srgbClr val="000000"/>
              </a:buClr>
              <a:buSzPts val="1408"/>
              <a:buFont typeface="Arial"/>
              <a:buChar char="●"/>
            </a:pPr>
            <a:r>
              <a:rPr lang="en" sz="1265"/>
              <a:t>Install NuGet Packages</a:t>
            </a:r>
            <a:endParaRPr sz="1408">
              <a:solidFill>
                <a:srgbClr val="000000"/>
              </a:solidFill>
              <a:latin typeface="Arial"/>
              <a:ea typeface="Arial"/>
              <a:cs typeface="Arial"/>
              <a:sym typeface="Arial"/>
            </a:endParaRPr>
          </a:p>
          <a:p>
            <a:pPr indent="-299879" lvl="1" marL="914400" rtl="0" algn="l">
              <a:lnSpc>
                <a:spcPct val="95000"/>
              </a:lnSpc>
              <a:spcBef>
                <a:spcPts val="0"/>
              </a:spcBef>
              <a:spcAft>
                <a:spcPts val="0"/>
              </a:spcAft>
              <a:buClr>
                <a:srgbClr val="000000"/>
              </a:buClr>
              <a:buSzPts val="1123"/>
              <a:buFont typeface="Arial"/>
              <a:buChar char="○"/>
            </a:pPr>
            <a:r>
              <a:rPr lang="en" sz="1265"/>
              <a:t>Serilog.AspNetCore</a:t>
            </a:r>
            <a:endParaRPr sz="1265"/>
          </a:p>
          <a:p>
            <a:pPr indent="-299879" lvl="1" marL="914400" rtl="0" algn="l">
              <a:lnSpc>
                <a:spcPct val="95000"/>
              </a:lnSpc>
              <a:spcBef>
                <a:spcPts val="0"/>
              </a:spcBef>
              <a:spcAft>
                <a:spcPts val="0"/>
              </a:spcAft>
              <a:buClr>
                <a:srgbClr val="000000"/>
              </a:buClr>
              <a:buSzPts val="1123"/>
              <a:buFont typeface="Arial"/>
              <a:buChar char="○"/>
            </a:pPr>
            <a:r>
              <a:rPr lang="en" sz="1265"/>
              <a:t>Serilog.Sinks.File</a:t>
            </a:r>
            <a:endParaRPr sz="1123">
              <a:solidFill>
                <a:srgbClr val="000000"/>
              </a:solidFill>
              <a:latin typeface="Arial"/>
              <a:ea typeface="Arial"/>
              <a:cs typeface="Arial"/>
              <a:sym typeface="Arial"/>
            </a:endParaRPr>
          </a:p>
          <a:p>
            <a:pPr indent="0" lvl="0" marL="914400" rtl="0" algn="l">
              <a:lnSpc>
                <a:spcPct val="95000"/>
              </a:lnSpc>
              <a:spcBef>
                <a:spcPts val="0"/>
              </a:spcBef>
              <a:spcAft>
                <a:spcPts val="0"/>
              </a:spcAft>
              <a:buSzPts val="523"/>
              <a:buNone/>
            </a:pPr>
            <a:r>
              <a:t/>
            </a:r>
            <a:endParaRPr sz="1123">
              <a:solidFill>
                <a:srgbClr val="000000"/>
              </a:solidFill>
              <a:latin typeface="Arial"/>
              <a:ea typeface="Arial"/>
              <a:cs typeface="Arial"/>
              <a:sym typeface="Arial"/>
            </a:endParaRPr>
          </a:p>
          <a:p>
            <a:pPr indent="-320993" lvl="0" marL="457200" rtl="0" algn="l">
              <a:lnSpc>
                <a:spcPct val="95000"/>
              </a:lnSpc>
              <a:spcBef>
                <a:spcPts val="0"/>
              </a:spcBef>
              <a:spcAft>
                <a:spcPts val="0"/>
              </a:spcAft>
              <a:buSzPts val="1455"/>
              <a:buChar char="●"/>
            </a:pPr>
            <a:r>
              <a:rPr lang="en" sz="1265"/>
              <a:t>Add Service </a:t>
            </a:r>
            <a:endParaRPr sz="1455"/>
          </a:p>
          <a:p>
            <a:pPr indent="0" lvl="0" marL="457200" rtl="0" algn="l">
              <a:lnSpc>
                <a:spcPct val="95000"/>
              </a:lnSpc>
              <a:spcBef>
                <a:spcPts val="1200"/>
              </a:spcBef>
              <a:spcAft>
                <a:spcPts val="0"/>
              </a:spcAft>
              <a:buSzPts val="523"/>
              <a:buNone/>
            </a:pPr>
            <a:r>
              <a:rPr lang="en" sz="1265"/>
              <a:t>builder.Host.UseSerilog(); </a:t>
            </a:r>
            <a:endParaRPr sz="1265"/>
          </a:p>
          <a:p>
            <a:pPr indent="-308928" lvl="0" marL="457200" rtl="0" algn="l">
              <a:lnSpc>
                <a:spcPct val="95000"/>
              </a:lnSpc>
              <a:spcBef>
                <a:spcPts val="1200"/>
              </a:spcBef>
              <a:spcAft>
                <a:spcPts val="0"/>
              </a:spcAft>
              <a:buSzPts val="1265"/>
              <a:buChar char="●"/>
            </a:pPr>
            <a:r>
              <a:rPr lang="en" sz="1265"/>
              <a:t>Remove </a:t>
            </a:r>
            <a:endParaRPr sz="1265"/>
          </a:p>
          <a:p>
            <a:pPr indent="0" lvl="0" marL="914400" rtl="0" algn="l">
              <a:lnSpc>
                <a:spcPct val="95000"/>
              </a:lnSpc>
              <a:spcBef>
                <a:spcPts val="1200"/>
              </a:spcBef>
              <a:spcAft>
                <a:spcPts val="0"/>
              </a:spcAft>
              <a:buSzPts val="523"/>
              <a:buNone/>
            </a:pPr>
            <a:r>
              <a:rPr lang="en" sz="1265"/>
              <a:t>builder.Logging.ClearProviders(); </a:t>
            </a:r>
            <a:endParaRPr sz="1265"/>
          </a:p>
          <a:p>
            <a:pPr indent="0" lvl="0" marL="914400" rtl="0" algn="l">
              <a:lnSpc>
                <a:spcPct val="95000"/>
              </a:lnSpc>
              <a:spcBef>
                <a:spcPts val="1200"/>
              </a:spcBef>
              <a:spcAft>
                <a:spcPts val="0"/>
              </a:spcAft>
              <a:buSzPts val="523"/>
              <a:buNone/>
            </a:pPr>
            <a:r>
              <a:rPr lang="en" sz="1265"/>
              <a:t>builder.Logging.AddConsole(); </a:t>
            </a:r>
            <a:endParaRPr sz="1265"/>
          </a:p>
          <a:p>
            <a:pPr indent="0" lvl="0" marL="914400" rtl="0" algn="l">
              <a:lnSpc>
                <a:spcPct val="95000"/>
              </a:lnSpc>
              <a:spcBef>
                <a:spcPts val="1200"/>
              </a:spcBef>
              <a:spcAft>
                <a:spcPts val="0"/>
              </a:spcAft>
              <a:buSzPts val="523"/>
              <a:buNone/>
            </a:pPr>
            <a:r>
              <a:rPr lang="en" sz="1265"/>
              <a:t>builder.Logging.AddDebug(); </a:t>
            </a:r>
            <a:endParaRPr sz="1265"/>
          </a:p>
          <a:p>
            <a:pPr indent="-308928" lvl="0" marL="457200" rtl="0" algn="l">
              <a:lnSpc>
                <a:spcPct val="95000"/>
              </a:lnSpc>
              <a:spcBef>
                <a:spcPts val="1200"/>
              </a:spcBef>
              <a:spcAft>
                <a:spcPts val="0"/>
              </a:spcAft>
              <a:buSzPts val="1265"/>
              <a:buChar char="●"/>
            </a:pPr>
            <a:r>
              <a:rPr lang="en" sz="1265"/>
              <a:t>Keep below for windows event </a:t>
            </a:r>
            <a:endParaRPr sz="1265"/>
          </a:p>
          <a:p>
            <a:pPr indent="0" lvl="0" marL="914400" rtl="0" algn="l">
              <a:lnSpc>
                <a:spcPct val="95000"/>
              </a:lnSpc>
              <a:spcBef>
                <a:spcPts val="1200"/>
              </a:spcBef>
              <a:spcAft>
                <a:spcPts val="0"/>
              </a:spcAft>
              <a:buSzPts val="523"/>
              <a:buNone/>
            </a:pPr>
            <a:r>
              <a:rPr lang="en" sz="1265"/>
              <a:t>builder.Logging.AddEventLog(); </a:t>
            </a:r>
            <a:endParaRPr sz="1265"/>
          </a:p>
          <a:p>
            <a:pPr indent="0" lvl="0" marL="0" rtl="0" algn="l">
              <a:lnSpc>
                <a:spcPct val="115714"/>
              </a:lnSpc>
              <a:spcBef>
                <a:spcPts val="1200"/>
              </a:spcBef>
              <a:spcAft>
                <a:spcPts val="0"/>
              </a:spcAft>
              <a:buSzPts val="523"/>
              <a:buNone/>
            </a:pPr>
            <a:r>
              <a:rPr lang="en" sz="1099">
                <a:solidFill>
                  <a:srgbClr val="E6EDF3"/>
                </a:solidFill>
                <a:highlight>
                  <a:srgbClr val="0D1117"/>
                </a:highlight>
                <a:latin typeface="Courier New"/>
                <a:ea typeface="Courier New"/>
                <a:cs typeface="Courier New"/>
                <a:sym typeface="Courier New"/>
              </a:rPr>
              <a:t>   </a:t>
            </a:r>
            <a:endParaRPr sz="1099">
              <a:solidFill>
                <a:srgbClr val="E6EDF3"/>
              </a:solidFill>
              <a:highlight>
                <a:srgbClr val="0D1117"/>
              </a:highlight>
              <a:latin typeface="Courier New"/>
              <a:ea typeface="Courier New"/>
              <a:cs typeface="Courier New"/>
              <a:sym typeface="Courier New"/>
            </a:endParaRPr>
          </a:p>
          <a:p>
            <a:pPr indent="0" lvl="0" marL="914400" rtl="0" algn="l">
              <a:lnSpc>
                <a:spcPct val="95000"/>
              </a:lnSpc>
              <a:spcBef>
                <a:spcPts val="0"/>
              </a:spcBef>
              <a:spcAft>
                <a:spcPts val="1200"/>
              </a:spcAft>
              <a:buSzPts val="523"/>
              <a:buNone/>
            </a:pPr>
            <a:r>
              <a:t/>
            </a:r>
            <a:endParaRPr sz="1265"/>
          </a:p>
        </p:txBody>
      </p:sp>
      <p:sp>
        <p:nvSpPr>
          <p:cNvPr id="505" name="Google Shape;505;p85"/>
          <p:cNvSpPr txBox="1"/>
          <p:nvPr/>
        </p:nvSpPr>
        <p:spPr>
          <a:xfrm>
            <a:off x="4919550" y="1152475"/>
            <a:ext cx="3262800" cy="3763500"/>
          </a:xfrm>
          <a:prstGeom prst="rect">
            <a:avLst/>
          </a:prstGeom>
          <a:noFill/>
          <a:ln>
            <a:noFill/>
          </a:ln>
        </p:spPr>
        <p:txBody>
          <a:bodyPr anchorCtr="0" anchor="t" bIns="91425" lIns="91425" spcFirstLastPara="1" rIns="91425" wrap="square" tIns="91425">
            <a:spAutoFit/>
          </a:bodyPr>
          <a:lstStyle/>
          <a:p>
            <a:pPr indent="-308928" lvl="0" marL="457200" rtl="0" algn="l">
              <a:lnSpc>
                <a:spcPct val="95000"/>
              </a:lnSpc>
              <a:spcBef>
                <a:spcPts val="0"/>
              </a:spcBef>
              <a:spcAft>
                <a:spcPts val="0"/>
              </a:spcAft>
              <a:buClr>
                <a:schemeClr val="dk2"/>
              </a:buClr>
              <a:buSzPts val="1265"/>
              <a:buFont typeface="Lato"/>
              <a:buChar char="●"/>
            </a:pPr>
            <a:r>
              <a:rPr lang="en" sz="1265">
                <a:solidFill>
                  <a:schemeClr val="dk2"/>
                </a:solidFill>
                <a:latin typeface="Lato"/>
                <a:ea typeface="Lato"/>
                <a:cs typeface="Lato"/>
                <a:sym typeface="Lato"/>
              </a:rPr>
              <a:t>Add logger </a:t>
            </a:r>
            <a:endParaRPr sz="1265">
              <a:solidFill>
                <a:schemeClr val="dk2"/>
              </a:solidFill>
              <a:latin typeface="Lato"/>
              <a:ea typeface="Lato"/>
              <a:cs typeface="Lato"/>
              <a:sym typeface="Lato"/>
            </a:endParaRPr>
          </a:p>
          <a:p>
            <a:pPr indent="0" lvl="0" marL="0" rtl="0" algn="l">
              <a:lnSpc>
                <a:spcPct val="135714"/>
              </a:lnSpc>
              <a:spcBef>
                <a:spcPts val="1200"/>
              </a:spcBef>
              <a:spcAft>
                <a:spcPts val="0"/>
              </a:spcAft>
              <a:buNone/>
            </a:pPr>
            <a:r>
              <a:rPr lang="en" sz="1050">
                <a:solidFill>
                  <a:srgbClr val="FF7B72"/>
                </a:solidFill>
                <a:highlight>
                  <a:srgbClr val="0D1117"/>
                </a:highlight>
                <a:latin typeface="Courier New"/>
                <a:ea typeface="Courier New"/>
                <a:cs typeface="Courier New"/>
                <a:sym typeface="Courier New"/>
              </a:rPr>
              <a:t>var</a:t>
            </a:r>
            <a:r>
              <a:rPr lang="en" sz="1050">
                <a:solidFill>
                  <a:srgbClr val="E6EDF3"/>
                </a:solidFill>
                <a:highlight>
                  <a:srgbClr val="0D1117"/>
                </a:highlight>
                <a:latin typeface="Courier New"/>
                <a:ea typeface="Courier New"/>
                <a:cs typeface="Courier New"/>
                <a:sym typeface="Courier New"/>
              </a:rPr>
              <a:t> logConfig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new</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LoggerConfiguration</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WriteTo</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Console</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WriteTo</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File</a:t>
            </a:r>
            <a:r>
              <a:rPr lang="en" sz="1050">
                <a:solidFill>
                  <a:srgbClr val="E6EDF3"/>
                </a:solidFill>
                <a:highlight>
                  <a:srgbClr val="0D1117"/>
                </a:highlight>
                <a:latin typeface="Courier New"/>
                <a:ea typeface="Courier New"/>
                <a:cs typeface="Courier New"/>
                <a:sym typeface="Courier New"/>
              </a:rPr>
              <a:t>(</a:t>
            </a:r>
            <a:r>
              <a:rPr lang="en" sz="1050">
                <a:solidFill>
                  <a:srgbClr val="A5D6FF"/>
                </a:solidFill>
                <a:highlight>
                  <a:srgbClr val="0D1117"/>
                </a:highlight>
                <a:latin typeface="Courier New"/>
                <a:ea typeface="Courier New"/>
                <a:cs typeface="Courier New"/>
                <a:sym typeface="Courier New"/>
              </a:rPr>
              <a:t>"Logs/log-.txt"</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rollingInterval</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RollingInterval</a:t>
            </a:r>
            <a:r>
              <a:rPr lang="en" sz="1050">
                <a:solidFill>
                  <a:srgbClr val="FF7B72"/>
                </a:solidFill>
                <a:highlight>
                  <a:srgbClr val="0D1117"/>
                </a:highlight>
                <a:latin typeface="Courier New"/>
                <a:ea typeface="Courier New"/>
                <a:cs typeface="Courier New"/>
                <a:sym typeface="Courier New"/>
              </a:rPr>
              <a:t>.</a:t>
            </a:r>
            <a:r>
              <a:rPr lang="en" sz="1050">
                <a:solidFill>
                  <a:srgbClr val="79C0FF"/>
                </a:solidFill>
                <a:highlight>
                  <a:srgbClr val="0D1117"/>
                </a:highlight>
                <a:latin typeface="Courier New"/>
                <a:ea typeface="Courier New"/>
                <a:cs typeface="Courier New"/>
                <a:sym typeface="Courier New"/>
              </a:rPr>
              <a:t>Day</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FF7B72"/>
                </a:solidFill>
                <a:highlight>
                  <a:srgbClr val="0D1117"/>
                </a:highlight>
                <a:latin typeface="Courier New"/>
                <a:ea typeface="Courier New"/>
                <a:cs typeface="Courier New"/>
                <a:sym typeface="Courier New"/>
              </a:rPr>
              <a:t>if</a:t>
            </a: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OperatingSystem</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IsWindows</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logConfig</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WriteTo</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EventLog</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source</a:t>
            </a:r>
            <a:r>
              <a:rPr lang="en" sz="1050">
                <a:solidFill>
                  <a:srgbClr val="E6EDF3"/>
                </a:solidFill>
                <a:highlight>
                  <a:srgbClr val="0D1117"/>
                </a:highlight>
                <a:latin typeface="Courier New"/>
                <a:ea typeface="Courier New"/>
                <a:cs typeface="Courier New"/>
                <a:sym typeface="Courier New"/>
              </a:rPr>
              <a:t>: </a:t>
            </a:r>
            <a:r>
              <a:rPr lang="en" sz="1050">
                <a:solidFill>
                  <a:srgbClr val="A5D6FF"/>
                </a:solidFill>
                <a:highlight>
                  <a:srgbClr val="0D1117"/>
                </a:highlight>
                <a:latin typeface="Courier New"/>
                <a:ea typeface="Courier New"/>
                <a:cs typeface="Courier New"/>
                <a:sym typeface="Courier New"/>
              </a:rPr>
              <a:t>"BookManagement"</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        </a:t>
            </a:r>
            <a:r>
              <a:rPr lang="en" sz="1050">
                <a:solidFill>
                  <a:srgbClr val="FFA657"/>
                </a:solidFill>
                <a:highlight>
                  <a:srgbClr val="0D1117"/>
                </a:highlight>
                <a:latin typeface="Courier New"/>
                <a:ea typeface="Courier New"/>
                <a:cs typeface="Courier New"/>
                <a:sym typeface="Courier New"/>
              </a:rPr>
              <a:t>manageEventSource</a:t>
            </a:r>
            <a:r>
              <a:rPr lang="en" sz="1050">
                <a:solidFill>
                  <a:srgbClr val="E6EDF3"/>
                </a:solidFill>
                <a:highlight>
                  <a:srgbClr val="0D1117"/>
                </a:highlight>
                <a:latin typeface="Courier New"/>
                <a:ea typeface="Courier New"/>
                <a:cs typeface="Courier New"/>
                <a:sym typeface="Courier New"/>
              </a:rPr>
              <a:t>: </a:t>
            </a:r>
            <a:r>
              <a:rPr lang="en" sz="1050">
                <a:solidFill>
                  <a:srgbClr val="FF7B72"/>
                </a:solidFill>
                <a:highlight>
                  <a:srgbClr val="0D1117"/>
                </a:highlight>
                <a:latin typeface="Courier New"/>
                <a:ea typeface="Courier New"/>
                <a:cs typeface="Courier New"/>
                <a:sym typeface="Courier New"/>
              </a:rPr>
              <a:t>true</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E6EDF3"/>
              </a:solidFill>
              <a:highlight>
                <a:srgbClr val="0D111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FFA657"/>
                </a:solidFill>
                <a:highlight>
                  <a:srgbClr val="0D1117"/>
                </a:highlight>
                <a:latin typeface="Courier New"/>
                <a:ea typeface="Courier New"/>
                <a:cs typeface="Courier New"/>
                <a:sym typeface="Courier New"/>
              </a:rPr>
              <a:t>Log</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Logger </a:t>
            </a:r>
            <a:r>
              <a:rPr lang="en" sz="1050">
                <a:solidFill>
                  <a:srgbClr val="FF7B72"/>
                </a:solidFill>
                <a:highlight>
                  <a:srgbClr val="0D1117"/>
                </a:highlight>
                <a:latin typeface="Courier New"/>
                <a:ea typeface="Courier New"/>
                <a:cs typeface="Courier New"/>
                <a:sym typeface="Courier New"/>
              </a:rPr>
              <a:t>=</a:t>
            </a:r>
            <a:r>
              <a:rPr lang="en" sz="1050">
                <a:solidFill>
                  <a:srgbClr val="E6EDF3"/>
                </a:solidFill>
                <a:highlight>
                  <a:srgbClr val="0D1117"/>
                </a:highlight>
                <a:latin typeface="Courier New"/>
                <a:ea typeface="Courier New"/>
                <a:cs typeface="Courier New"/>
                <a:sym typeface="Courier New"/>
              </a:rPr>
              <a:t> logConfig</a:t>
            </a:r>
            <a:r>
              <a:rPr lang="en" sz="1050">
                <a:solidFill>
                  <a:srgbClr val="FF7B72"/>
                </a:solidFill>
                <a:highlight>
                  <a:srgbClr val="0D1117"/>
                </a:highlight>
                <a:latin typeface="Courier New"/>
                <a:ea typeface="Courier New"/>
                <a:cs typeface="Courier New"/>
                <a:sym typeface="Courier New"/>
              </a:rPr>
              <a:t>.</a:t>
            </a:r>
            <a:r>
              <a:rPr lang="en" sz="1050">
                <a:solidFill>
                  <a:srgbClr val="D2A8FF"/>
                </a:solidFill>
                <a:highlight>
                  <a:srgbClr val="0D1117"/>
                </a:highlight>
                <a:latin typeface="Courier New"/>
                <a:ea typeface="Courier New"/>
                <a:cs typeface="Courier New"/>
                <a:sym typeface="Courier New"/>
              </a:rPr>
              <a:t>CreateLogger</a:t>
            </a:r>
            <a:r>
              <a:rPr lang="en" sz="1050">
                <a:solidFill>
                  <a:srgbClr val="E6EDF3"/>
                </a:solidFill>
                <a:highlight>
                  <a:srgbClr val="0D1117"/>
                </a:highlight>
                <a:latin typeface="Courier New"/>
                <a:ea typeface="Courier New"/>
                <a:cs typeface="Courier New"/>
                <a:sym typeface="Courier New"/>
              </a:rPr>
              <a:t>();</a:t>
            </a:r>
            <a:endParaRPr sz="1050">
              <a:solidFill>
                <a:srgbClr val="E6EDF3"/>
              </a:solidFill>
              <a:highlight>
                <a:srgbClr val="0D1117"/>
              </a:highlight>
              <a:latin typeface="Courier New"/>
              <a:ea typeface="Courier New"/>
              <a:cs typeface="Courier New"/>
              <a:sym typeface="Courier New"/>
            </a:endParaRPr>
          </a:p>
          <a:p>
            <a:pPr indent="0" lvl="0" marL="457200" rtl="0" algn="l">
              <a:lnSpc>
                <a:spcPct val="115714"/>
              </a:lnSpc>
              <a:spcBef>
                <a:spcPts val="0"/>
              </a:spcBef>
              <a:spcAft>
                <a:spcPts val="0"/>
              </a:spcAft>
              <a:buNone/>
            </a:pPr>
            <a:r>
              <a:t/>
            </a:r>
            <a:endParaRPr sz="1099">
              <a:solidFill>
                <a:srgbClr val="FFA657"/>
              </a:solidFill>
              <a:highlight>
                <a:srgbClr val="0D1117"/>
              </a:highlight>
              <a:latin typeface="Courier New"/>
              <a:ea typeface="Courier New"/>
              <a:cs typeface="Courier New"/>
              <a:sym typeface="Courier New"/>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IIS</a:t>
            </a:r>
            <a:endParaRPr/>
          </a:p>
        </p:txBody>
      </p:sp>
      <p:sp>
        <p:nvSpPr>
          <p:cNvPr id="511" name="Google Shape;511;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2" name="Google Shape;512;p86"/>
          <p:cNvPicPr preferRelativeResize="0"/>
          <p:nvPr/>
        </p:nvPicPr>
        <p:blipFill>
          <a:blip r:embed="rId3">
            <a:alphaModFix/>
          </a:blip>
          <a:stretch>
            <a:fillRect/>
          </a:stretch>
        </p:blipFill>
        <p:spPr>
          <a:xfrm>
            <a:off x="350188" y="1152475"/>
            <a:ext cx="2962275" cy="3486150"/>
          </a:xfrm>
          <a:prstGeom prst="rect">
            <a:avLst/>
          </a:prstGeom>
          <a:noFill/>
          <a:ln>
            <a:noFill/>
          </a:ln>
        </p:spPr>
      </p:pic>
      <p:pic>
        <p:nvPicPr>
          <p:cNvPr id="513" name="Google Shape;513;p86"/>
          <p:cNvPicPr preferRelativeResize="0"/>
          <p:nvPr/>
        </p:nvPicPr>
        <p:blipFill>
          <a:blip r:embed="rId4">
            <a:alphaModFix/>
          </a:blip>
          <a:stretch>
            <a:fillRect/>
          </a:stretch>
        </p:blipFill>
        <p:spPr>
          <a:xfrm>
            <a:off x="3844238" y="547688"/>
            <a:ext cx="3000375" cy="43529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Enable IIS and Verify it</a:t>
            </a:r>
            <a:endParaRPr/>
          </a:p>
        </p:txBody>
      </p:sp>
      <p:sp>
        <p:nvSpPr>
          <p:cNvPr id="519" name="Google Shape;519;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en"/>
              <a:t>Open</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b="1" lang="en" sz="1100">
                <a:solidFill>
                  <a:srgbClr val="000000"/>
                </a:solidFill>
                <a:latin typeface="Arial"/>
                <a:ea typeface="Arial"/>
                <a:cs typeface="Arial"/>
                <a:sym typeface="Arial"/>
              </a:rPr>
              <a:t>Control Panel → Programs → Turn Windows features on or off</a:t>
            </a:r>
            <a:endParaRPr b="1"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Enable:</a:t>
            </a:r>
            <a:endParaRPr sz="1100">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Internet Information Services (IIS)</a:t>
            </a:r>
            <a:endParaRPr sz="1100">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World Wide Web Services</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Click </a:t>
            </a:r>
            <a:r>
              <a:rPr b="1" lang="en" sz="1100">
                <a:solidFill>
                  <a:srgbClr val="000000"/>
                </a:solidFill>
                <a:latin typeface="Arial"/>
                <a:ea typeface="Arial"/>
                <a:cs typeface="Arial"/>
                <a:sym typeface="Arial"/>
              </a:rPr>
              <a:t>OK</a:t>
            </a:r>
            <a:r>
              <a:rPr lang="en" sz="1100">
                <a:solidFill>
                  <a:srgbClr val="000000"/>
                </a:solidFill>
                <a:latin typeface="Arial"/>
                <a:ea typeface="Arial"/>
                <a:cs typeface="Arial"/>
                <a:sym typeface="Arial"/>
              </a:rPr>
              <a:t> and wait for installation.</a:t>
            </a:r>
            <a:endParaRPr sz="11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Verify IIS Installation </a:t>
            </a:r>
            <a:endParaRPr/>
          </a:p>
          <a:p>
            <a:pPr indent="-317500" lvl="1" marL="914400" rtl="0" algn="l">
              <a:spcBef>
                <a:spcPts val="0"/>
              </a:spcBef>
              <a:spcAft>
                <a:spcPts val="0"/>
              </a:spcAft>
              <a:buSzPts val="1400"/>
              <a:buChar char="○"/>
            </a:pPr>
            <a:r>
              <a:rPr lang="en"/>
              <a:t>http://localhost </a:t>
            </a:r>
            <a:endParaRPr/>
          </a:p>
          <a:p>
            <a:pPr indent="-317500" lvl="1" marL="914400" rtl="0" algn="l">
              <a:spcBef>
                <a:spcPts val="0"/>
              </a:spcBef>
              <a:spcAft>
                <a:spcPts val="0"/>
              </a:spcAft>
              <a:buSzPts val="1400"/>
              <a:buChar char="○"/>
            </a:pPr>
            <a:r>
              <a:rPr lang="en" sz="1100">
                <a:solidFill>
                  <a:srgbClr val="000000"/>
                </a:solidFill>
                <a:latin typeface="Arial"/>
                <a:ea typeface="Arial"/>
                <a:cs typeface="Arial"/>
                <a:sym typeface="Arial"/>
              </a:rPr>
              <a:t>You should see the </a:t>
            </a:r>
            <a:r>
              <a:rPr b="1" lang="en" sz="1100">
                <a:solidFill>
                  <a:srgbClr val="000000"/>
                </a:solidFill>
                <a:latin typeface="Arial"/>
                <a:ea typeface="Arial"/>
                <a:cs typeface="Arial"/>
                <a:sym typeface="Arial"/>
              </a:rPr>
              <a:t>IIS Welcome Page</a:t>
            </a:r>
            <a:r>
              <a:rPr lang="en" sz="1100">
                <a:solidFill>
                  <a:srgbClr val="000000"/>
                </a:solidFill>
                <a:latin typeface="Arial"/>
                <a:ea typeface="Arial"/>
                <a:cs typeface="Arial"/>
                <a:sym typeface="Arial"/>
              </a:rPr>
              <a:t>.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a:t>
            </a:r>
            <a:r>
              <a:rPr lang="en" u="sng">
                <a:solidFill>
                  <a:schemeClr val="hlink"/>
                </a:solidFill>
                <a:hlinkClick r:id="rId3"/>
              </a:rPr>
              <a:t>asp.net</a:t>
            </a:r>
            <a:r>
              <a:rPr lang="en"/>
              <a:t> core 10 apps </a:t>
            </a:r>
            <a:endParaRPr/>
          </a:p>
        </p:txBody>
      </p:sp>
      <p:sp>
        <p:nvSpPr>
          <p:cNvPr id="525" name="Google Shape;525;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Install .NET SDK 10 </a:t>
            </a:r>
            <a:endParaRPr/>
          </a:p>
          <a:p>
            <a:pPr indent="0" lvl="0" marL="457200" rtl="0" algn="l">
              <a:spcBef>
                <a:spcPts val="1200"/>
              </a:spcBef>
              <a:spcAft>
                <a:spcPts val="0"/>
              </a:spcAft>
              <a:buNone/>
            </a:pPr>
            <a:r>
              <a:rPr lang="en"/>
              <a:t>Verify -&gt; dotnet --list-sdks </a:t>
            </a:r>
            <a:endParaRPr/>
          </a:p>
          <a:p>
            <a:pPr indent="-342900" lvl="0" marL="457200" rtl="0" algn="l">
              <a:spcBef>
                <a:spcPts val="1200"/>
              </a:spcBef>
              <a:spcAft>
                <a:spcPts val="0"/>
              </a:spcAft>
              <a:buSzPts val="1800"/>
              <a:buChar char="●"/>
            </a:pPr>
            <a:r>
              <a:rPr lang="en"/>
              <a:t>Install ASP.NET Core Hosting Bundle </a:t>
            </a:r>
            <a:endParaRPr/>
          </a:p>
          <a:p>
            <a:pPr indent="0" lvl="0" marL="457200" rtl="0" algn="l">
              <a:spcBef>
                <a:spcPts val="1200"/>
              </a:spcBef>
              <a:spcAft>
                <a:spcPts val="0"/>
              </a:spcAft>
              <a:buNone/>
            </a:pPr>
            <a:r>
              <a:rPr lang="en"/>
              <a:t>Verify → Control Panel → Programs and Features → Look for Microsoft .NET Windows Server Hosting 10 </a:t>
            </a:r>
            <a:endParaRPr/>
          </a:p>
          <a:p>
            <a:pPr indent="0" lvl="0" marL="457200" rtl="0" algn="l">
              <a:spcBef>
                <a:spcPts val="1200"/>
              </a:spcBef>
              <a:spcAft>
                <a:spcPts val="120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9"/>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80"/>
              <a:t>Publish Application and Configure Folder Permission</a:t>
            </a:r>
            <a:endParaRPr sz="2580"/>
          </a:p>
        </p:txBody>
      </p:sp>
      <p:sp>
        <p:nvSpPr>
          <p:cNvPr id="531" name="Google Shape;531;p89"/>
          <p:cNvSpPr txBox="1"/>
          <p:nvPr>
            <p:ph idx="1" type="body"/>
          </p:nvPr>
        </p:nvSpPr>
        <p:spPr>
          <a:xfrm>
            <a:off x="311700" y="1152475"/>
            <a:ext cx="8520600" cy="37557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Goto .csproj folder </a:t>
            </a:r>
            <a:endParaRPr/>
          </a:p>
          <a:p>
            <a:pPr indent="0" lvl="0" marL="457200" rtl="0" algn="l">
              <a:spcBef>
                <a:spcPts val="0"/>
              </a:spcBef>
              <a:spcAft>
                <a:spcPts val="0"/>
              </a:spcAft>
              <a:buNone/>
            </a:pPr>
            <a:r>
              <a:rPr lang="en"/>
              <a:t>dotnet publish -c Release </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
              <a:t>Creates → bin/Release/net10.0/publish </a:t>
            </a:r>
            <a:endParaRPr/>
          </a:p>
          <a:p>
            <a:pPr indent="-325755" lvl="0" marL="457200" rtl="0" algn="l">
              <a:spcBef>
                <a:spcPts val="0"/>
              </a:spcBef>
              <a:spcAft>
                <a:spcPts val="0"/>
              </a:spcAft>
              <a:buSzPct val="100000"/>
              <a:buChar char="●"/>
            </a:pPr>
            <a:r>
              <a:rPr lang="en"/>
              <a:t>Configure </a:t>
            </a:r>
            <a:r>
              <a:rPr lang="en"/>
              <a:t>publish </a:t>
            </a:r>
            <a:r>
              <a:rPr lang="en"/>
              <a:t>Folder Permissions </a:t>
            </a:r>
            <a:endParaRPr/>
          </a:p>
          <a:p>
            <a:pPr indent="-325755" lvl="0" marL="914400" rtl="0" algn="l">
              <a:spcBef>
                <a:spcPts val="0"/>
              </a:spcBef>
              <a:spcAft>
                <a:spcPts val="0"/>
              </a:spcAft>
              <a:buSzPct val="100000"/>
              <a:buChar char="●"/>
            </a:pPr>
            <a:r>
              <a:rPr lang="en"/>
              <a:t>Properties → Security → Edit → Add </a:t>
            </a:r>
            <a:endParaRPr/>
          </a:p>
          <a:p>
            <a:pPr indent="-325755" lvl="0" marL="914400" rtl="0" algn="l">
              <a:spcBef>
                <a:spcPts val="0"/>
              </a:spcBef>
              <a:spcAft>
                <a:spcPts val="0"/>
              </a:spcAft>
              <a:buSzPct val="100000"/>
              <a:buChar char="●"/>
            </a:pPr>
            <a:r>
              <a:rPr lang="en"/>
              <a:t>Add IIS_IUSRS </a:t>
            </a:r>
            <a:endParaRPr/>
          </a:p>
          <a:p>
            <a:pPr indent="-325755" lvl="0" marL="457200" rtl="0" algn="l">
              <a:spcBef>
                <a:spcPts val="0"/>
              </a:spcBef>
              <a:spcAft>
                <a:spcPts val="0"/>
              </a:spcAft>
              <a:buSzPct val="100000"/>
              <a:buChar char="●"/>
            </a:pPr>
            <a:r>
              <a:rPr lang="en"/>
              <a:t>Create an Application Pool </a:t>
            </a:r>
            <a:r>
              <a:rPr lang="en"/>
              <a:t> </a:t>
            </a:r>
            <a:endParaRPr/>
          </a:p>
          <a:p>
            <a:pPr indent="-325755" lvl="0" marL="914400" rtl="0" algn="l">
              <a:spcBef>
                <a:spcPts val="0"/>
              </a:spcBef>
              <a:spcAft>
                <a:spcPts val="0"/>
              </a:spcAft>
              <a:buSzPct val="100000"/>
              <a:buChar char="●"/>
            </a:pPr>
            <a:r>
              <a:rPr lang="en"/>
              <a:t>IIS Manager –&gt; Application Pools –&gt; Create Application Pools → WebRazorProject </a:t>
            </a:r>
            <a:endParaRPr/>
          </a:p>
          <a:p>
            <a:pPr indent="-325755" lvl="0" marL="914400" rtl="0" algn="l">
              <a:spcBef>
                <a:spcPts val="0"/>
              </a:spcBef>
              <a:spcAft>
                <a:spcPts val="0"/>
              </a:spcAft>
              <a:buSzPct val="100000"/>
              <a:buChar char="●"/>
            </a:pPr>
            <a:r>
              <a:rPr lang="en"/>
              <a:t>Settings:</a:t>
            </a:r>
            <a:endParaRPr/>
          </a:p>
          <a:p>
            <a:pPr indent="-304165" lvl="1" marL="1371600" rtl="0" algn="l">
              <a:spcBef>
                <a:spcPts val="0"/>
              </a:spcBef>
              <a:spcAft>
                <a:spcPts val="0"/>
              </a:spcAft>
              <a:buSzPct val="100000"/>
              <a:buChar char="○"/>
            </a:pPr>
            <a:r>
              <a:rPr lang="en"/>
              <a:t>.NET CLR Version → No Managed Code</a:t>
            </a:r>
            <a:endParaRPr/>
          </a:p>
          <a:p>
            <a:pPr indent="-304165" lvl="1" marL="1371600" rtl="0" algn="l">
              <a:spcBef>
                <a:spcPts val="0"/>
              </a:spcBef>
              <a:spcAft>
                <a:spcPts val="0"/>
              </a:spcAft>
              <a:buSzPct val="100000"/>
              <a:buChar char="○"/>
            </a:pPr>
            <a:r>
              <a:rPr lang="en"/>
              <a:t>Managed Pipeline → Integrated</a:t>
            </a:r>
            <a:endParaRPr/>
          </a:p>
          <a:p>
            <a:pPr indent="0" lvl="0" marL="0" rtl="0" algn="l">
              <a:spcBef>
                <a:spcPts val="1200"/>
              </a:spcBef>
              <a:spcAft>
                <a:spcPts val="0"/>
              </a:spcAft>
              <a:buNone/>
            </a:pPr>
            <a:r>
              <a:rPr b="1" lang="en" sz="1100">
                <a:solidFill>
                  <a:srgbClr val="000000"/>
                </a:solidFill>
                <a:latin typeface="Arial"/>
                <a:ea typeface="Arial"/>
                <a:cs typeface="Arial"/>
                <a:sym typeface="Arial"/>
              </a:rPr>
              <a:t>Important</a:t>
            </a:r>
            <a:endParaRPr b="1"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ASP.NET Core applications run on </a:t>
            </a:r>
            <a:r>
              <a:rPr b="1" lang="en" sz="1100">
                <a:solidFill>
                  <a:srgbClr val="000000"/>
                </a:solidFill>
                <a:latin typeface="Arial"/>
                <a:ea typeface="Arial"/>
                <a:cs typeface="Arial"/>
                <a:sym typeface="Arial"/>
              </a:rPr>
              <a:t>Kestrel</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IIS acts only as a </a:t>
            </a:r>
            <a:r>
              <a:rPr b="1" lang="en" sz="1100">
                <a:solidFill>
                  <a:srgbClr val="000000"/>
                </a:solidFill>
                <a:latin typeface="Arial"/>
                <a:ea typeface="Arial"/>
                <a:cs typeface="Arial"/>
                <a:sym typeface="Arial"/>
              </a:rPr>
              <a:t>Reverse Proxy</a:t>
            </a:r>
            <a:r>
              <a:rPr lang="en" sz="1100">
                <a:solidFill>
                  <a:srgbClr val="000000"/>
                </a:solidFill>
                <a:latin typeface="Arial"/>
                <a:ea typeface="Arial"/>
                <a:cs typeface="Arial"/>
                <a:sym typeface="Arial"/>
              </a:rPr>
              <a:t>, so always select </a:t>
            </a:r>
            <a:r>
              <a:rPr b="1" lang="en" sz="1100">
                <a:solidFill>
                  <a:srgbClr val="000000"/>
                </a:solidFill>
                <a:latin typeface="Arial"/>
                <a:ea typeface="Arial"/>
                <a:cs typeface="Arial"/>
                <a:sym typeface="Arial"/>
              </a:rPr>
              <a:t>No Managed Code</a:t>
            </a:r>
            <a:r>
              <a:rPr lang="en" sz="1100">
                <a:solidFill>
                  <a:srgbClr val="000000"/>
                </a:solidFill>
                <a:latin typeface="Arial"/>
                <a:ea typeface="Arial"/>
                <a:cs typeface="Arial"/>
                <a:sym typeface="Arial"/>
              </a:rPr>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9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Configure Site in IIS for created App Pool</a:t>
            </a:r>
            <a:endParaRPr/>
          </a:p>
        </p:txBody>
      </p:sp>
      <p:sp>
        <p:nvSpPr>
          <p:cNvPr id="537" name="Google Shape;537;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Sites → Add Website </a:t>
            </a:r>
            <a:endParaRPr/>
          </a:p>
          <a:p>
            <a:pPr indent="-342900" lvl="0" marL="457200" rtl="0" algn="l">
              <a:spcBef>
                <a:spcPts val="0"/>
              </a:spcBef>
              <a:spcAft>
                <a:spcPts val="0"/>
              </a:spcAft>
              <a:buSzPts val="1800"/>
              <a:buChar char="●"/>
            </a:pPr>
            <a:r>
              <a:rPr lang="en"/>
              <a:t>Manage Website → Start </a:t>
            </a:r>
            <a:endParaRPr/>
          </a:p>
          <a:p>
            <a:pPr indent="-342900" lvl="0" marL="457200" rtl="0" algn="l">
              <a:spcBef>
                <a:spcPts val="0"/>
              </a:spcBef>
              <a:spcAft>
                <a:spcPts val="0"/>
              </a:spcAft>
              <a:buSzPts val="1800"/>
              <a:buChar char="●"/>
            </a:pPr>
            <a:r>
              <a:rPr lang="en"/>
              <a:t>http://localhost:8080 (Check if any other port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Hosting using Custom Domain</a:t>
            </a:r>
            <a:endParaRPr/>
          </a:p>
        </p:txBody>
      </p:sp>
      <p:sp>
        <p:nvSpPr>
          <p:cNvPr id="543" name="Google Shape;543;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Open </a:t>
            </a:r>
            <a:r>
              <a:rPr b="1" lang="en" sz="1100">
                <a:solidFill>
                  <a:srgbClr val="000000"/>
                </a:solidFill>
                <a:latin typeface="Arial"/>
                <a:ea typeface="Arial"/>
                <a:cs typeface="Arial"/>
                <a:sym typeface="Arial"/>
              </a:rPr>
              <a:t>Notepad as Administrator</a:t>
            </a:r>
            <a:r>
              <a:rPr lang="en" sz="1100">
                <a:solidFill>
                  <a:srgbClr val="000000"/>
                </a:solidFill>
                <a:latin typeface="Arial"/>
                <a:ea typeface="Arial"/>
                <a:cs typeface="Arial"/>
                <a:sym typeface="Arial"/>
              </a:rPr>
              <a:t>. C:\Windows\System32\drivers\etc\hosts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Add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127.0.0.1 webrazordemo2.com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Flush DNS Cache → ipconfig /flushdns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ping webrazordemo2.com and verify the response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Open IIS → Site → Bindings...  → Configure below details → browser &amp; check  http://webrazordemo2.com:9090 </a:t>
            </a:r>
            <a:endParaRPr sz="1100">
              <a:solidFill>
                <a:srgbClr val="000000"/>
              </a:solidFill>
              <a:latin typeface="Arial"/>
              <a:ea typeface="Arial"/>
              <a:cs typeface="Arial"/>
              <a:sym typeface="Arial"/>
            </a:endParaRPr>
          </a:p>
          <a:p>
            <a:pPr indent="0" lvl="0" marL="457200" rtl="0" algn="l">
              <a:spcBef>
                <a:spcPts val="1200"/>
              </a:spcBef>
              <a:spcAft>
                <a:spcPts val="1200"/>
              </a:spcAft>
              <a:buNone/>
            </a:pPr>
            <a:r>
              <a:t/>
            </a:r>
            <a:endParaRPr sz="1100">
              <a:solidFill>
                <a:srgbClr val="000000"/>
              </a:solidFill>
              <a:latin typeface="Arial"/>
              <a:ea typeface="Arial"/>
              <a:cs typeface="Arial"/>
              <a:sym typeface="Arial"/>
            </a:endParaRPr>
          </a:p>
        </p:txBody>
      </p:sp>
      <p:pic>
        <p:nvPicPr>
          <p:cNvPr id="544" name="Google Shape;544;p91"/>
          <p:cNvPicPr preferRelativeResize="0"/>
          <p:nvPr/>
        </p:nvPicPr>
        <p:blipFill>
          <a:blip r:embed="rId3">
            <a:alphaModFix/>
          </a:blip>
          <a:stretch>
            <a:fillRect/>
          </a:stretch>
        </p:blipFill>
        <p:spPr>
          <a:xfrm>
            <a:off x="742497" y="2500061"/>
            <a:ext cx="6867525" cy="19229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9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IIS Advance settings</a:t>
            </a:r>
            <a:endParaRPr/>
          </a:p>
          <a:p>
            <a:pPr indent="0" lvl="0" marL="0" rtl="0" algn="l">
              <a:spcBef>
                <a:spcPts val="0"/>
              </a:spcBef>
              <a:spcAft>
                <a:spcPts val="0"/>
              </a:spcAft>
              <a:buNone/>
            </a:pPr>
            <a:r>
              <a:t/>
            </a:r>
            <a:endParaRPr/>
          </a:p>
        </p:txBody>
      </p:sp>
      <p:sp>
        <p:nvSpPr>
          <p:cNvPr id="550" name="Google Shape;550;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51" name="Google Shape;551;p92"/>
          <p:cNvPicPr preferRelativeResize="0"/>
          <p:nvPr/>
        </p:nvPicPr>
        <p:blipFill>
          <a:blip r:embed="rId3">
            <a:alphaModFix/>
          </a:blip>
          <a:stretch>
            <a:fillRect/>
          </a:stretch>
        </p:blipFill>
        <p:spPr>
          <a:xfrm>
            <a:off x="351450" y="1017450"/>
            <a:ext cx="8078275" cy="38279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 Understanding its Service</a:t>
            </a:r>
            <a:endParaRPr/>
          </a:p>
        </p:txBody>
      </p:sp>
      <p:pic>
        <p:nvPicPr>
          <p:cNvPr id="557" name="Google Shape;557;p93"/>
          <p:cNvPicPr preferRelativeResize="0"/>
          <p:nvPr/>
        </p:nvPicPr>
        <p:blipFill>
          <a:blip r:embed="rId3">
            <a:alphaModFix/>
          </a:blip>
          <a:stretch>
            <a:fillRect/>
          </a:stretch>
        </p:blipFill>
        <p:spPr>
          <a:xfrm>
            <a:off x="432325" y="1017450"/>
            <a:ext cx="8132199" cy="398067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IIS host multiple application in default port</a:t>
            </a:r>
            <a:endParaRPr/>
          </a:p>
        </p:txBody>
      </p:sp>
      <p:sp>
        <p:nvSpPr>
          <p:cNvPr id="563" name="Google Shape;563;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a:solidFill>
                  <a:srgbClr val="000000"/>
                </a:solidFill>
                <a:latin typeface="Arial"/>
                <a:ea typeface="Arial"/>
                <a:cs typeface="Arial"/>
                <a:sym typeface="Arial"/>
              </a:rPr>
              <a:t>This is the same principle used by IIS, Apache, and Nginx to host many applications on a single server using ports </a:t>
            </a:r>
            <a:r>
              <a:rPr b="1" lang="en" sz="1100">
                <a:solidFill>
                  <a:srgbClr val="000000"/>
                </a:solidFill>
                <a:latin typeface="Arial"/>
                <a:ea typeface="Arial"/>
                <a:cs typeface="Arial"/>
                <a:sym typeface="Arial"/>
              </a:rPr>
              <a:t>80</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443</a:t>
            </a:r>
            <a:r>
              <a:rPr lang="en" sz="1100">
                <a:solidFill>
                  <a:srgbClr val="000000"/>
                </a:solidFill>
                <a:latin typeface="Arial"/>
                <a:ea typeface="Arial"/>
                <a:cs typeface="Arial"/>
                <a:sym typeface="Arial"/>
              </a:rPr>
              <a:t>. </a:t>
            </a:r>
            <a:endParaRPr/>
          </a:p>
        </p:txBody>
      </p:sp>
      <p:pic>
        <p:nvPicPr>
          <p:cNvPr id="564" name="Google Shape;564;p94"/>
          <p:cNvPicPr preferRelativeResize="0"/>
          <p:nvPr/>
        </p:nvPicPr>
        <p:blipFill>
          <a:blip r:embed="rId3">
            <a:alphaModFix/>
          </a:blip>
          <a:stretch>
            <a:fillRect/>
          </a:stretch>
        </p:blipFill>
        <p:spPr>
          <a:xfrm>
            <a:off x="311700" y="1556550"/>
            <a:ext cx="4638675" cy="29293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IIS vs Azure hosting</a:t>
            </a:r>
            <a:endParaRPr/>
          </a:p>
        </p:txBody>
      </p:sp>
      <p:pic>
        <p:nvPicPr>
          <p:cNvPr id="570" name="Google Shape;570;p95"/>
          <p:cNvPicPr preferRelativeResize="0"/>
          <p:nvPr/>
        </p:nvPicPr>
        <p:blipFill>
          <a:blip r:embed="rId3">
            <a:alphaModFix/>
          </a:blip>
          <a:stretch>
            <a:fillRect/>
          </a:stretch>
        </p:blipFill>
        <p:spPr>
          <a:xfrm>
            <a:off x="425838" y="1252538"/>
            <a:ext cx="2828925" cy="2638425"/>
          </a:xfrm>
          <a:prstGeom prst="rect">
            <a:avLst/>
          </a:prstGeom>
          <a:noFill/>
          <a:ln>
            <a:noFill/>
          </a:ln>
        </p:spPr>
      </p:pic>
      <p:pic>
        <p:nvPicPr>
          <p:cNvPr id="571" name="Google Shape;571;p95"/>
          <p:cNvPicPr preferRelativeResize="0"/>
          <p:nvPr/>
        </p:nvPicPr>
        <p:blipFill>
          <a:blip r:embed="rId4">
            <a:alphaModFix/>
          </a:blip>
          <a:stretch>
            <a:fillRect/>
          </a:stretch>
        </p:blipFill>
        <p:spPr>
          <a:xfrm>
            <a:off x="3953775" y="1323988"/>
            <a:ext cx="2781300" cy="24955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 Understanding its Resource</a:t>
            </a:r>
            <a:endParaRPr/>
          </a:p>
        </p:txBody>
      </p:sp>
      <p:pic>
        <p:nvPicPr>
          <p:cNvPr id="577" name="Google Shape;577;p96"/>
          <p:cNvPicPr preferRelativeResize="0"/>
          <p:nvPr/>
        </p:nvPicPr>
        <p:blipFill>
          <a:blip r:embed="rId3">
            <a:alphaModFix/>
          </a:blip>
          <a:stretch>
            <a:fillRect/>
          </a:stretch>
        </p:blipFill>
        <p:spPr>
          <a:xfrm>
            <a:off x="682575" y="945200"/>
            <a:ext cx="5761275" cy="38212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7"/>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80"/>
              <a:t>Hosting Web App in Azure - Setting up App service</a:t>
            </a:r>
            <a:endParaRPr sz="2380"/>
          </a:p>
        </p:txBody>
      </p:sp>
      <p:sp>
        <p:nvSpPr>
          <p:cNvPr id="583" name="Google Shape;583;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an App Service </a:t>
            </a:r>
            <a:endParaRPr/>
          </a:p>
          <a:p>
            <a:pPr indent="-317500" lvl="1" marL="914400" rtl="0" algn="l">
              <a:spcBef>
                <a:spcPts val="0"/>
              </a:spcBef>
              <a:spcAft>
                <a:spcPts val="0"/>
              </a:spcAft>
              <a:buSzPts val="1400"/>
              <a:buChar char="○"/>
            </a:pPr>
            <a:r>
              <a:rPr lang="en"/>
              <a:t>Subscription : Azure Subscription 1 </a:t>
            </a:r>
            <a:endParaRPr/>
          </a:p>
          <a:p>
            <a:pPr indent="-317500" lvl="1" marL="914400" rtl="0" algn="l">
              <a:spcBef>
                <a:spcPts val="0"/>
              </a:spcBef>
              <a:spcAft>
                <a:spcPts val="0"/>
              </a:spcAft>
              <a:buSzPts val="1400"/>
              <a:buChar char="○"/>
            </a:pPr>
            <a:r>
              <a:rPr lang="en"/>
              <a:t>Resource Group : ResourceDemo1 </a:t>
            </a:r>
            <a:endParaRPr/>
          </a:p>
          <a:p>
            <a:pPr indent="-317500" lvl="1" marL="914400" rtl="0" algn="l">
              <a:spcBef>
                <a:spcPts val="0"/>
              </a:spcBef>
              <a:spcAft>
                <a:spcPts val="0"/>
              </a:spcAft>
              <a:buSzPts val="1400"/>
              <a:buChar char="○"/>
            </a:pPr>
            <a:r>
              <a:rPr lang="en"/>
              <a:t>Name : WebRazorApp </a:t>
            </a:r>
            <a:endParaRPr/>
          </a:p>
          <a:p>
            <a:pPr indent="-317500" lvl="1" marL="914400" rtl="0" algn="l">
              <a:spcBef>
                <a:spcPts val="0"/>
              </a:spcBef>
              <a:spcAft>
                <a:spcPts val="0"/>
              </a:spcAft>
              <a:buSzPts val="1400"/>
              <a:buChar char="○"/>
            </a:pPr>
            <a:r>
              <a:rPr lang="en"/>
              <a:t>Runtime : .NET 10 </a:t>
            </a:r>
            <a:endParaRPr/>
          </a:p>
          <a:p>
            <a:pPr indent="-317500" lvl="1" marL="914400" rtl="0" algn="l">
              <a:spcBef>
                <a:spcPts val="0"/>
              </a:spcBef>
              <a:spcAft>
                <a:spcPts val="0"/>
              </a:spcAft>
              <a:buSzPts val="1400"/>
              <a:buChar char="○"/>
            </a:pPr>
            <a:r>
              <a:rPr lang="en"/>
              <a:t>OS : Windows </a:t>
            </a:r>
            <a:endParaRPr/>
          </a:p>
          <a:p>
            <a:pPr indent="-317500" lvl="1" marL="914400" rtl="0" algn="l">
              <a:spcBef>
                <a:spcPts val="0"/>
              </a:spcBef>
              <a:spcAft>
                <a:spcPts val="0"/>
              </a:spcAft>
              <a:buSzPts val="1400"/>
              <a:buChar char="○"/>
            </a:pPr>
            <a:r>
              <a:rPr lang="en"/>
              <a:t>Region : Central US </a:t>
            </a:r>
            <a:endParaRPr/>
          </a:p>
          <a:p>
            <a:pPr indent="-317500" lvl="1" marL="914400" rtl="0" algn="l">
              <a:spcBef>
                <a:spcPts val="0"/>
              </a:spcBef>
              <a:spcAft>
                <a:spcPts val="0"/>
              </a:spcAft>
              <a:buSzPts val="1400"/>
              <a:buChar char="○"/>
            </a:pPr>
            <a:r>
              <a:rPr lang="en"/>
              <a:t>Free tier as of now </a:t>
            </a:r>
            <a:endParaRPr/>
          </a:p>
          <a:p>
            <a:pPr indent="-342900" lvl="0" marL="457200" rtl="0" algn="l">
              <a:spcBef>
                <a:spcPts val="0"/>
              </a:spcBef>
              <a:spcAft>
                <a:spcPts val="0"/>
              </a:spcAft>
              <a:buSzPts val="1800"/>
              <a:buChar char="●"/>
            </a:pPr>
            <a:r>
              <a:rPr lang="en"/>
              <a:t>Select next till final page </a:t>
            </a:r>
            <a:endParaRPr/>
          </a:p>
          <a:p>
            <a:pPr indent="-342900" lvl="0" marL="457200" rtl="0" algn="l">
              <a:spcBef>
                <a:spcPts val="0"/>
              </a:spcBef>
              <a:spcAft>
                <a:spcPts val="0"/>
              </a:spcAft>
              <a:buSzPts val="1800"/>
              <a:buChar char="●"/>
            </a:pPr>
            <a:r>
              <a:rPr lang="en"/>
              <a:t>Review &amp;  Create</a:t>
            </a:r>
            <a:endParaRPr/>
          </a:p>
          <a:p>
            <a:pPr indent="-342900" lvl="0" marL="457200" rtl="0" algn="l">
              <a:spcBef>
                <a:spcPts val="0"/>
              </a:spcBef>
              <a:spcAft>
                <a:spcPts val="0"/>
              </a:spcAft>
              <a:buSzPts val="1800"/>
              <a:buChar char="●"/>
            </a:pPr>
            <a:r>
              <a:rPr lang="en"/>
              <a:t>Wait for Deployment Complete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Verify the default app hosting </a:t>
            </a:r>
            <a:endParaRPr/>
          </a:p>
        </p:txBody>
      </p:sp>
      <p:sp>
        <p:nvSpPr>
          <p:cNvPr id="589" name="Google Shape;589;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Open the Hosted Application </a:t>
            </a:r>
            <a:endParaRPr/>
          </a:p>
          <a:p>
            <a:pPr indent="-342900" lvl="0" marL="457200" rtl="0" algn="l">
              <a:spcBef>
                <a:spcPts val="0"/>
              </a:spcBef>
              <a:spcAft>
                <a:spcPts val="0"/>
              </a:spcAft>
              <a:buSzPts val="1800"/>
              <a:buChar char="●"/>
            </a:pPr>
            <a:r>
              <a:rPr lang="en"/>
              <a:t>Go to Resource → Select your app → check hosted link → The default Azure welcome page or your application appears. </a:t>
            </a:r>
            <a:endParaRPr/>
          </a:p>
          <a:p>
            <a:pPr indent="-342900" lvl="0" marL="457200" rtl="0" algn="l">
              <a:spcBef>
                <a:spcPts val="0"/>
              </a:spcBef>
              <a:spcAft>
                <a:spcPts val="0"/>
              </a:spcAft>
              <a:buSzPts val="1800"/>
              <a:buChar char="●"/>
            </a:pPr>
            <a:r>
              <a:rPr lang="en"/>
              <a:t>Azure Resources Created </a:t>
            </a:r>
            <a:endParaRPr/>
          </a:p>
          <a:p>
            <a:pPr indent="0" lvl="0" marL="0" rtl="0" algn="l">
              <a:spcBef>
                <a:spcPts val="1200"/>
              </a:spcBef>
              <a:spcAft>
                <a:spcPts val="1200"/>
              </a:spcAft>
              <a:buNone/>
            </a:pPr>
            <a:r>
              <a:t/>
            </a:r>
            <a:endParaRPr/>
          </a:p>
        </p:txBody>
      </p:sp>
      <p:pic>
        <p:nvPicPr>
          <p:cNvPr id="590" name="Google Shape;590;p98"/>
          <p:cNvPicPr preferRelativeResize="0"/>
          <p:nvPr/>
        </p:nvPicPr>
        <p:blipFill>
          <a:blip r:embed="rId3">
            <a:alphaModFix/>
          </a:blip>
          <a:stretch>
            <a:fillRect/>
          </a:stretch>
        </p:blipFill>
        <p:spPr>
          <a:xfrm>
            <a:off x="1152900" y="2571752"/>
            <a:ext cx="6191250" cy="220172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vscode to publish to azure</a:t>
            </a:r>
            <a:endParaRPr/>
          </a:p>
        </p:txBody>
      </p:sp>
      <p:sp>
        <p:nvSpPr>
          <p:cNvPr id="596" name="Google Shape;596;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Goto .csproj folder and run dotnet publish -c Release </a:t>
            </a:r>
            <a:endParaRPr/>
          </a:p>
          <a:p>
            <a:pPr indent="-342900" lvl="0" marL="457200" rtl="0" algn="l">
              <a:spcBef>
                <a:spcPts val="0"/>
              </a:spcBef>
              <a:spcAft>
                <a:spcPts val="0"/>
              </a:spcAft>
              <a:buSzPts val="1800"/>
              <a:buChar char="●"/>
            </a:pPr>
            <a:r>
              <a:rPr lang="en"/>
              <a:t>P</a:t>
            </a:r>
            <a:r>
              <a:rPr lang="en"/>
              <a:t>ublish folder that need to be deployed in azure will be created. </a:t>
            </a:r>
            <a:endParaRPr/>
          </a:p>
          <a:p>
            <a:pPr indent="-342900" lvl="0" marL="457200" rtl="0" algn="l">
              <a:spcBef>
                <a:spcPts val="0"/>
              </a:spcBef>
              <a:spcAft>
                <a:spcPts val="0"/>
              </a:spcAft>
              <a:buSzPts val="1800"/>
              <a:buChar char="●"/>
            </a:pPr>
            <a:r>
              <a:rPr lang="en"/>
              <a:t>Azure Extension </a:t>
            </a:r>
            <a:endParaRPr/>
          </a:p>
          <a:p>
            <a:pPr indent="-342900" lvl="0" marL="457200" rtl="0" algn="l">
              <a:spcBef>
                <a:spcPts val="0"/>
              </a:spcBef>
              <a:spcAft>
                <a:spcPts val="0"/>
              </a:spcAft>
              <a:buSzPts val="1800"/>
              <a:buChar char="●"/>
            </a:pPr>
            <a:r>
              <a:rPr lang="en"/>
              <a:t>Sign in to Azure from VS Code </a:t>
            </a:r>
            <a:endParaRPr/>
          </a:p>
          <a:p>
            <a:pPr indent="-342900" lvl="0" marL="457200" rtl="0" algn="l">
              <a:spcBef>
                <a:spcPts val="0"/>
              </a:spcBef>
              <a:spcAft>
                <a:spcPts val="0"/>
              </a:spcAft>
              <a:buSzPts val="1800"/>
              <a:buChar char="●"/>
            </a:pPr>
            <a:r>
              <a:rPr lang="en"/>
              <a:t>Azure icon → subscription → app service → (You should see your Web App.)</a:t>
            </a:r>
            <a:endParaRPr/>
          </a:p>
          <a:p>
            <a:pPr indent="-342900" lvl="0" marL="457200" rtl="0" algn="l">
              <a:spcBef>
                <a:spcPts val="0"/>
              </a:spcBef>
              <a:spcAft>
                <a:spcPts val="0"/>
              </a:spcAft>
              <a:buSzPts val="1800"/>
              <a:buChar char="●"/>
            </a:pPr>
            <a:r>
              <a:rPr lang="en"/>
              <a:t>Right-click the Web App → 	Deploy to Web App... → select the published folder </a:t>
            </a:r>
            <a:endParaRPr/>
          </a:p>
          <a:p>
            <a:pPr indent="-342900" lvl="0" marL="457200" rtl="0" algn="l">
              <a:spcBef>
                <a:spcPts val="0"/>
              </a:spcBef>
              <a:spcAft>
                <a:spcPts val="0"/>
              </a:spcAft>
              <a:buSzPts val="1800"/>
              <a:buChar char="●"/>
            </a:pPr>
            <a:r>
              <a:rPr lang="en"/>
              <a:t>VS Code creates a configuration file. </a:t>
            </a:r>
            <a:endParaRPr/>
          </a:p>
          <a:p>
            <a:pPr indent="-317500" lvl="1" marL="914400" rtl="0" algn="l">
              <a:spcBef>
                <a:spcPts val="0"/>
              </a:spcBef>
              <a:spcAft>
                <a:spcPts val="0"/>
              </a:spcAft>
              <a:buSzPts val="1400"/>
              <a:buChar char="○"/>
            </a:pPr>
            <a:r>
              <a:rPr lang="en"/>
              <a:t>.vscode/settings.json - change if needed to change </a:t>
            </a:r>
            <a:r>
              <a:rPr lang="en"/>
              <a:t>deployment</a:t>
            </a:r>
            <a:r>
              <a:rPr lang="en"/>
              <a:t> later </a:t>
            </a:r>
            <a:endParaRPr/>
          </a:p>
          <a:p>
            <a:pPr indent="0" lvl="0" marL="0" rtl="0" algn="l">
              <a:spcBef>
                <a:spcPts val="1200"/>
              </a:spcBef>
              <a:spcAft>
                <a:spcPts val="1200"/>
              </a:spcAft>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0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 Demo on good to know features</a:t>
            </a:r>
            <a:endParaRPr/>
          </a:p>
        </p:txBody>
      </p:sp>
      <p:sp>
        <p:nvSpPr>
          <p:cNvPr id="602" name="Google Shape;602;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Transient, Scoped, Singleton </a:t>
            </a:r>
            <a:endParaRPr/>
          </a:p>
          <a:p>
            <a:pPr indent="-342900" lvl="0" marL="457200" rtl="0" algn="l">
              <a:spcBef>
                <a:spcPts val="0"/>
              </a:spcBef>
              <a:spcAft>
                <a:spcPts val="0"/>
              </a:spcAft>
              <a:buSzPts val="1800"/>
              <a:buChar char="●"/>
            </a:pPr>
            <a:r>
              <a:rPr lang="en"/>
              <a:t>Session State Management (vs singleton - only to understand it clearly) </a:t>
            </a:r>
            <a:endParaRPr/>
          </a:p>
          <a:p>
            <a:pPr indent="0" lvl="0" marL="457200" rtl="0" algn="l">
              <a:spcBef>
                <a:spcPts val="1200"/>
              </a:spcBef>
              <a:spcAft>
                <a:spcPts val="1200"/>
              </a:spcAft>
              <a:buNone/>
            </a:pPr>
            <a:r>
              <a:t/>
            </a:r>
            <a:endParaRPr/>
          </a:p>
        </p:txBody>
      </p:sp>
      <p:pic>
        <p:nvPicPr>
          <p:cNvPr id="603" name="Google Shape;603;p100"/>
          <p:cNvPicPr preferRelativeResize="0"/>
          <p:nvPr/>
        </p:nvPicPr>
        <p:blipFill>
          <a:blip r:embed="rId3">
            <a:alphaModFix/>
          </a:blip>
          <a:stretch>
            <a:fillRect/>
          </a:stretch>
        </p:blipFill>
        <p:spPr>
          <a:xfrm>
            <a:off x="657225" y="2087863"/>
            <a:ext cx="7829550" cy="23336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Caching - In-Memory Cache  </a:t>
            </a:r>
            <a:endParaRPr/>
          </a:p>
        </p:txBody>
      </p:sp>
      <p:sp>
        <p:nvSpPr>
          <p:cNvPr id="609" name="Google Shape;609;p10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en" sz="1225"/>
              <a:t>Caching stores frequently used data temporarily so the application doesn't have to fetch it repeatedly from the database or an API. </a:t>
            </a:r>
            <a:endParaRPr sz="1225"/>
          </a:p>
          <a:p>
            <a:pPr indent="0" lvl="0" marL="0" rtl="0" algn="l">
              <a:lnSpc>
                <a:spcPct val="105000"/>
              </a:lnSpc>
              <a:spcBef>
                <a:spcPts val="1200"/>
              </a:spcBef>
              <a:spcAft>
                <a:spcPts val="0"/>
              </a:spcAft>
              <a:buSzPts val="688"/>
              <a:buNone/>
            </a:pPr>
            <a:r>
              <a:rPr lang="en" sz="1225"/>
              <a:t>In memory cache </a:t>
            </a:r>
            <a:endParaRPr sz="1225"/>
          </a:p>
          <a:p>
            <a:pPr indent="0" lvl="0" marL="0" rtl="0" algn="l">
              <a:lnSpc>
                <a:spcPct val="105000"/>
              </a:lnSpc>
              <a:spcBef>
                <a:spcPts val="1200"/>
              </a:spcBef>
              <a:spcAft>
                <a:spcPts val="0"/>
              </a:spcAft>
              <a:buSzPts val="688"/>
              <a:buNone/>
            </a:pPr>
            <a:r>
              <a:rPr lang="en" sz="1225"/>
              <a:t>Stores data in the application's RAM.</a:t>
            </a:r>
            <a:endParaRPr sz="1225"/>
          </a:p>
          <a:p>
            <a:pPr indent="-278606" lvl="0" marL="457200" rtl="0" algn="l">
              <a:lnSpc>
                <a:spcPct val="105000"/>
              </a:lnSpc>
              <a:spcBef>
                <a:spcPts val="1200"/>
              </a:spcBef>
              <a:spcAft>
                <a:spcPts val="0"/>
              </a:spcAft>
              <a:buClr>
                <a:srgbClr val="000000"/>
              </a:buClr>
              <a:buSzPts val="788"/>
              <a:buFont typeface="Arial"/>
              <a:buChar char="●"/>
            </a:pPr>
            <a:r>
              <a:rPr lang="en" sz="1225"/>
              <a:t>Very fast</a:t>
            </a:r>
            <a:endParaRPr sz="1225"/>
          </a:p>
          <a:p>
            <a:pPr indent="-278606" lvl="0" marL="457200" rtl="0" algn="l">
              <a:lnSpc>
                <a:spcPct val="105000"/>
              </a:lnSpc>
              <a:spcBef>
                <a:spcPts val="0"/>
              </a:spcBef>
              <a:spcAft>
                <a:spcPts val="0"/>
              </a:spcAft>
              <a:buClr>
                <a:srgbClr val="000000"/>
              </a:buClr>
              <a:buSzPts val="788"/>
              <a:buFont typeface="Arial"/>
              <a:buChar char="●"/>
            </a:pPr>
            <a:r>
              <a:rPr lang="en" sz="1225"/>
              <a:t>Lost when the application restarts</a:t>
            </a:r>
            <a:endParaRPr sz="1225"/>
          </a:p>
          <a:p>
            <a:pPr indent="-278606" lvl="0" marL="457200" rtl="0" algn="l">
              <a:lnSpc>
                <a:spcPct val="105000"/>
              </a:lnSpc>
              <a:spcBef>
                <a:spcPts val="0"/>
              </a:spcBef>
              <a:spcAft>
                <a:spcPts val="0"/>
              </a:spcAft>
              <a:buClr>
                <a:srgbClr val="000000"/>
              </a:buClr>
              <a:buSzPts val="788"/>
              <a:buFont typeface="Arial"/>
              <a:buChar char="●"/>
            </a:pPr>
            <a:r>
              <a:rPr lang="en" sz="1225"/>
              <a:t>Best for a single server</a:t>
            </a:r>
            <a:endParaRPr sz="1225"/>
          </a:p>
          <a:p>
            <a:pPr indent="0" lvl="0" marL="0" rtl="0" algn="l">
              <a:lnSpc>
                <a:spcPct val="105000"/>
              </a:lnSpc>
              <a:spcBef>
                <a:spcPts val="1200"/>
              </a:spcBef>
              <a:spcAft>
                <a:spcPts val="0"/>
              </a:spcAft>
              <a:buSzPts val="688"/>
              <a:buNone/>
            </a:pPr>
            <a:r>
              <a:rPr lang="en" sz="1225"/>
              <a:t>Without cache → every request need to access DB or API</a:t>
            </a:r>
            <a:endParaRPr sz="1225"/>
          </a:p>
          <a:p>
            <a:pPr indent="0" lvl="0" marL="0" rtl="0" algn="l">
              <a:lnSpc>
                <a:spcPct val="105000"/>
              </a:lnSpc>
              <a:spcBef>
                <a:spcPts val="1200"/>
              </a:spcBef>
              <a:spcAft>
                <a:spcPts val="0"/>
              </a:spcAft>
              <a:buSzPts val="688"/>
              <a:buNone/>
            </a:pPr>
            <a:r>
              <a:rPr lang="en" sz="1225"/>
              <a:t>With cache → </a:t>
            </a:r>
            <a:endParaRPr sz="1225"/>
          </a:p>
          <a:p>
            <a:pPr indent="457200" lvl="0" marL="0" rtl="0" algn="l">
              <a:lnSpc>
                <a:spcPct val="105000"/>
              </a:lnSpc>
              <a:spcBef>
                <a:spcPts val="1200"/>
              </a:spcBef>
              <a:spcAft>
                <a:spcPts val="0"/>
              </a:spcAft>
              <a:buSzPts val="688"/>
              <a:buNone/>
            </a:pPr>
            <a:r>
              <a:rPr lang="en" sz="1225"/>
              <a:t>First Refresh Database → Cache </a:t>
            </a:r>
            <a:endParaRPr sz="1225"/>
          </a:p>
          <a:p>
            <a:pPr indent="457200" lvl="0" marL="0" rtl="0" algn="l">
              <a:lnSpc>
                <a:spcPct val="105000"/>
              </a:lnSpc>
              <a:spcBef>
                <a:spcPts val="1200"/>
              </a:spcBef>
              <a:spcAft>
                <a:spcPts val="0"/>
              </a:spcAft>
              <a:buSzPts val="688"/>
              <a:buNone/>
            </a:pPr>
            <a:r>
              <a:rPr lang="en" sz="1225"/>
              <a:t>Next 100 Refreshes Cache → User </a:t>
            </a:r>
            <a:endParaRPr sz="1225"/>
          </a:p>
          <a:p>
            <a:pPr indent="0" lvl="0" marL="457200" rtl="0" algn="l">
              <a:lnSpc>
                <a:spcPct val="105000"/>
              </a:lnSpc>
              <a:spcBef>
                <a:spcPts val="1200"/>
              </a:spcBef>
              <a:spcAft>
                <a:spcPts val="1200"/>
              </a:spcAft>
              <a:buSzPts val="688"/>
              <a:buNone/>
            </a:pPr>
            <a:r>
              <a:t/>
            </a:r>
            <a:endParaRPr sz="1225"/>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memory cache usage </a:t>
            </a:r>
            <a:endParaRPr/>
          </a:p>
        </p:txBody>
      </p:sp>
      <p:sp>
        <p:nvSpPr>
          <p:cNvPr id="615" name="Google Shape;615;p102"/>
          <p:cNvSpPr txBox="1"/>
          <p:nvPr>
            <p:ph idx="1" type="body"/>
          </p:nvPr>
        </p:nvSpPr>
        <p:spPr>
          <a:xfrm>
            <a:off x="311700" y="1152475"/>
            <a:ext cx="8136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builder.Services.AddMemoryCache(); </a:t>
            </a:r>
            <a:endParaRPr/>
          </a:p>
        </p:txBody>
      </p:sp>
      <p:pic>
        <p:nvPicPr>
          <p:cNvPr id="616" name="Google Shape;616;p102"/>
          <p:cNvPicPr preferRelativeResize="0"/>
          <p:nvPr/>
        </p:nvPicPr>
        <p:blipFill>
          <a:blip r:embed="rId3">
            <a:alphaModFix/>
          </a:blip>
          <a:stretch>
            <a:fillRect/>
          </a:stretch>
        </p:blipFill>
        <p:spPr>
          <a:xfrm>
            <a:off x="5078200" y="-53900"/>
            <a:ext cx="3965800" cy="5007099"/>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Cache </a:t>
            </a:r>
            <a:endParaRPr/>
          </a:p>
        </p:txBody>
      </p:sp>
      <p:sp>
        <p:nvSpPr>
          <p:cNvPr id="622" name="Google Shape;622;p10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1200"/>
              </a:spcBef>
              <a:spcAft>
                <a:spcPts val="0"/>
              </a:spcAft>
              <a:buSzPts val="1800"/>
              <a:buChar char="●"/>
            </a:pPr>
            <a:r>
              <a:rPr lang="en"/>
              <a:t>Stores cache in a separate server (usually Redis).</a:t>
            </a:r>
            <a:endParaRPr/>
          </a:p>
          <a:p>
            <a:pPr indent="-342900" lvl="0" marL="457200" rtl="0" algn="l">
              <a:spcBef>
                <a:spcPts val="0"/>
              </a:spcBef>
              <a:spcAft>
                <a:spcPts val="0"/>
              </a:spcAft>
              <a:buSzPts val="1800"/>
              <a:buChar char="●"/>
            </a:pPr>
            <a:r>
              <a:rPr lang="en"/>
              <a:t>Used when multiple application servers are running.</a:t>
            </a:r>
            <a:endParaRPr/>
          </a:p>
          <a:p>
            <a:pPr indent="-342900" lvl="0" marL="457200" rtl="0" algn="l">
              <a:spcBef>
                <a:spcPts val="0"/>
              </a:spcBef>
              <a:spcAft>
                <a:spcPts val="0"/>
              </a:spcAft>
              <a:buSzPts val="1800"/>
              <a:buChar char="●"/>
            </a:pPr>
            <a:r>
              <a:rPr lang="en"/>
              <a:t>Every application shares the same cache.</a:t>
            </a:r>
            <a:endParaRPr/>
          </a:p>
          <a:p>
            <a:pPr indent="0" lvl="0" marL="0" rtl="0" algn="l">
              <a:spcBef>
                <a:spcPts val="1200"/>
              </a:spcBef>
              <a:spcAft>
                <a:spcPts val="0"/>
              </a:spcAft>
              <a:buNone/>
            </a:pPr>
            <a:r>
              <a:rPr lang="en"/>
              <a:t>To work on it </a:t>
            </a:r>
            <a:endParaRPr/>
          </a:p>
          <a:p>
            <a:pPr indent="-342900" lvl="0" marL="457200" rtl="0" algn="l">
              <a:spcBef>
                <a:spcPts val="1200"/>
              </a:spcBef>
              <a:spcAft>
                <a:spcPts val="0"/>
              </a:spcAft>
              <a:buSzPts val="1800"/>
              <a:buChar char="●"/>
            </a:pPr>
            <a:r>
              <a:rPr lang="en"/>
              <a:t>dotnet add package Microsoft.Extensions.Caching.StackExchangeRedis </a:t>
            </a:r>
            <a:endParaRPr/>
          </a:p>
          <a:p>
            <a:pPr indent="-342900" lvl="0" marL="457200" rtl="0" algn="l">
              <a:spcBef>
                <a:spcPts val="0"/>
              </a:spcBef>
              <a:spcAft>
                <a:spcPts val="0"/>
              </a:spcAft>
              <a:buSzPts val="1800"/>
              <a:buChar char="●"/>
            </a:pPr>
            <a:r>
              <a:rPr lang="en"/>
              <a:t>builder.Services.AddStackExchangeRedisCache(options =&gt;</a:t>
            </a:r>
            <a:endParaRPr/>
          </a:p>
          <a:p>
            <a:pPr indent="0" lvl="0" marL="457200" rtl="0" algn="l">
              <a:spcBef>
                <a:spcPts val="1200"/>
              </a:spcBef>
              <a:spcAft>
                <a:spcPts val="0"/>
              </a:spcAft>
              <a:buNone/>
            </a:pPr>
            <a:r>
              <a:rPr lang="en"/>
              <a:t> { options.Configuration = "localhost:6379"; </a:t>
            </a:r>
            <a:endParaRPr/>
          </a:p>
          <a:p>
            <a:pPr indent="0" lvl="0" marL="457200" rtl="0" algn="l">
              <a:spcBef>
                <a:spcPts val="1200"/>
              </a:spcBef>
              <a:spcAft>
                <a:spcPts val="0"/>
              </a:spcAft>
              <a:buNone/>
            </a:pPr>
            <a:r>
              <a:rPr lang="en"/>
              <a:t>options.InstanceName = "BookApp:"; }); </a:t>
            </a:r>
            <a:endParaRPr/>
          </a:p>
          <a:p>
            <a:pPr indent="0" lvl="0" marL="0" rtl="0" algn="l">
              <a:spcBef>
                <a:spcPts val="1200"/>
              </a:spcBef>
              <a:spcAft>
                <a:spcPts val="1200"/>
              </a:spcAft>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Cache</a:t>
            </a:r>
            <a:endParaRPr/>
          </a:p>
        </p:txBody>
      </p:sp>
      <p:sp>
        <p:nvSpPr>
          <p:cNvPr id="628" name="Google Shape;628;p10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sz="1100">
                <a:solidFill>
                  <a:srgbClr val="188038"/>
                </a:solidFill>
                <a:latin typeface="Roboto Mono"/>
                <a:ea typeface="Roboto Mono"/>
                <a:cs typeface="Roboto Mono"/>
                <a:sym typeface="Roboto Mono"/>
              </a:rPr>
              <a:t>InstanceName = "BookApp:"</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 A </a:t>
            </a:r>
            <a:r>
              <a:rPr b="1" lang="en" sz="1100">
                <a:solidFill>
                  <a:srgbClr val="000000"/>
                </a:solidFill>
                <a:latin typeface="Arial"/>
                <a:ea typeface="Arial"/>
                <a:cs typeface="Arial"/>
                <a:sym typeface="Arial"/>
              </a:rPr>
              <a:t>prefix (namespace)</a:t>
            </a:r>
            <a:r>
              <a:rPr lang="en" sz="1100">
                <a:solidFill>
                  <a:srgbClr val="000000"/>
                </a:solidFill>
                <a:latin typeface="Arial"/>
                <a:ea typeface="Arial"/>
                <a:cs typeface="Arial"/>
                <a:sym typeface="Arial"/>
              </a:rPr>
              <a:t> automatically added to every key.</a:t>
            </a:r>
            <a:endParaRPr sz="1100">
              <a:solidFill>
                <a:srgbClr val="000000"/>
              </a:solidFill>
              <a:latin typeface="Arial"/>
              <a:ea typeface="Arial"/>
              <a:cs typeface="Arial"/>
              <a:sym typeface="Arial"/>
            </a:endParaRPr>
          </a:p>
          <a:p>
            <a:pPr indent="-342900" lvl="0" marL="457200" rtl="0" algn="l">
              <a:spcBef>
                <a:spcPts val="1200"/>
              </a:spcBef>
              <a:spcAft>
                <a:spcPts val="0"/>
              </a:spcAft>
              <a:buSzPts val="1800"/>
              <a:buChar char="●"/>
            </a:pPr>
            <a:r>
              <a:rPr b="1" lang="en" sz="1100">
                <a:solidFill>
                  <a:srgbClr val="188038"/>
                </a:solidFill>
                <a:latin typeface="Roboto Mono"/>
                <a:ea typeface="Roboto Mono"/>
                <a:cs typeface="Roboto Mono"/>
                <a:sym typeface="Roboto Mono"/>
              </a:rPr>
              <a:t>"Books"</a:t>
            </a:r>
            <a:r>
              <a:rPr lang="en" sz="1100">
                <a:solidFill>
                  <a:srgbClr val="000000"/>
                </a:solidFill>
                <a:latin typeface="Arial"/>
                <a:ea typeface="Arial"/>
                <a:cs typeface="Arial"/>
                <a:sym typeface="Arial"/>
              </a:rPr>
              <a:t> → The actual cache key you use in your code.</a:t>
            </a:r>
            <a:endParaRPr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Internally</a:t>
            </a:r>
            <a:r>
              <a:rPr lang="en"/>
              <a:t> Redis stores it as:</a:t>
            </a:r>
            <a:endParaRPr/>
          </a:p>
          <a:p>
            <a:pPr indent="0" lvl="0" marL="457200" rtl="0" algn="l">
              <a:spcBef>
                <a:spcPts val="1200"/>
              </a:spcBef>
              <a:spcAft>
                <a:spcPts val="0"/>
              </a:spcAft>
              <a:buNone/>
            </a:pPr>
            <a:r>
              <a:rPr lang="en"/>
              <a:t>BookApp:Books</a:t>
            </a:r>
            <a:endParaRPr/>
          </a:p>
          <a:p>
            <a:pPr indent="0" lvl="0" marL="457200" rtl="0" algn="l">
              <a:spcBef>
                <a:spcPts val="0"/>
              </a:spcBef>
              <a:spcAft>
                <a:spcPts val="1200"/>
              </a:spcAft>
              <a:buNone/>
            </a:pPr>
            <a:r>
              <a:t/>
            </a:r>
            <a:endParaRPr/>
          </a:p>
        </p:txBody>
      </p:sp>
      <p:pic>
        <p:nvPicPr>
          <p:cNvPr id="629" name="Google Shape;629;p104"/>
          <p:cNvPicPr preferRelativeResize="0"/>
          <p:nvPr/>
        </p:nvPicPr>
        <p:blipFill>
          <a:blip r:embed="rId3">
            <a:alphaModFix/>
          </a:blip>
          <a:stretch>
            <a:fillRect/>
          </a:stretch>
        </p:blipFill>
        <p:spPr>
          <a:xfrm>
            <a:off x="4842455" y="-71900"/>
            <a:ext cx="4077841" cy="51435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0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vs Session</a:t>
            </a:r>
            <a:endParaRPr/>
          </a:p>
        </p:txBody>
      </p:sp>
      <p:pic>
        <p:nvPicPr>
          <p:cNvPr id="635" name="Google Shape;635;p105"/>
          <p:cNvPicPr preferRelativeResize="0"/>
          <p:nvPr/>
        </p:nvPicPr>
        <p:blipFill>
          <a:blip r:embed="rId3">
            <a:alphaModFix/>
          </a:blip>
          <a:stretch>
            <a:fillRect/>
          </a:stretch>
        </p:blipFill>
        <p:spPr>
          <a:xfrm>
            <a:off x="152400" y="1115925"/>
            <a:ext cx="8839199" cy="3783212"/>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HttpClient</a:t>
            </a:r>
            <a:endParaRPr/>
          </a:p>
        </p:txBody>
      </p:sp>
      <p:sp>
        <p:nvSpPr>
          <p:cNvPr id="641" name="Google Shape;641;p106"/>
          <p:cNvSpPr txBox="1"/>
          <p:nvPr>
            <p:ph idx="1" type="body"/>
          </p:nvPr>
        </p:nvSpPr>
        <p:spPr>
          <a:xfrm>
            <a:off x="311700" y="1152475"/>
            <a:ext cx="34095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HttpClient</a:t>
            </a:r>
            <a:r>
              <a:rPr lang="en" sz="1100">
                <a:solidFill>
                  <a:srgbClr val="000000"/>
                </a:solidFill>
                <a:latin typeface="Arial"/>
                <a:ea typeface="Arial"/>
                <a:cs typeface="Arial"/>
                <a:sym typeface="Arial"/>
              </a:rPr>
              <a:t> is used to communicate with external Web APIs or web services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HttpClient</a:t>
            </a:r>
            <a:r>
              <a:rPr lang="en" sz="1100">
                <a:solidFill>
                  <a:srgbClr val="000000"/>
                </a:solidFill>
                <a:latin typeface="Arial"/>
                <a:ea typeface="Arial"/>
                <a:cs typeface="Arial"/>
                <a:sym typeface="Arial"/>
              </a:rPr>
              <a:t> allows one application to call another application over HTTP (GET, POST, PUT, DELETE).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GET await _httpClient.GetAsync(url);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POST await _httpClient.PostAsJsonAsync(url, book);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PUT await _httpClient.PutAsJsonAsync(url, book);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DELETE await _httpClient.DeleteAsync(url);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pic>
        <p:nvPicPr>
          <p:cNvPr id="642" name="Google Shape;642;p106"/>
          <p:cNvPicPr preferRelativeResize="0"/>
          <p:nvPr/>
        </p:nvPicPr>
        <p:blipFill>
          <a:blip r:embed="rId3">
            <a:alphaModFix/>
          </a:blip>
          <a:stretch>
            <a:fillRect/>
          </a:stretch>
        </p:blipFill>
        <p:spPr>
          <a:xfrm>
            <a:off x="3568375" y="307525"/>
            <a:ext cx="5423227" cy="453785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0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Structure</a:t>
            </a:r>
            <a:endParaRPr/>
          </a:p>
        </p:txBody>
      </p:sp>
      <p:pic>
        <p:nvPicPr>
          <p:cNvPr id="648" name="Google Shape;648;p107"/>
          <p:cNvPicPr preferRelativeResize="0"/>
          <p:nvPr/>
        </p:nvPicPr>
        <p:blipFill>
          <a:blip r:embed="rId3">
            <a:alphaModFix/>
          </a:blip>
          <a:stretch>
            <a:fillRect/>
          </a:stretch>
        </p:blipFill>
        <p:spPr>
          <a:xfrm>
            <a:off x="5860309" y="53900"/>
            <a:ext cx="2509382" cy="5143500"/>
          </a:xfrm>
          <a:prstGeom prst="rect">
            <a:avLst/>
          </a:prstGeom>
          <a:noFill/>
          <a:ln>
            <a:noFill/>
          </a:ln>
        </p:spPr>
      </p:pic>
      <p:pic>
        <p:nvPicPr>
          <p:cNvPr id="649" name="Google Shape;649;p107"/>
          <p:cNvPicPr preferRelativeResize="0"/>
          <p:nvPr/>
        </p:nvPicPr>
        <p:blipFill>
          <a:blip r:embed="rId4">
            <a:alphaModFix/>
          </a:blip>
          <a:stretch>
            <a:fillRect/>
          </a:stretch>
        </p:blipFill>
        <p:spPr>
          <a:xfrm>
            <a:off x="152400" y="1169850"/>
            <a:ext cx="5555509" cy="331538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0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Unit Testing</a:t>
            </a:r>
            <a:endParaRPr/>
          </a:p>
        </p:txBody>
      </p:sp>
      <p:sp>
        <p:nvSpPr>
          <p:cNvPr id="655" name="Google Shape;655;p10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56" name="Google Shape;656;p108"/>
          <p:cNvPicPr preferRelativeResize="0"/>
          <p:nvPr/>
        </p:nvPicPr>
        <p:blipFill>
          <a:blip r:embed="rId3">
            <a:alphaModFix/>
          </a:blip>
          <a:stretch>
            <a:fillRect/>
          </a:stretch>
        </p:blipFill>
        <p:spPr>
          <a:xfrm>
            <a:off x="466725" y="819150"/>
            <a:ext cx="8210550" cy="34861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09"/>
          <p:cNvSpPr txBox="1"/>
          <p:nvPr>
            <p:ph type="title"/>
          </p:nvPr>
        </p:nvSpPr>
        <p:spPr>
          <a:xfrm>
            <a:off x="311700" y="1233100"/>
            <a:ext cx="8520600" cy="161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700"/>
              <a:t>Learning never stops. Keep exploring, keep building, and keep developing! </a:t>
            </a:r>
            <a:endParaRPr sz="2700"/>
          </a:p>
        </p:txBody>
      </p:sp>
      <p:sp>
        <p:nvSpPr>
          <p:cNvPr id="662" name="Google Shape;662;p109"/>
          <p:cNvSpPr txBox="1"/>
          <p:nvPr>
            <p:ph idx="1" type="body"/>
          </p:nvPr>
        </p:nvSpPr>
        <p:spPr>
          <a:xfrm>
            <a:off x="311700" y="2919450"/>
            <a:ext cx="8520600" cy="1071600"/>
          </a:xfrm>
          <a:prstGeom prst="rect">
            <a:avLst/>
          </a:prstGeom>
        </p:spPr>
        <p:txBody>
          <a:bodyPr anchorCtr="0" anchor="t" bIns="91425" lIns="91425" spcFirstLastPara="1" rIns="91425" wrap="square" tIns="91425">
            <a:normAutofit fontScale="32500" lnSpcReduction="20000"/>
          </a:bodyPr>
          <a:lstStyle/>
          <a:p>
            <a:pPr indent="0" lvl="0" marL="0" rtl="0" algn="ctr">
              <a:lnSpc>
                <a:spcPct val="100000"/>
              </a:lnSpc>
              <a:spcBef>
                <a:spcPts val="0"/>
              </a:spcBef>
              <a:spcAft>
                <a:spcPts val="0"/>
              </a:spcAft>
              <a:buNone/>
            </a:pPr>
            <a:r>
              <a:rPr b="1" lang="en" sz="10000">
                <a:solidFill>
                  <a:srgbClr val="8B949E"/>
                </a:solidFill>
              </a:rPr>
              <a:t>Balaji Dinakaran</a:t>
            </a:r>
            <a:endParaRPr b="1" sz="10000">
              <a:solidFill>
                <a:srgbClr val="8B949E"/>
              </a:solidFill>
            </a:endParaRPr>
          </a:p>
          <a:p>
            <a:pPr indent="0" lvl="0" marL="0" rtl="0" algn="ctr">
              <a:lnSpc>
                <a:spcPct val="100000"/>
              </a:lnSpc>
              <a:spcBef>
                <a:spcPts val="0"/>
              </a:spcBef>
              <a:spcAft>
                <a:spcPts val="0"/>
              </a:spcAft>
              <a:buNone/>
            </a:pPr>
            <a:r>
              <a:rPr b="1" lang="en" sz="10000" u="sng">
                <a:solidFill>
                  <a:schemeClr val="hlink"/>
                </a:solidFill>
                <a:hlinkClick r:id="rId3"/>
              </a:rPr>
              <a:t>Linkedin </a:t>
            </a:r>
            <a:endParaRPr b="1" sz="10000">
              <a:solidFill>
                <a:srgbClr val="8B949E"/>
              </a:solidFill>
            </a:endParaRPr>
          </a:p>
          <a:p>
            <a:pPr indent="0" lvl="0" marL="0" rtl="0" algn="ctr">
              <a:spcBef>
                <a:spcPts val="0"/>
              </a:spcBef>
              <a:spcAft>
                <a:spcPts val="1200"/>
              </a:spcAft>
              <a:buNone/>
            </a:pPr>
            <a:r>
              <a:t/>
            </a:r>
            <a:endParaRPr>
              <a:solidFill>
                <a:srgbClr val="8B949E"/>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